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74" r:id="rId11"/>
    <p:sldId id="267" r:id="rId12"/>
    <p:sldId id="268" r:id="rId13"/>
    <p:sldId id="269" r:id="rId14"/>
    <p:sldId id="270" r:id="rId15"/>
    <p:sldId id="273" r:id="rId16"/>
    <p:sldId id="271" r:id="rId17"/>
    <p:sldId id="275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70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7945F9-AABC-9C65-E32E-7DC6F4DC49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111F617-8054-B418-FC0A-964ABF689A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421B83-EE31-A83C-B685-6EAEEBA3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94E7DC4-B8AA-856D-5721-BDAA73DB2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CD27CC-3813-EE36-C7F8-914BFF439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2111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507138-FA98-2AB7-8629-10464DFF2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A09BF1-9866-C7FB-8187-5984390AE4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BD2D0B-3720-1367-6E4B-7BDED4E4D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4F6C8A2-DCEB-E016-D6AE-F3B0B68EE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6390BA-4D7E-3122-1F7C-1B4CED483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3940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3E1EB0-5361-539B-1487-056C6CA7A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5BF9D0-37F3-CAFE-C020-53FA213F5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1B59A2-CBC0-7F9C-CA48-F53F6D660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3FD218-C794-DA8F-6ECF-21D625D29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0A8F59-A765-B2FA-FB87-D4799CAD5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719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CE2FDB-BFE8-D505-C08B-349088641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CED678-8B0C-DB88-F535-8C3D092E79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2C9AE1F-3006-E35B-5B29-E656F1299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9D2A83-8FFF-064B-42C5-C747E38ED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9DF2DC-23CE-033E-EB1E-F211593190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9BA7A6-8AAB-2208-7455-180F157DB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5532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EA3F96-F88C-2D88-2135-0F3147DFC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343EBA4-24D4-11F2-13F5-7A6F2FA26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49FD5AF-A2A8-43FE-E3DC-D57F057D37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03B11BF-9991-5F88-4B19-38B8C115AF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2601185-94AD-F148-0979-CE9D691B1A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6D847EE-D711-E30C-D9D4-EC4821CB6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75A5D1D-80D7-7E82-FC04-26AA80548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0F4C5FD-3854-F426-1038-4A54564B5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800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86F072-2AD8-CEFF-E084-3E3F69962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E694FF3-EDBA-FDC8-5A91-FB138A7CA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3F59B27-3B03-58D5-C82A-D07C160841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DF7513F-0ECA-24B6-86E6-480DC8961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2088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2E33E78-1119-2DD1-81CB-2116AC780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489B68D-3253-A4DC-D7D8-6F0479C6B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BCEAE9-51CC-451F-C7FC-7DF43359F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5693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59C0E2-99E5-9BD5-7DF6-5B3254246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FD1D88-67B0-38B1-72C3-AEEE81035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27D50B8-2AEC-054F-8AA0-9D9AFEF0A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0B05D71-43D7-A80D-A519-6C3248A89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195C05-EA1A-235E-5FD3-1E6CD8560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AEDF3E-7B0D-F53F-DEEA-161065FC6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6307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346A15-C5B6-A114-2E29-472AD902A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B42CE56-0AC1-5501-F11D-922D2BAA78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18EAC10-74DA-1504-3BDE-5AF8A12266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167C23C-670F-2000-D053-4A2AC3B0B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627DCF-96FF-724E-AACC-50257417E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1F118B2-D390-D3C9-14D8-EB02F15E5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696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B9EFC3-22DB-323D-3917-A068C9631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DA345F-62F3-F7D5-ED06-FE769207A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F6EBFA-6C49-1AFF-63A2-A10252DC4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36C5061-598F-4A83-3874-968F81EC3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9A2B8F5-7672-41C0-7BEE-59F64D3EA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146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B7ECB5A-475F-EFD8-F291-9EBB7270B4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8EF4E86-9A7C-B062-6CF2-41A0C002EA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B6D393-098F-34F5-8BDF-4401A7CFD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90772-3C17-48BD-9462-1080E2FAA39E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B88A78-B2E6-BE76-7F32-5E14E860F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05E81B-7276-0CAB-99FA-DE081090E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69132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C405E34-265E-29A0-791E-52F8F3EC2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9327B4-7F9D-7B88-CFF9-4BDFB0749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D0C84C-48DF-BB7F-6AE3-7C2A855804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90772-3C17-48BD-9462-1080E2FAA39E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8F1F67-B553-9533-E74B-9D2431DC7C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C1070C-3585-745F-2560-881E18F9E6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7A95E4-48EB-4B0E-9710-5106B90929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651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7.png"/><Relationship Id="rId5" Type="http://schemas.openxmlformats.org/officeDocument/2006/relationships/image" Target="../media/image12.png"/><Relationship Id="rId10" Type="http://schemas.openxmlformats.org/officeDocument/2006/relationships/image" Target="../media/image16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AFCED6-5F2E-3EA7-B2A2-B861E550B6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MLP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다중 </a:t>
            </a:r>
            <a:r>
              <a:rPr lang="ko-KR" altLang="en-US" dirty="0" err="1"/>
              <a:t>퍼셉트론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B2D9F64-AEBF-88D8-A196-96E0A00901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AI </a:t>
            </a:r>
            <a:r>
              <a:rPr lang="ko-KR" altLang="en-US" dirty="0"/>
              <a:t>스터디</a:t>
            </a:r>
          </a:p>
        </p:txBody>
      </p:sp>
    </p:spTree>
    <p:extLst>
      <p:ext uri="{BB962C8B-B14F-4D97-AF65-F5344CB8AC3E}">
        <p14:creationId xmlns:p14="http://schemas.microsoft.com/office/powerpoint/2010/main" val="435726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9B307B8-22CC-6EDB-5FEE-2C593948E8C0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F0A9A2-B08F-C4CF-F622-D37CB0255281}"/>
              </a:ext>
            </a:extLst>
          </p:cNvPr>
          <p:cNvSpPr txBox="1"/>
          <p:nvPr/>
        </p:nvSpPr>
        <p:spPr>
          <a:xfrm>
            <a:off x="1163052" y="272716"/>
            <a:ext cx="14574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rgbClr val="00B0F0"/>
                </a:solidFill>
              </a:rPr>
              <a:t>MLP</a:t>
            </a:r>
            <a:r>
              <a:rPr lang="ko-KR" altLang="en-US" sz="2800" b="1" dirty="0">
                <a:solidFill>
                  <a:srgbClr val="00B0F0"/>
                </a:solidFill>
              </a:rPr>
              <a:t>란</a:t>
            </a:r>
            <a:r>
              <a:rPr lang="en-US" altLang="ko-KR" sz="2800" b="1" dirty="0">
                <a:solidFill>
                  <a:srgbClr val="00B0F0"/>
                </a:solidFill>
              </a:rPr>
              <a:t>?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B77E5FD-4523-FC80-965A-FFF2DDED91D5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CBC424E4-6EC8-93D9-3788-386EDA02B354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3" name="그림 2" descr="도표, 라인, 원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07AA6C-C4F6-2CB5-4FB8-061A78E78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721" y="2066735"/>
            <a:ext cx="4439270" cy="27245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52BB282-F298-9117-6A94-3176D9387208}"/>
              </a:ext>
            </a:extLst>
          </p:cNvPr>
          <p:cNvSpPr txBox="1"/>
          <p:nvPr/>
        </p:nvSpPr>
        <p:spPr>
          <a:xfrm>
            <a:off x="6094063" y="2272296"/>
            <a:ext cx="5155183" cy="18035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다층 </a:t>
            </a:r>
            <a:r>
              <a:rPr lang="ko-KR" altLang="en-US" b="1" dirty="0" err="1"/>
              <a:t>퍼셉트론</a:t>
            </a:r>
            <a:r>
              <a:rPr lang="en-US" altLang="ko-KR" b="1" dirty="0"/>
              <a:t>(MLP) </a:t>
            </a:r>
            <a:r>
              <a:rPr lang="ko-KR" altLang="en-US" dirty="0"/>
              <a:t>은 하나 이상의 </a:t>
            </a:r>
            <a:r>
              <a:rPr lang="ko-KR" altLang="en-US" b="1" dirty="0" err="1"/>
              <a:t>은닉층</a:t>
            </a:r>
            <a:r>
              <a:rPr lang="en-US" altLang="ko-KR" dirty="0"/>
              <a:t>(hidden layer)</a:t>
            </a:r>
            <a:r>
              <a:rPr lang="ko-KR" altLang="en-US" dirty="0"/>
              <a:t>을 가지는 신경망으로</a:t>
            </a:r>
            <a:r>
              <a:rPr lang="en-US" altLang="ko-KR" dirty="0"/>
              <a:t>, </a:t>
            </a:r>
          </a:p>
          <a:p>
            <a:r>
              <a:rPr lang="ko-KR" altLang="en-US" dirty="0"/>
              <a:t>각 층에서 </a:t>
            </a:r>
            <a:r>
              <a:rPr lang="ko-KR" altLang="en-US" b="1" dirty="0"/>
              <a:t>선형 변환과 비선형 활성화 함수</a:t>
            </a:r>
            <a:r>
              <a:rPr lang="ko-KR" altLang="en-US" dirty="0"/>
              <a:t>를 순차적으로 적용하여 입력 데이터를 새로운 표현 공간으로 변환하고</a:t>
            </a:r>
            <a:r>
              <a:rPr lang="en-US" altLang="ko-KR" dirty="0"/>
              <a:t>, </a:t>
            </a:r>
            <a:r>
              <a:rPr lang="ko-KR" altLang="en-US" dirty="0"/>
              <a:t>최종적으로 분류 또는 회귀 문제를 해결하는 모델이다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00794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22DEF3-9876-8147-D3B0-B8445C507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083D029-A93B-81C7-8CA3-E270152A01DC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6909C6-6D00-8A57-B6A6-0641DDCD78F1}"/>
              </a:ext>
            </a:extLst>
          </p:cNvPr>
          <p:cNvSpPr txBox="1"/>
          <p:nvPr/>
        </p:nvSpPr>
        <p:spPr>
          <a:xfrm>
            <a:off x="1163052" y="272716"/>
            <a:ext cx="31838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rgbClr val="00B0F0"/>
                </a:solidFill>
              </a:rPr>
              <a:t>단층 </a:t>
            </a:r>
            <a:r>
              <a:rPr lang="ko-KR" altLang="en-US" sz="2800" b="1" dirty="0" err="1">
                <a:solidFill>
                  <a:srgbClr val="00B0F0"/>
                </a:solidFill>
              </a:rPr>
              <a:t>퍼셉트론이란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E923D4C7-618B-0683-5CE8-60CB504E05D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3BDC1249-EF6B-81D2-6BA0-52590373DE52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2" name="그림 1" descr="라인, 원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63AEFCA-85E9-C8D9-9F5B-AF762455A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8149" y="2009319"/>
            <a:ext cx="2655097" cy="2466346"/>
          </a:xfrm>
          <a:prstGeom prst="rect">
            <a:avLst/>
          </a:prstGeom>
        </p:spPr>
      </p:pic>
      <p:pic>
        <p:nvPicPr>
          <p:cNvPr id="5" name="그림 4" descr="도표, 라인, 폰트, 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E63D41A-41FB-1556-49EE-FB5FDC017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375" y="2253757"/>
            <a:ext cx="6513972" cy="2466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203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C8ABF-E9D1-844D-ECEA-F648DA094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84CDAFE-BC00-E60B-3C14-18E35E8C7F1C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37B20E-3A77-984F-AE05-963923D4C290}"/>
              </a:ext>
            </a:extLst>
          </p:cNvPr>
          <p:cNvSpPr txBox="1"/>
          <p:nvPr/>
        </p:nvSpPr>
        <p:spPr>
          <a:xfrm>
            <a:off x="1163052" y="272716"/>
            <a:ext cx="31838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rgbClr val="00B0F0"/>
                </a:solidFill>
              </a:rPr>
              <a:t>단층 </a:t>
            </a:r>
            <a:r>
              <a:rPr lang="ko-KR" altLang="en-US" sz="2800" b="1" dirty="0" err="1">
                <a:solidFill>
                  <a:srgbClr val="00B0F0"/>
                </a:solidFill>
              </a:rPr>
              <a:t>퍼셉트론이란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881C026C-EF16-6954-3893-8671071D73F1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3A1E637-6919-0BB6-96C8-36BE02AEBBBF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4" name="그림 3" descr="라인, 텍스트, 그래프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18C0907-EB26-180A-7238-6E80B53AB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1625" y="1318437"/>
            <a:ext cx="4948962" cy="4075214"/>
          </a:xfrm>
          <a:prstGeom prst="rect">
            <a:avLst/>
          </a:prstGeom>
        </p:spPr>
      </p:pic>
      <p:pic>
        <p:nvPicPr>
          <p:cNvPr id="10" name="그림 9" descr="타이포그래피, 폰트, 서예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459FDF6-6B86-7EFA-6C5D-D2F00D927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778" y="2121377"/>
            <a:ext cx="2264335" cy="47221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C5C5914-9157-17DC-A719-F2B210B6A862}"/>
              </a:ext>
            </a:extLst>
          </p:cNvPr>
          <p:cNvSpPr txBox="1"/>
          <p:nvPr/>
        </p:nvSpPr>
        <p:spPr>
          <a:xfrm>
            <a:off x="992778" y="3104707"/>
            <a:ext cx="423884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맞다 </a:t>
            </a:r>
            <a:r>
              <a:rPr lang="en-US" altLang="ko-KR" dirty="0"/>
              <a:t>vs </a:t>
            </a:r>
            <a:r>
              <a:rPr lang="ko-KR" altLang="en-US" dirty="0"/>
              <a:t>틀리다 결정</a:t>
            </a:r>
            <a:r>
              <a:rPr lang="en-US" altLang="ko-KR" dirty="0"/>
              <a:t>!</a:t>
            </a:r>
          </a:p>
          <a:p>
            <a:r>
              <a:rPr lang="ko-KR" altLang="en-US" dirty="0" err="1"/>
              <a:t>맞다면</a:t>
            </a:r>
            <a:r>
              <a:rPr lang="ko-KR" altLang="en-US" dirty="0"/>
              <a:t> 얼마나 맞는지</a:t>
            </a:r>
            <a:r>
              <a:rPr lang="en-US" altLang="ko-KR" dirty="0"/>
              <a:t>!!</a:t>
            </a:r>
          </a:p>
          <a:p>
            <a:endParaRPr lang="en-US" altLang="ko-KR" dirty="0"/>
          </a:p>
          <a:p>
            <a:r>
              <a:rPr lang="ko-KR" altLang="en-US" dirty="0"/>
              <a:t>하지만 최소한의 값은 존재</a:t>
            </a:r>
            <a:r>
              <a:rPr lang="en-US" altLang="ko-KR" dirty="0"/>
              <a:t>(</a:t>
            </a:r>
            <a:r>
              <a:rPr lang="ko-KR" altLang="en-US" dirty="0" err="1"/>
              <a:t>임계값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Ex) </a:t>
            </a:r>
            <a:r>
              <a:rPr lang="ko-KR" altLang="en-US" dirty="0"/>
              <a:t>최소 </a:t>
            </a:r>
            <a:r>
              <a:rPr lang="en-US" altLang="ko-KR" dirty="0"/>
              <a:t>10</a:t>
            </a:r>
            <a:r>
              <a:rPr lang="ko-KR" altLang="en-US" dirty="0"/>
              <a:t>이상의 값 부터 </a:t>
            </a:r>
            <a:r>
              <a:rPr lang="ko-KR" altLang="en-US" dirty="0" err="1"/>
              <a:t>봐줄만함</a:t>
            </a:r>
            <a:r>
              <a:rPr lang="en-US" altLang="ko-KR" dirty="0"/>
              <a:t>!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ko-KR" altLang="en-US" dirty="0"/>
              <a:t>바이어스 </a:t>
            </a:r>
            <a:r>
              <a:rPr lang="en-US" altLang="ko-KR" dirty="0"/>
              <a:t>-10!!</a:t>
            </a:r>
          </a:p>
          <a:p>
            <a:pPr marL="285750" indent="-285750">
              <a:buFont typeface="Wingdings" panose="05000000000000000000" pitchFamily="2" charset="2"/>
              <a:buChar char="è"/>
            </a:pPr>
            <a:r>
              <a:rPr lang="en-US" altLang="ko-KR" dirty="0"/>
              <a:t>W1x1 + w2x2 -10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EC5FEB-389F-441D-5C5D-981B45917AF2}"/>
              </a:ext>
            </a:extLst>
          </p:cNvPr>
          <p:cNvSpPr txBox="1"/>
          <p:nvPr/>
        </p:nvSpPr>
        <p:spPr>
          <a:xfrm>
            <a:off x="1015552" y="1644131"/>
            <a:ext cx="199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가중합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06677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13088-F532-AA29-B34B-0BB0519B7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10F300A-F5D6-D5BD-1D37-912787A562E2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601700-B4AA-7642-D068-95F3EC1EAF9A}"/>
              </a:ext>
            </a:extLst>
          </p:cNvPr>
          <p:cNvSpPr txBox="1"/>
          <p:nvPr/>
        </p:nvSpPr>
        <p:spPr>
          <a:xfrm>
            <a:off x="1163052" y="272716"/>
            <a:ext cx="3669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rgbClr val="00B0F0"/>
                </a:solidFill>
              </a:rPr>
              <a:t>단층 </a:t>
            </a:r>
            <a:r>
              <a:rPr lang="ko-KR" altLang="en-US" sz="2800" b="1" dirty="0" err="1">
                <a:solidFill>
                  <a:srgbClr val="00B0F0"/>
                </a:solidFill>
              </a:rPr>
              <a:t>퍼셉트론의</a:t>
            </a:r>
            <a:r>
              <a:rPr lang="ko-KR" altLang="en-US" sz="2800" b="1" dirty="0">
                <a:solidFill>
                  <a:srgbClr val="00B0F0"/>
                </a:solidFill>
              </a:rPr>
              <a:t> 한계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47DE563-FCC4-1A5B-44DC-E761F0323E71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8FCA150D-A999-5B34-94DC-E4CDF9CF6FAF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3" name="그림 2" descr="도표, 라인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8FC59A8-615E-514B-E6B2-B0B873A5C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281" y="2015605"/>
            <a:ext cx="7084408" cy="34623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5393AF7-521D-5887-C17D-ABC726FC7E5C}"/>
              </a:ext>
            </a:extLst>
          </p:cNvPr>
          <p:cNvSpPr txBox="1"/>
          <p:nvPr/>
        </p:nvSpPr>
        <p:spPr>
          <a:xfrm>
            <a:off x="4054954" y="1103093"/>
            <a:ext cx="4238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선형</a:t>
            </a:r>
            <a:r>
              <a:rPr lang="en-US" altLang="ko-KR" dirty="0"/>
              <a:t>, </a:t>
            </a:r>
            <a:r>
              <a:rPr lang="ko-KR" altLang="en-US" dirty="0"/>
              <a:t>직선</a:t>
            </a:r>
            <a:r>
              <a:rPr lang="en-US" altLang="ko-KR" dirty="0"/>
              <a:t>, </a:t>
            </a:r>
            <a:r>
              <a:rPr lang="ko-KR" altLang="en-US" dirty="0"/>
              <a:t>평면 등등만 가능</a:t>
            </a:r>
          </a:p>
        </p:txBody>
      </p:sp>
    </p:spTree>
    <p:extLst>
      <p:ext uri="{BB962C8B-B14F-4D97-AF65-F5344CB8AC3E}">
        <p14:creationId xmlns:p14="http://schemas.microsoft.com/office/powerpoint/2010/main" val="877584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3BA6B-D7FF-FF46-A3F6-CE268D076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E6EBBD3-64DB-9549-4D02-1D32A6E8B8D0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60CA71-1F62-A717-70EB-4F9182686A94}"/>
              </a:ext>
            </a:extLst>
          </p:cNvPr>
          <p:cNvSpPr txBox="1"/>
          <p:nvPr/>
        </p:nvSpPr>
        <p:spPr>
          <a:xfrm>
            <a:off x="1163052" y="272716"/>
            <a:ext cx="4387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rgbClr val="00B0F0"/>
                </a:solidFill>
              </a:rPr>
              <a:t>다층 </a:t>
            </a:r>
            <a:r>
              <a:rPr lang="ko-KR" altLang="en-US" sz="2800" b="1" dirty="0" err="1">
                <a:solidFill>
                  <a:srgbClr val="00B0F0"/>
                </a:solidFill>
              </a:rPr>
              <a:t>퍼셉트론을</a:t>
            </a:r>
            <a:r>
              <a:rPr lang="ko-KR" altLang="en-US" sz="2800" b="1" dirty="0">
                <a:solidFill>
                  <a:srgbClr val="00B0F0"/>
                </a:solidFill>
              </a:rPr>
              <a:t> 알아보자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EDB486BE-4521-7B21-6DB7-4724F34D0383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FDC536C-0140-58D4-C4CD-5D1C243E80B9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4" name="그림 3" descr="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67DEAB7-7BAA-E6EC-51B7-EA4FD598E1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073" y="1809859"/>
            <a:ext cx="3652921" cy="3873795"/>
          </a:xfrm>
          <a:prstGeom prst="rect">
            <a:avLst/>
          </a:prstGeom>
        </p:spPr>
      </p:pic>
      <p:pic>
        <p:nvPicPr>
          <p:cNvPr id="10" name="그림 9" descr="스케치, 도표, 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C169B8-B9B5-BB4B-6198-3A8429709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9725" y="1884286"/>
            <a:ext cx="3268151" cy="3724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482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035FC-6858-E94D-A1A3-D9F25E90E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2D6EEA3-37CC-EBAF-1A79-05695204ACBF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1360B2-0039-D28F-A8B3-3C88C44AF339}"/>
              </a:ext>
            </a:extLst>
          </p:cNvPr>
          <p:cNvSpPr txBox="1"/>
          <p:nvPr/>
        </p:nvSpPr>
        <p:spPr>
          <a:xfrm>
            <a:off x="1163052" y="272716"/>
            <a:ext cx="43877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rgbClr val="00B0F0"/>
                </a:solidFill>
              </a:rPr>
              <a:t>다층 </a:t>
            </a:r>
            <a:r>
              <a:rPr lang="ko-KR" altLang="en-US" sz="2800" b="1" dirty="0" err="1">
                <a:solidFill>
                  <a:srgbClr val="00B0F0"/>
                </a:solidFill>
              </a:rPr>
              <a:t>퍼셉트론을</a:t>
            </a:r>
            <a:r>
              <a:rPr lang="ko-KR" altLang="en-US" sz="2800" b="1" dirty="0">
                <a:solidFill>
                  <a:srgbClr val="00B0F0"/>
                </a:solidFill>
              </a:rPr>
              <a:t> 알아보자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4BE3658C-2891-C601-A4E8-E15E05AEBCEF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E858C1B7-FCA5-191B-D849-2E3717C90777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EADC7F9C-3D41-DCF3-174F-35FECCB4D8B0}"/>
              </a:ext>
            </a:extLst>
          </p:cNvPr>
          <p:cNvGrpSpPr/>
          <p:nvPr/>
        </p:nvGrpSpPr>
        <p:grpSpPr>
          <a:xfrm>
            <a:off x="642349" y="1086845"/>
            <a:ext cx="7079470" cy="924054"/>
            <a:chOff x="1967874" y="1896629"/>
            <a:chExt cx="7079470" cy="924054"/>
          </a:xfrm>
        </p:grpSpPr>
        <p:pic>
          <p:nvPicPr>
            <p:cNvPr id="3" name="그림 2" descr="폰트, 화이트, 타이포그래피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12D0FB11-611D-C66C-DC85-80231E724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67874" y="1896629"/>
              <a:ext cx="3677163" cy="924054"/>
            </a:xfrm>
            <a:prstGeom prst="rect">
              <a:avLst/>
            </a:prstGeom>
          </p:spPr>
        </p:pic>
        <p:pic>
          <p:nvPicPr>
            <p:cNvPr id="13" name="그림 12" descr="폰트, 화이트, 타이포그래피, 텍스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A40F326F-7030-26A2-73F8-3717BAF3F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98760" y="2044287"/>
              <a:ext cx="3648584" cy="628738"/>
            </a:xfrm>
            <a:prstGeom prst="rect">
              <a:avLst/>
            </a:prstGeom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D81806EB-8B02-2A36-EC6A-CE63F3D43D3B}"/>
              </a:ext>
            </a:extLst>
          </p:cNvPr>
          <p:cNvGrpSpPr/>
          <p:nvPr/>
        </p:nvGrpSpPr>
        <p:grpSpPr>
          <a:xfrm>
            <a:off x="729491" y="1844921"/>
            <a:ext cx="6992328" cy="800212"/>
            <a:chOff x="2063136" y="3159628"/>
            <a:chExt cx="6992328" cy="800212"/>
          </a:xfrm>
        </p:grpSpPr>
        <p:pic>
          <p:nvPicPr>
            <p:cNvPr id="15" name="그림 14" descr="폰트, 화이트, 서예, 타이포그래피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C63EEA6-AAC4-C8FE-DBD8-FE6FE9990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63136" y="3159628"/>
              <a:ext cx="3486637" cy="800212"/>
            </a:xfrm>
            <a:prstGeom prst="rect">
              <a:avLst/>
            </a:prstGeom>
          </p:spPr>
        </p:pic>
        <p:pic>
          <p:nvPicPr>
            <p:cNvPr id="17" name="그림 16" descr="폰트, 타이포그래피, 화이트, 상징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5298F00E-A972-CFDE-368D-963E5E036B1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54511" y="3254892"/>
              <a:ext cx="3600953" cy="609685"/>
            </a:xfrm>
            <a:prstGeom prst="rect">
              <a:avLst/>
            </a:prstGeom>
          </p:spPr>
        </p:pic>
      </p:grpSp>
      <p:pic>
        <p:nvPicPr>
          <p:cNvPr id="27" name="그림 26" descr="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960BF32-5757-48C5-7D42-02DDF80974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3532" y="614127"/>
            <a:ext cx="3652921" cy="3873795"/>
          </a:xfrm>
          <a:prstGeom prst="rect">
            <a:avLst/>
          </a:prstGeom>
        </p:spPr>
      </p:pic>
      <p:grpSp>
        <p:nvGrpSpPr>
          <p:cNvPr id="26" name="그룹 25">
            <a:extLst>
              <a:ext uri="{FF2B5EF4-FFF2-40B4-BE49-F238E27FC236}">
                <a16:creationId xmlns:a16="http://schemas.microsoft.com/office/drawing/2014/main" id="{B31A562B-CD55-2F18-0CAD-A306B3E00817}"/>
              </a:ext>
            </a:extLst>
          </p:cNvPr>
          <p:cNvGrpSpPr/>
          <p:nvPr/>
        </p:nvGrpSpPr>
        <p:grpSpPr>
          <a:xfrm>
            <a:off x="729491" y="4072897"/>
            <a:ext cx="7964012" cy="609685"/>
            <a:chOff x="1472376" y="4552147"/>
            <a:chExt cx="7964012" cy="609685"/>
          </a:xfrm>
        </p:grpSpPr>
        <p:pic>
          <p:nvPicPr>
            <p:cNvPr id="23" name="그림 22" descr="폰트, 타이포그래피, 텍스트, 서예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9B391DA-7ACC-E25C-2C55-C6E9DB18866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72376" y="4552147"/>
              <a:ext cx="3867690" cy="609685"/>
            </a:xfrm>
            <a:prstGeom prst="rect">
              <a:avLst/>
            </a:prstGeom>
          </p:spPr>
        </p:pic>
        <p:pic>
          <p:nvPicPr>
            <p:cNvPr id="25" name="그림 24" descr="폰트, 타이포그래피, 화이트, 라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70220436-C639-907F-A5F7-D2AAA8EA9DB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340066" y="4580532"/>
              <a:ext cx="4096322" cy="523948"/>
            </a:xfrm>
            <a:prstGeom prst="rect">
              <a:avLst/>
            </a:prstGeom>
          </p:spPr>
        </p:pic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74B4874C-396B-CEA0-3370-DFC5D965EFB6}"/>
              </a:ext>
            </a:extLst>
          </p:cNvPr>
          <p:cNvSpPr txBox="1"/>
          <p:nvPr/>
        </p:nvSpPr>
        <p:spPr>
          <a:xfrm>
            <a:off x="580067" y="3480930"/>
            <a:ext cx="49417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a</a:t>
            </a:r>
            <a:r>
              <a:rPr lang="ko-KR" altLang="en-US" sz="2400" b="1" dirty="0"/>
              <a:t>를 </a:t>
            </a:r>
            <a:r>
              <a:rPr lang="ko-KR" altLang="en-US" sz="2400" b="1" dirty="0" err="1"/>
              <a:t>퍼셉트론</a:t>
            </a:r>
            <a:r>
              <a:rPr lang="ko-KR" altLang="en-US" sz="2400" b="1" dirty="0"/>
              <a:t> 형태로 나타내기</a:t>
            </a: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CF621597-6B66-E381-FD97-31C070E87E8C}"/>
              </a:ext>
            </a:extLst>
          </p:cNvPr>
          <p:cNvSpPr/>
          <p:nvPr/>
        </p:nvSpPr>
        <p:spPr>
          <a:xfrm>
            <a:off x="5869172" y="3970570"/>
            <a:ext cx="492093" cy="65164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02322DFB-5315-5521-AF44-39F0F569F8BD}"/>
              </a:ext>
            </a:extLst>
          </p:cNvPr>
          <p:cNvSpPr/>
          <p:nvPr/>
        </p:nvSpPr>
        <p:spPr>
          <a:xfrm>
            <a:off x="7475772" y="4030934"/>
            <a:ext cx="492093" cy="65164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04951346-AB25-2322-B1FE-9DA648F5FEB7}"/>
              </a:ext>
            </a:extLst>
          </p:cNvPr>
          <p:cNvSpPr/>
          <p:nvPr/>
        </p:nvSpPr>
        <p:spPr>
          <a:xfrm>
            <a:off x="8033514" y="4019708"/>
            <a:ext cx="709609" cy="65164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B2F2BE3-C863-0483-681A-3A7522716794}"/>
              </a:ext>
            </a:extLst>
          </p:cNvPr>
          <p:cNvSpPr txBox="1"/>
          <p:nvPr/>
        </p:nvSpPr>
        <p:spPr>
          <a:xfrm>
            <a:off x="7047874" y="5377336"/>
            <a:ext cx="1953395" cy="369332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Ai</a:t>
            </a:r>
            <a:r>
              <a:rPr lang="ko-KR" altLang="en-US" dirty="0">
                <a:solidFill>
                  <a:srgbClr val="FF0000"/>
                </a:solidFill>
              </a:rPr>
              <a:t>가 알아서 찾음</a:t>
            </a:r>
          </a:p>
        </p:txBody>
      </p:sp>
      <p:sp>
        <p:nvSpPr>
          <p:cNvPr id="33" name="이등변 삼각형 32">
            <a:extLst>
              <a:ext uri="{FF2B5EF4-FFF2-40B4-BE49-F238E27FC236}">
                <a16:creationId xmlns:a16="http://schemas.microsoft.com/office/drawing/2014/main" id="{5C7DE106-1A83-6D51-DF3D-294398F40A49}"/>
              </a:ext>
            </a:extLst>
          </p:cNvPr>
          <p:cNvSpPr/>
          <p:nvPr/>
        </p:nvSpPr>
        <p:spPr>
          <a:xfrm>
            <a:off x="4983124" y="3794826"/>
            <a:ext cx="553263" cy="876530"/>
          </a:xfrm>
          <a:prstGeom prst="triangl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이등변 삼각형 33">
            <a:extLst>
              <a:ext uri="{FF2B5EF4-FFF2-40B4-BE49-F238E27FC236}">
                <a16:creationId xmlns:a16="http://schemas.microsoft.com/office/drawing/2014/main" id="{48E0CA38-1574-E1A2-F9DF-165EA391404B}"/>
              </a:ext>
            </a:extLst>
          </p:cNvPr>
          <p:cNvSpPr/>
          <p:nvPr/>
        </p:nvSpPr>
        <p:spPr>
          <a:xfrm>
            <a:off x="6639344" y="3745688"/>
            <a:ext cx="553263" cy="876530"/>
          </a:xfrm>
          <a:prstGeom prst="triangl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353A137A-453C-95A3-FF62-683B3CB09AE8}"/>
              </a:ext>
            </a:extLst>
          </p:cNvPr>
          <p:cNvCxnSpPr>
            <a:stCxn id="29" idx="4"/>
          </p:cNvCxnSpPr>
          <p:nvPr/>
        </p:nvCxnSpPr>
        <p:spPr>
          <a:xfrm>
            <a:off x="6115219" y="4622218"/>
            <a:ext cx="1476428" cy="69406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직선 연결선 36">
            <a:extLst>
              <a:ext uri="{FF2B5EF4-FFF2-40B4-BE49-F238E27FC236}">
                <a16:creationId xmlns:a16="http://schemas.microsoft.com/office/drawing/2014/main" id="{1AF10F92-DB5F-B868-8580-4E6151B805F6}"/>
              </a:ext>
            </a:extLst>
          </p:cNvPr>
          <p:cNvCxnSpPr>
            <a:cxnSpLocks/>
          </p:cNvCxnSpPr>
          <p:nvPr/>
        </p:nvCxnSpPr>
        <p:spPr>
          <a:xfrm>
            <a:off x="7721818" y="4695578"/>
            <a:ext cx="46824" cy="57277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E8C0E170-3764-3579-4693-ED7AF6FBC64E}"/>
              </a:ext>
            </a:extLst>
          </p:cNvPr>
          <p:cNvCxnSpPr>
            <a:cxnSpLocks/>
            <a:stCxn id="31" idx="4"/>
          </p:cNvCxnSpPr>
          <p:nvPr/>
        </p:nvCxnSpPr>
        <p:spPr>
          <a:xfrm flipH="1">
            <a:off x="8098036" y="4671356"/>
            <a:ext cx="290283" cy="6449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6" name="그림 45">
            <a:extLst>
              <a:ext uri="{FF2B5EF4-FFF2-40B4-BE49-F238E27FC236}">
                <a16:creationId xmlns:a16="http://schemas.microsoft.com/office/drawing/2014/main" id="{0492C942-7063-98C8-0662-23E0AA95472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50732" y="5207234"/>
            <a:ext cx="581106" cy="438211"/>
          </a:xfrm>
          <a:prstGeom prst="rect">
            <a:avLst/>
          </a:prstGeom>
        </p:spPr>
      </p:pic>
      <p:pic>
        <p:nvPicPr>
          <p:cNvPr id="48" name="그림 47" descr="스케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8627103-20DC-5293-1D99-31BE5DA778C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37303" y="5143594"/>
            <a:ext cx="590632" cy="552527"/>
          </a:xfrm>
          <a:prstGeom prst="rect">
            <a:avLst/>
          </a:prstGeom>
        </p:spPr>
      </p:pic>
      <p:pic>
        <p:nvPicPr>
          <p:cNvPr id="50" name="그림 49" descr="프레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B8BF13A-4D66-BBFA-12C8-371BD680D72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82195" y="5180925"/>
            <a:ext cx="590632" cy="552527"/>
          </a:xfrm>
          <a:prstGeom prst="rect">
            <a:avLst/>
          </a:prstGeom>
        </p:spPr>
      </p:pic>
      <p:pic>
        <p:nvPicPr>
          <p:cNvPr id="52" name="그림 51" descr="스케치, 채찍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5B1720-619C-C209-6E40-75A2844E0E7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65178" y="5166636"/>
            <a:ext cx="619211" cy="581106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F24950A1-D65B-FF62-BD4C-896759D5EADC}"/>
              </a:ext>
            </a:extLst>
          </p:cNvPr>
          <p:cNvSpPr txBox="1"/>
          <p:nvPr/>
        </p:nvSpPr>
        <p:spPr>
          <a:xfrm>
            <a:off x="4374541" y="5827517"/>
            <a:ext cx="1494632" cy="369332"/>
          </a:xfrm>
          <a:prstGeom prst="rect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>
                <a:solidFill>
                  <a:srgbClr val="0070C0"/>
                </a:solidFill>
              </a:rPr>
              <a:t>이것들 좌표</a:t>
            </a:r>
            <a:endParaRPr lang="ko-KR" altLang="en-US" dirty="0">
              <a:solidFill>
                <a:srgbClr val="0070C0"/>
              </a:solidFill>
            </a:endParaRP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CBD3FEAE-B44B-E13D-2E61-F840D3060C1E}"/>
              </a:ext>
            </a:extLst>
          </p:cNvPr>
          <p:cNvCxnSpPr>
            <a:cxnSpLocks/>
            <a:endCxn id="53" idx="0"/>
          </p:cNvCxnSpPr>
          <p:nvPr/>
        </p:nvCxnSpPr>
        <p:spPr>
          <a:xfrm flipH="1">
            <a:off x="5121857" y="4702498"/>
            <a:ext cx="104142" cy="1125019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E49E6A6D-3B40-7554-495E-F43E2E6E85A7}"/>
              </a:ext>
            </a:extLst>
          </p:cNvPr>
          <p:cNvCxnSpPr>
            <a:cxnSpLocks/>
            <a:stCxn id="34" idx="3"/>
            <a:endCxn id="53" idx="0"/>
          </p:cNvCxnSpPr>
          <p:nvPr/>
        </p:nvCxnSpPr>
        <p:spPr>
          <a:xfrm flipH="1">
            <a:off x="5121857" y="4622218"/>
            <a:ext cx="1794119" cy="1205299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0742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FA94F-8900-4738-3341-6643BB127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6CDDC33-0F25-C59A-2727-9A0BED531FEE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50238A-9C92-D0C5-6D23-53FEC2BF947B}"/>
              </a:ext>
            </a:extLst>
          </p:cNvPr>
          <p:cNvSpPr txBox="1"/>
          <p:nvPr/>
        </p:nvSpPr>
        <p:spPr>
          <a:xfrm>
            <a:off x="1163052" y="272716"/>
            <a:ext cx="29915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rgbClr val="00B0F0"/>
                </a:solidFill>
              </a:rPr>
              <a:t>수식 조금만 더</a:t>
            </a:r>
            <a:r>
              <a:rPr lang="en-US" altLang="ko-KR" sz="2800" b="1" dirty="0">
                <a:solidFill>
                  <a:srgbClr val="00B0F0"/>
                </a:solidFill>
              </a:rPr>
              <a:t>,,,!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6929E55-DDA8-F268-F84A-1B7A07395DA6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9DD96DDB-6B42-52F6-59B4-7C9A6C05FBE4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8" name="그림 7" descr="텍스트, 친필, 폰트, 서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53D3AE1-44C7-3798-E6BB-CAC67DC4A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714" y="1240276"/>
            <a:ext cx="6396655" cy="4767524"/>
          </a:xfrm>
          <a:prstGeom prst="rect">
            <a:avLst/>
          </a:prstGeom>
        </p:spPr>
      </p:pic>
      <p:pic>
        <p:nvPicPr>
          <p:cNvPr id="12" name="그림 11" descr="도표, 라인, 스케치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2555F49-B922-C042-3E62-C5A350CC84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257" y="2202699"/>
            <a:ext cx="4288089" cy="343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369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CB0A4-F56E-8AAF-0495-6DC8149AB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B4918CF-C20A-2BF5-C1C1-7EB330DB0741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4A70C6-A100-70DE-C2AC-5B7F1E8C1E18}"/>
              </a:ext>
            </a:extLst>
          </p:cNvPr>
          <p:cNvSpPr txBox="1"/>
          <p:nvPr/>
        </p:nvSpPr>
        <p:spPr>
          <a:xfrm>
            <a:off x="1163052" y="272716"/>
            <a:ext cx="29915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rgbClr val="00B0F0"/>
                </a:solidFill>
              </a:rPr>
              <a:t>수식 조금만 더</a:t>
            </a:r>
            <a:r>
              <a:rPr lang="en-US" altLang="ko-KR" sz="2800" b="1" dirty="0">
                <a:solidFill>
                  <a:srgbClr val="00B0F0"/>
                </a:solidFill>
              </a:rPr>
              <a:t>,,,!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EBE4F36-01B6-D824-D748-1E4565C13BC6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8717CF1E-9F1F-E38B-F3DE-F7B16BEAAF65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12" name="그림 11" descr="도표, 라인, 스케치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69C4E08-4335-8CF2-35A1-ECDF139B6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375" y="1950408"/>
            <a:ext cx="5068656" cy="4065767"/>
          </a:xfrm>
          <a:prstGeom prst="rect">
            <a:avLst/>
          </a:prstGeom>
        </p:spPr>
      </p:pic>
      <p:pic>
        <p:nvPicPr>
          <p:cNvPr id="16" name="그림 15" descr="도표, 라인, 그래프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0659F38-20A3-C0D5-621B-911A78172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5178" y="1735660"/>
            <a:ext cx="4317533" cy="3807446"/>
          </a:xfrm>
          <a:prstGeom prst="rect">
            <a:avLst/>
          </a:prstGeom>
        </p:spPr>
      </p:pic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6EA44ECF-983A-8F18-8E2C-7AC9C1A4D9BC}"/>
              </a:ext>
            </a:extLst>
          </p:cNvPr>
          <p:cNvSpPr/>
          <p:nvPr/>
        </p:nvSpPr>
        <p:spPr>
          <a:xfrm>
            <a:off x="5521842" y="3522921"/>
            <a:ext cx="1424763" cy="659217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4EA4A0-A1D4-5A07-86F4-1CB5295E797E}"/>
              </a:ext>
            </a:extLst>
          </p:cNvPr>
          <p:cNvSpPr txBox="1"/>
          <p:nvPr/>
        </p:nvSpPr>
        <p:spPr>
          <a:xfrm>
            <a:off x="3623194" y="1458051"/>
            <a:ext cx="49417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한 개의 직선으로 나누기 성공</a:t>
            </a:r>
            <a:r>
              <a:rPr lang="en-US" altLang="ko-KR" sz="2400" b="1" dirty="0"/>
              <a:t>!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870448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D497C-5356-6F78-F432-0989D6C7B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A8448F0-0A99-08EB-E3DF-B6285BDAA185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E83ECA-4BCA-4A9A-40C3-A950B6A9F221}"/>
              </a:ext>
            </a:extLst>
          </p:cNvPr>
          <p:cNvSpPr txBox="1"/>
          <p:nvPr/>
        </p:nvSpPr>
        <p:spPr>
          <a:xfrm>
            <a:off x="1163052" y="272716"/>
            <a:ext cx="17475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rgbClr val="00B0F0"/>
                </a:solidFill>
              </a:rPr>
              <a:t>최종 구조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9C4D297E-8747-BE7D-FB7E-EE35D79992A5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FA36C22-ADFC-B4EB-CBED-CFE632E6C584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9FA0A00-FD57-FB66-EB49-F47FA7BE32C6}"/>
              </a:ext>
            </a:extLst>
          </p:cNvPr>
          <p:cNvSpPr txBox="1"/>
          <p:nvPr/>
        </p:nvSpPr>
        <p:spPr>
          <a:xfrm>
            <a:off x="3970524" y="1121692"/>
            <a:ext cx="49417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/>
              <a:t>다층 </a:t>
            </a:r>
            <a:r>
              <a:rPr lang="ko-KR" altLang="en-US" sz="2400" b="1" dirty="0" err="1"/>
              <a:t>퍼셉트론</a:t>
            </a:r>
            <a:r>
              <a:rPr lang="ko-KR" altLang="en-US" sz="2400" b="1" dirty="0"/>
              <a:t> 구조</a:t>
            </a:r>
          </a:p>
        </p:txBody>
      </p:sp>
      <p:pic>
        <p:nvPicPr>
          <p:cNvPr id="10" name="그림 9" descr="도표, 원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FA5DE01-0A6E-8E51-621C-803974AE6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499" y="1852646"/>
            <a:ext cx="8954953" cy="405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5010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EEEA1-6D4B-AB91-C9E8-2932D887E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1C166A3-9BCD-B58B-4E78-9C49A730655E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E35D06-E648-56AE-8925-86E2FDD5FB73}"/>
              </a:ext>
            </a:extLst>
          </p:cNvPr>
          <p:cNvSpPr txBox="1"/>
          <p:nvPr/>
        </p:nvSpPr>
        <p:spPr>
          <a:xfrm>
            <a:off x="1163052" y="272716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rgbClr val="00B0F0"/>
                </a:solidFill>
              </a:rPr>
              <a:t>결론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3BDC080-C830-9E73-A459-2708E7780989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09698D67-1CC0-55A6-35BC-2F07A6FFD67D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0359BD9-C074-B796-C00E-8F39BA33A997}"/>
              </a:ext>
            </a:extLst>
          </p:cNvPr>
          <p:cNvSpPr txBox="1"/>
          <p:nvPr/>
        </p:nvSpPr>
        <p:spPr>
          <a:xfrm>
            <a:off x="881340" y="1617066"/>
            <a:ext cx="1058607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b="1" dirty="0"/>
              <a:t>단층 </a:t>
            </a:r>
            <a:r>
              <a:rPr lang="ko-KR" altLang="en-US" sz="2400" b="1" dirty="0" err="1"/>
              <a:t>퍼셉트론은</a:t>
            </a:r>
            <a:r>
              <a:rPr lang="ko-KR" altLang="en-US" sz="2400" b="1" dirty="0"/>
              <a:t> </a:t>
            </a:r>
            <a:r>
              <a:rPr lang="ko-KR" altLang="en-US" sz="2400" dirty="0"/>
              <a:t>선형 결정 경계를 기준으로 분리하여 </a:t>
            </a:r>
            <a:r>
              <a:rPr lang="ko-KR" altLang="en-US" sz="2400" b="1" dirty="0"/>
              <a:t>이진분류</a:t>
            </a:r>
            <a:r>
              <a:rPr lang="ko-KR" altLang="en-US" sz="2400" dirty="0"/>
              <a:t>가 가능함</a:t>
            </a:r>
            <a:endParaRPr lang="en-US" altLang="ko-KR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b="1" dirty="0"/>
              <a:t>다층 </a:t>
            </a:r>
            <a:r>
              <a:rPr lang="ko-KR" altLang="en-US" sz="2400" b="1" dirty="0" err="1"/>
              <a:t>퍼셉트론은</a:t>
            </a:r>
            <a:r>
              <a:rPr lang="ko-KR" altLang="en-US" sz="2400" b="1" dirty="0"/>
              <a:t> </a:t>
            </a:r>
            <a:r>
              <a:rPr lang="ko-KR" altLang="en-US" sz="2400" dirty="0" err="1"/>
              <a:t>여러층의</a:t>
            </a:r>
            <a:r>
              <a:rPr lang="ko-KR" altLang="en-US" sz="2400" dirty="0"/>
              <a:t> </a:t>
            </a:r>
            <a:r>
              <a:rPr lang="ko-KR" altLang="en-US" sz="2400" b="1" dirty="0"/>
              <a:t>선형분리</a:t>
            </a:r>
            <a:r>
              <a:rPr lang="ko-KR" altLang="en-US" sz="2400" dirty="0"/>
              <a:t>와 </a:t>
            </a:r>
            <a:r>
              <a:rPr lang="ko-KR" altLang="en-US" sz="2400" b="1" dirty="0"/>
              <a:t>활성화 함수로 </a:t>
            </a:r>
            <a:r>
              <a:rPr lang="ko-KR" altLang="en-US" sz="2400" dirty="0"/>
              <a:t>인한 비선형변환을 계속 이루어짐</a:t>
            </a:r>
            <a:r>
              <a:rPr lang="en-US" altLang="ko-KR" sz="2400" dirty="0"/>
              <a:t>. </a:t>
            </a:r>
          </a:p>
          <a:p>
            <a:endParaRPr lang="en-US" altLang="ko-KR" sz="2400" dirty="0"/>
          </a:p>
          <a:p>
            <a:r>
              <a:rPr lang="ko-KR" altLang="en-US" sz="2400" dirty="0"/>
              <a:t>그 과정에서 각각의 선형분리들에 의해서 데이터의</a:t>
            </a:r>
            <a:r>
              <a:rPr lang="ko-KR" altLang="en-US" sz="2400" b="1" dirty="0"/>
              <a:t> 특징</a:t>
            </a:r>
            <a:r>
              <a:rPr lang="ko-KR" altLang="en-US" sz="2400" dirty="0"/>
              <a:t>들이 반영되게 된다</a:t>
            </a:r>
            <a:r>
              <a:rPr lang="en-US" altLang="ko-KR" sz="2400" dirty="0"/>
              <a:t>.... </a:t>
            </a:r>
          </a:p>
          <a:p>
            <a:r>
              <a:rPr lang="en-US" altLang="ko-KR" sz="2400" dirty="0"/>
              <a:t>=&gt; </a:t>
            </a:r>
            <a:r>
              <a:rPr lang="ko-KR" altLang="en-US" sz="2400" dirty="0"/>
              <a:t>최종적으로는 직선 하나로 분리 가능하게 만들기</a:t>
            </a:r>
            <a:br>
              <a:rPr lang="ko-KR" altLang="en-US" sz="2400" dirty="0"/>
            </a:br>
            <a:r>
              <a:rPr lang="en-US" altLang="ko-KR" sz="2400" dirty="0"/>
              <a:t>-&gt;</a:t>
            </a:r>
            <a:r>
              <a:rPr lang="ko-KR" altLang="en-US" sz="2400" dirty="0"/>
              <a:t> </a:t>
            </a:r>
            <a:r>
              <a:rPr lang="ko-KR" altLang="en-US" sz="2400" dirty="0">
                <a:solidFill>
                  <a:srgbClr val="FF0000"/>
                </a:solidFill>
              </a:rPr>
              <a:t>특징이 제대로 와닿지 않음</a:t>
            </a:r>
            <a:r>
              <a:rPr lang="en-US" altLang="ko-KR" sz="2400" dirty="0">
                <a:solidFill>
                  <a:srgbClr val="FF0000"/>
                </a:solidFill>
              </a:rPr>
              <a:t>...</a:t>
            </a:r>
            <a:br>
              <a:rPr lang="ko-KR" altLang="en-US" sz="2400" dirty="0"/>
            </a:b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605911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B1845-CFFC-5D18-53E9-2CD48FF4E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E4954A3-9393-2A41-1C6B-427F18819C38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0A86F7-802C-85DF-D2F8-3342C27CB7F1}"/>
              </a:ext>
            </a:extLst>
          </p:cNvPr>
          <p:cNvSpPr txBox="1"/>
          <p:nvPr/>
        </p:nvSpPr>
        <p:spPr>
          <a:xfrm>
            <a:off x="1163052" y="272716"/>
            <a:ext cx="37962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rgbClr val="00B0F0"/>
                </a:solidFill>
              </a:rPr>
              <a:t>나의 생각과 답변 정리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9E592E4-C331-5FDF-8471-96C81A78BF21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324ACE7B-D3E8-A4C2-CC17-F202E1EBE6CB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815FF12-2B11-52A1-9934-10E9CA0813BD}"/>
              </a:ext>
            </a:extLst>
          </p:cNvPr>
          <p:cNvSpPr txBox="1"/>
          <p:nvPr/>
        </p:nvSpPr>
        <p:spPr>
          <a:xfrm>
            <a:off x="1163052" y="1576932"/>
            <a:ext cx="939522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Q) </a:t>
            </a:r>
            <a:r>
              <a:rPr lang="ko-KR" altLang="en-US" sz="2400" dirty="0"/>
              <a:t>단층 </a:t>
            </a:r>
            <a:r>
              <a:rPr lang="ko-KR" altLang="en-US" sz="2400" dirty="0" err="1"/>
              <a:t>퍼셉트론도</a:t>
            </a:r>
            <a:r>
              <a:rPr lang="ko-KR" altLang="en-US" sz="2400" dirty="0"/>
              <a:t> 활성화 함수가 있기 때문에 선현분리 </a:t>
            </a:r>
            <a:r>
              <a:rPr lang="en-US" altLang="ko-KR" sz="2400" dirty="0"/>
              <a:t>+ </a:t>
            </a:r>
            <a:r>
              <a:rPr lang="ko-KR" altLang="en-US" sz="2400" dirty="0"/>
              <a:t>비선형 변환이 들어가지 않나</a:t>
            </a:r>
            <a:r>
              <a:rPr lang="en-US" altLang="ko-KR" sz="2400" dirty="0"/>
              <a:t>?</a:t>
            </a:r>
            <a:r>
              <a:rPr lang="ko-KR" altLang="en-US" sz="2400" dirty="0"/>
              <a:t> </a:t>
            </a:r>
            <a:endParaRPr lang="en-US" altLang="ko-KR" sz="2400" dirty="0"/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ko-KR" altLang="en-US" sz="2400" dirty="0"/>
              <a:t>결정경계를 바꾸지 못한다 </a:t>
            </a:r>
            <a:endParaRPr lang="en-US" altLang="ko-KR" sz="2400" dirty="0"/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ko-KR" altLang="en-US" sz="2400" dirty="0"/>
              <a:t>입력 공간을 비선형적으로 변형되지 않음 그저 결과만 바꾼다</a:t>
            </a:r>
            <a:endParaRPr lang="en-US" altLang="ko-KR" sz="2400" dirty="0"/>
          </a:p>
          <a:p>
            <a:pPr marL="342900" indent="-342900">
              <a:buFont typeface="Symbol" panose="05050102010706020507" pitchFamily="18" charset="2"/>
              <a:buChar char="Þ"/>
            </a:pPr>
            <a:r>
              <a:rPr lang="ko-KR" altLang="en-US" sz="2400" dirty="0"/>
              <a:t>단층 </a:t>
            </a:r>
            <a:r>
              <a:rPr lang="ko-KR" altLang="en-US" sz="2400" dirty="0" err="1"/>
              <a:t>퍼셉트론의</a:t>
            </a:r>
            <a:r>
              <a:rPr lang="ko-KR" altLang="en-US" sz="2400" dirty="0"/>
              <a:t> 활성화 함수는 결과를 자르는 도구임 </a:t>
            </a:r>
            <a:br>
              <a:rPr lang="en-US" altLang="ko-KR" sz="2400" dirty="0"/>
            </a:br>
            <a:r>
              <a:rPr lang="ko-KR" altLang="en-US" sz="2400" dirty="0"/>
              <a:t>다층 </a:t>
            </a:r>
            <a:r>
              <a:rPr lang="ko-KR" altLang="en-US" sz="2400" dirty="0" err="1"/>
              <a:t>퍼셉트론의</a:t>
            </a:r>
            <a:r>
              <a:rPr lang="ko-KR" altLang="en-US" sz="2400" dirty="0"/>
              <a:t> 활성화 함수는 공간을 변형하는 도구임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선형 </a:t>
            </a:r>
            <a:r>
              <a:rPr lang="en-US" altLang="ko-KR" sz="2400" dirty="0"/>
              <a:t>: </a:t>
            </a:r>
            <a:r>
              <a:rPr lang="ko-KR" altLang="en-US" sz="2400" dirty="0"/>
              <a:t>회전</a:t>
            </a:r>
            <a:r>
              <a:rPr lang="en-US" altLang="ko-KR" sz="2400" dirty="0"/>
              <a:t>, </a:t>
            </a:r>
            <a:r>
              <a:rPr lang="ko-KR" altLang="en-US" sz="2400" dirty="0"/>
              <a:t>확대</a:t>
            </a:r>
            <a:r>
              <a:rPr lang="en-US" altLang="ko-KR" sz="2400" dirty="0"/>
              <a:t>, </a:t>
            </a:r>
            <a:r>
              <a:rPr lang="ko-KR" altLang="en-US" sz="2400" dirty="0"/>
              <a:t>축소</a:t>
            </a:r>
            <a:r>
              <a:rPr lang="en-US" altLang="ko-KR" sz="2400" dirty="0"/>
              <a:t>, </a:t>
            </a:r>
            <a:r>
              <a:rPr lang="ko-KR" altLang="en-US" sz="2400" dirty="0"/>
              <a:t>평행이동 </a:t>
            </a:r>
            <a:r>
              <a:rPr lang="en-US" altLang="ko-KR" sz="2400" dirty="0"/>
              <a:t>=&gt; </a:t>
            </a:r>
            <a:r>
              <a:rPr lang="ko-KR" altLang="en-US" sz="2400" dirty="0"/>
              <a:t>공간을 찌그러뜨리지만 구부리지 못함</a:t>
            </a:r>
            <a:br>
              <a:rPr lang="ko-KR" altLang="en-US" sz="2400" dirty="0"/>
            </a:br>
            <a:r>
              <a:rPr lang="ko-KR" altLang="en-US" sz="2400" dirty="0"/>
              <a:t>비선형 </a:t>
            </a:r>
            <a:r>
              <a:rPr lang="en-US" altLang="ko-KR" sz="2400" dirty="0"/>
              <a:t>: </a:t>
            </a:r>
            <a:r>
              <a:rPr lang="ko-KR" altLang="en-US" sz="2400" dirty="0"/>
              <a:t>한쪽을 </a:t>
            </a:r>
            <a:r>
              <a:rPr lang="ko-KR" altLang="en-US" sz="2400" dirty="0" err="1"/>
              <a:t>접어버림</a:t>
            </a:r>
            <a:r>
              <a:rPr lang="en-US" altLang="ko-KR" sz="2400" dirty="0"/>
              <a:t>, </a:t>
            </a:r>
            <a:r>
              <a:rPr lang="ko-KR" altLang="en-US" sz="2400" dirty="0"/>
              <a:t>영역을 </a:t>
            </a:r>
            <a:r>
              <a:rPr lang="ko-KR" altLang="en-US" sz="2400" dirty="0" err="1"/>
              <a:t>잘라냄</a:t>
            </a:r>
            <a:r>
              <a:rPr lang="en-US" altLang="ko-KR" sz="2400" dirty="0"/>
              <a:t>, </a:t>
            </a:r>
            <a:r>
              <a:rPr lang="ko-KR" altLang="en-US" sz="2400" dirty="0"/>
              <a:t>새로운 면을 만듦</a:t>
            </a:r>
            <a:r>
              <a:rPr lang="en-US" altLang="ko-KR" sz="2400" dirty="0"/>
              <a:t>=&gt;</a:t>
            </a:r>
            <a:r>
              <a:rPr lang="ko-KR" altLang="en-US" sz="2400" dirty="0"/>
              <a:t>공간을 구부림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608470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D5838-2283-B851-FA1A-AFB598E04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531F7F2-DECE-6BDF-20D8-41A14C865644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48F03D-10F3-7264-EC0E-9770898D4173}"/>
              </a:ext>
            </a:extLst>
          </p:cNvPr>
          <p:cNvSpPr txBox="1"/>
          <p:nvPr/>
        </p:nvSpPr>
        <p:spPr>
          <a:xfrm>
            <a:off x="1163052" y="272716"/>
            <a:ext cx="29851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rgbClr val="00B0F0"/>
                </a:solidFill>
              </a:rPr>
              <a:t>MLP </a:t>
            </a:r>
            <a:r>
              <a:rPr lang="ko-KR" altLang="en-US" sz="2800" b="1" dirty="0">
                <a:solidFill>
                  <a:srgbClr val="00B0F0"/>
                </a:solidFill>
              </a:rPr>
              <a:t>회귀는 </a:t>
            </a:r>
            <a:r>
              <a:rPr lang="ko-KR" altLang="en-US" sz="2800" b="1" dirty="0" err="1">
                <a:solidFill>
                  <a:srgbClr val="00B0F0"/>
                </a:solidFill>
              </a:rPr>
              <a:t>뭔데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3EEB9573-269E-B01B-7236-7D4AFF9DA286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DF4672BD-5F98-6345-D2DB-E177DC934E81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6989BA4-3D6D-56E8-C5C4-87E8394843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481349"/>
              </p:ext>
            </p:extLst>
          </p:nvPr>
        </p:nvGraphicFramePr>
        <p:xfrm>
          <a:off x="881375" y="1806232"/>
          <a:ext cx="10060764" cy="30493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30382">
                  <a:extLst>
                    <a:ext uri="{9D8B030D-6E8A-4147-A177-3AD203B41FA5}">
                      <a16:colId xmlns:a16="http://schemas.microsoft.com/office/drawing/2014/main" val="2303198775"/>
                    </a:ext>
                  </a:extLst>
                </a:gridCol>
                <a:gridCol w="5030382">
                  <a:extLst>
                    <a:ext uri="{9D8B030D-6E8A-4147-A177-3AD203B41FA5}">
                      <a16:colId xmlns:a16="http://schemas.microsoft.com/office/drawing/2014/main" val="2266005228"/>
                    </a:ext>
                  </a:extLst>
                </a:gridCol>
              </a:tblGrid>
              <a:tr h="4818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분류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회귀</a:t>
                      </a:r>
                      <a:endParaRPr lang="en-US" altLang="ko-K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1849332"/>
                  </a:ext>
                </a:extLst>
              </a:tr>
              <a:tr h="8316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Linear -&gt; </a:t>
                      </a:r>
                      <a:r>
                        <a:rPr lang="ko-KR" altLang="en-US" dirty="0"/>
                        <a:t>활성화 </a:t>
                      </a:r>
                      <a:r>
                        <a:rPr lang="en-US" altLang="ko-KR" dirty="0"/>
                        <a:t>-&gt; Linear -&gt; </a:t>
                      </a:r>
                      <a:r>
                        <a:rPr lang="ko-KR" altLang="en-US" dirty="0"/>
                        <a:t>활성화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Linear -&gt; </a:t>
                      </a:r>
                      <a:r>
                        <a:rPr lang="ko-KR" altLang="en-US" dirty="0"/>
                        <a:t>활성화 </a:t>
                      </a:r>
                      <a:r>
                        <a:rPr lang="en-US" altLang="ko-KR" dirty="0"/>
                        <a:t>-&gt; Linear</a:t>
                      </a:r>
                    </a:p>
                    <a:p>
                      <a:pPr algn="ctr" latinLnBrk="1"/>
                      <a:r>
                        <a:rPr lang="ko-KR" altLang="en-US" dirty="0"/>
                        <a:t>출력층에는 활성화 함수 쓰지 않음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9689160"/>
                  </a:ext>
                </a:extLst>
              </a:tr>
              <a:tr h="4818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맞았냐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틀렸냐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얼마나 틀렸냐 </a:t>
                      </a:r>
                      <a:r>
                        <a:rPr lang="en-US" altLang="ko-KR" dirty="0"/>
                        <a:t>(</a:t>
                      </a:r>
                      <a:r>
                        <a:rPr lang="ko-KR" altLang="en-US" dirty="0"/>
                        <a:t>오차를 기준</a:t>
                      </a:r>
                      <a:r>
                        <a:rPr lang="en-US" altLang="ko-KR" dirty="0"/>
                        <a:t>)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7204080"/>
                  </a:ext>
                </a:extLst>
              </a:tr>
              <a:tr h="125391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분류는 </a:t>
                      </a:r>
                      <a:r>
                        <a:rPr lang="ko-KR" altLang="en-US" dirty="0" err="1"/>
                        <a:t>뭘까</a:t>
                      </a:r>
                      <a:r>
                        <a:rPr lang="en-US" altLang="ko-KR" dirty="0"/>
                        <a:t>…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effectLst/>
                        </a:rPr>
                        <a:t>최종 출력층의 값을 실제 값과 비교해서 오차를 감지하고 </a:t>
                      </a:r>
                      <a:r>
                        <a:rPr lang="ko-KR" altLang="en-US" dirty="0" err="1">
                          <a:effectLst/>
                        </a:rPr>
                        <a:t>줄여나가는</a:t>
                      </a:r>
                      <a:r>
                        <a:rPr lang="ko-KR" altLang="en-US" dirty="0">
                          <a:effectLst/>
                        </a:rPr>
                        <a:t> 방향으로 모든 층의 가중치와 편향을 조절한다</a:t>
                      </a:r>
                      <a:r>
                        <a:rPr lang="en-US" altLang="ko-KR" dirty="0">
                          <a:effectLst/>
                        </a:rPr>
                        <a:t>, </a:t>
                      </a:r>
                      <a:r>
                        <a:rPr lang="ko-KR" altLang="en-US" dirty="0">
                          <a:effectLst/>
                        </a:rPr>
                        <a:t>그리고 이걸 반복해서 오차를 </a:t>
                      </a:r>
                      <a:r>
                        <a:rPr lang="ko-KR" altLang="en-US" dirty="0" err="1">
                          <a:effectLst/>
                        </a:rPr>
                        <a:t>줄여나간다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49381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6052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6E981-87F8-F1CD-9E60-B1BBC54A9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06A014D-4E51-322D-15EA-EB18F032A601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3FDEF1-1C55-535A-4AB3-2A4FC919F6C9}"/>
              </a:ext>
            </a:extLst>
          </p:cNvPr>
          <p:cNvSpPr txBox="1"/>
          <p:nvPr/>
        </p:nvSpPr>
        <p:spPr>
          <a:xfrm>
            <a:off x="1163052" y="272716"/>
            <a:ext cx="33441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b="1" dirty="0">
                <a:solidFill>
                  <a:srgbClr val="00B0F0"/>
                </a:solidFill>
              </a:rPr>
              <a:t>MLP </a:t>
            </a:r>
            <a:r>
              <a:rPr lang="ko-KR" altLang="en-US" sz="2800" b="1" dirty="0">
                <a:solidFill>
                  <a:srgbClr val="00B0F0"/>
                </a:solidFill>
              </a:rPr>
              <a:t>분류의 작동법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24AAB5B-07CF-972F-E5D8-EE29D28EBD31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46E1E571-DC32-ECC0-C1D2-5CDDA969017B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CB445A1-7BB2-B7F4-ECF0-5DC179AC6965}"/>
              </a:ext>
            </a:extLst>
          </p:cNvPr>
          <p:cNvSpPr txBox="1"/>
          <p:nvPr/>
        </p:nvSpPr>
        <p:spPr>
          <a:xfrm>
            <a:off x="1035308" y="1506554"/>
            <a:ext cx="10278139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분류의 작동원리</a:t>
            </a:r>
            <a:endParaRPr lang="en-US" altLang="ko-KR" sz="2400" dirty="0"/>
          </a:p>
          <a:p>
            <a:br>
              <a:rPr lang="ko-KR" altLang="en-US" dirty="0"/>
            </a:br>
            <a:r>
              <a:rPr lang="en-US" altLang="ko-KR" dirty="0"/>
              <a:t>- </a:t>
            </a:r>
            <a:r>
              <a:rPr lang="ko-KR" altLang="en-US" dirty="0"/>
              <a:t>분류의 경우는 직선의 기울기와 절편을 </a:t>
            </a:r>
            <a:r>
              <a:rPr lang="ko-KR" altLang="en-US" dirty="0" err="1"/>
              <a:t>찾기위해</a:t>
            </a:r>
            <a:r>
              <a:rPr lang="ko-KR" altLang="en-US" dirty="0"/>
              <a:t> 계속 반복한다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근데 이건 언제까지 반복하고 </a:t>
            </a:r>
            <a:r>
              <a:rPr lang="ko-KR" altLang="en-US" dirty="0" err="1"/>
              <a:t>어떤방향성을</a:t>
            </a:r>
            <a:r>
              <a:rPr lang="ko-KR" altLang="en-US" dirty="0"/>
              <a:t> 가지고 그 다음 가중치와 편향을 조절해</a:t>
            </a:r>
            <a:r>
              <a:rPr lang="en-US" altLang="ko-KR" dirty="0"/>
              <a:t>? 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정답이 </a:t>
            </a:r>
            <a:r>
              <a:rPr lang="ko-KR" altLang="en-US" dirty="0" err="1"/>
              <a:t>없잖아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dirty="0"/>
              <a:t>최종적인 마지막 </a:t>
            </a:r>
            <a:r>
              <a:rPr lang="ko-KR" altLang="en-US" dirty="0" err="1"/>
              <a:t>한층만</a:t>
            </a:r>
            <a:r>
              <a:rPr lang="ko-KR" altLang="en-US" dirty="0"/>
              <a:t> 정답이 있는데 그전까지 데이터를 분리 </a:t>
            </a:r>
            <a:r>
              <a:rPr lang="ko-KR" altLang="en-US" dirty="0" err="1"/>
              <a:t>어떻게해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- </a:t>
            </a:r>
            <a:r>
              <a:rPr lang="ko-KR" altLang="en-US" dirty="0"/>
              <a:t>이번 예시에서 직선 </a:t>
            </a:r>
            <a:r>
              <a:rPr lang="en-US" altLang="ko-KR" dirty="0"/>
              <a:t>a</a:t>
            </a:r>
            <a:r>
              <a:rPr lang="ko-KR" altLang="en-US" dirty="0"/>
              <a:t>랑 직선 </a:t>
            </a:r>
            <a:r>
              <a:rPr lang="en-US" altLang="ko-KR" dirty="0"/>
              <a:t>b</a:t>
            </a:r>
            <a:r>
              <a:rPr lang="ko-KR" altLang="en-US" dirty="0"/>
              <a:t>를 어떻게 찾아</a:t>
            </a:r>
            <a:r>
              <a:rPr lang="en-US" altLang="ko-KR" dirty="0"/>
              <a:t>?</a:t>
            </a:r>
          </a:p>
          <a:p>
            <a:br>
              <a:rPr lang="ko-KR" altLang="en-US" dirty="0"/>
            </a:br>
            <a:r>
              <a:rPr lang="en-US" altLang="ko-KR" dirty="0"/>
              <a:t>=&gt; </a:t>
            </a:r>
            <a:r>
              <a:rPr lang="ko-KR" altLang="en-US" dirty="0" err="1"/>
              <a:t>히든</a:t>
            </a:r>
            <a:r>
              <a:rPr lang="ko-KR" altLang="en-US" dirty="0"/>
              <a:t> 레이어에는 정답이 없음</a:t>
            </a:r>
            <a:r>
              <a:rPr lang="en-US" altLang="ko-KR" dirty="0"/>
              <a:t>, </a:t>
            </a:r>
            <a:r>
              <a:rPr lang="ko-KR" altLang="en-US" dirty="0"/>
              <a:t>즉 중간지점에서는 정답이 없어서 </a:t>
            </a:r>
            <a:r>
              <a:rPr lang="ko-KR" altLang="en-US" dirty="0" err="1"/>
              <a:t>막무가네로</a:t>
            </a:r>
            <a:r>
              <a:rPr lang="ko-KR" altLang="en-US" dirty="0"/>
              <a:t> 전달함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하지만 최종 출력층에서는 이진분류가 가능하므로 여기서 나오는 오차를 가지고 다시 되돌아가서 가중치를 조정한다 </a:t>
            </a:r>
            <a:endParaRPr lang="en-US" altLang="ko-KR" dirty="0"/>
          </a:p>
          <a:p>
            <a:r>
              <a:rPr lang="en-US" altLang="ko-KR" dirty="0"/>
              <a:t>=&gt; </a:t>
            </a:r>
            <a:r>
              <a:rPr lang="ko-KR" altLang="en-US" dirty="0" err="1"/>
              <a:t>역전파라고함</a:t>
            </a:r>
            <a:r>
              <a:rPr lang="en-US" altLang="ko-KR" dirty="0"/>
              <a:t>.... </a:t>
            </a:r>
            <a:r>
              <a:rPr lang="ko-KR" altLang="en-US" dirty="0"/>
              <a:t>이름만 </a:t>
            </a:r>
            <a:r>
              <a:rPr lang="ko-KR" altLang="en-US" dirty="0" err="1"/>
              <a:t>들어봄</a:t>
            </a:r>
            <a:r>
              <a:rPr lang="en-US" altLang="ko-KR" dirty="0"/>
              <a:t>…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687604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7B00A-DFD2-C575-2E19-DBA214226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048F5FB-D7CB-5ABF-B4B5-3E1C787647F0}"/>
              </a:ext>
            </a:extLst>
          </p:cNvPr>
          <p:cNvSpPr txBox="1"/>
          <p:nvPr/>
        </p:nvSpPr>
        <p:spPr>
          <a:xfrm>
            <a:off x="4693187" y="2945031"/>
            <a:ext cx="296238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0" b="1" dirty="0">
                <a:solidFill>
                  <a:srgbClr val="00B0F0"/>
                </a:solidFill>
              </a:rPr>
              <a:t>질문시간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41F06F46-60CE-83FA-CF28-FEA08011EBBB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2366B451-EA3C-17B0-7056-A50D941F5A60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68253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DC0A5-DCF1-83C8-8A3E-B321087F3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C2BD60A-ADDD-E785-1460-57303ABA1573}"/>
              </a:ext>
            </a:extLst>
          </p:cNvPr>
          <p:cNvSpPr txBox="1"/>
          <p:nvPr/>
        </p:nvSpPr>
        <p:spPr>
          <a:xfrm>
            <a:off x="144378" y="272716"/>
            <a:ext cx="7369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</a:rPr>
              <a:t>Part 0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1CBF76-3A53-35D1-3BCD-72F9C789C7F0}"/>
              </a:ext>
            </a:extLst>
          </p:cNvPr>
          <p:cNvSpPr txBox="1"/>
          <p:nvPr/>
        </p:nvSpPr>
        <p:spPr>
          <a:xfrm>
            <a:off x="1163052" y="272716"/>
            <a:ext cx="19559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b="1" dirty="0">
                <a:solidFill>
                  <a:srgbClr val="00B0F0"/>
                </a:solidFill>
              </a:rPr>
              <a:t>추가 질문</a:t>
            </a:r>
            <a:r>
              <a:rPr lang="en-US" altLang="ko-KR" sz="2800" b="1" dirty="0">
                <a:solidFill>
                  <a:srgbClr val="00B0F0"/>
                </a:solidFill>
              </a:rPr>
              <a:t>1</a:t>
            </a:r>
            <a:endParaRPr lang="ko-KR" altLang="en-US" sz="28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4621C6DF-A951-C2FA-F80F-C89CCDAD552F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E72A9AE-F277-529E-6F91-36F42C55F625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4" name="그림 3" descr="그림, 스케치, 도표, 라인 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E68AC59-2428-93B3-1B13-20DD9F7EE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876" y="1117989"/>
            <a:ext cx="9158757" cy="5257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8962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6C416-FBB8-48B5-AEFC-E811B9D87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0A5538B-F6EC-1C58-C089-8EAE4F147EAD}"/>
              </a:ext>
            </a:extLst>
          </p:cNvPr>
          <p:cNvSpPr txBox="1"/>
          <p:nvPr/>
        </p:nvSpPr>
        <p:spPr>
          <a:xfrm>
            <a:off x="5472971" y="2923766"/>
            <a:ext cx="140281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0" b="1" dirty="0">
                <a:solidFill>
                  <a:srgbClr val="00B0F0"/>
                </a:solidFill>
              </a:rPr>
              <a:t>끝</a:t>
            </a:r>
            <a:r>
              <a:rPr lang="en-US" altLang="ko-KR" sz="5000" b="1" dirty="0">
                <a:solidFill>
                  <a:srgbClr val="00B0F0"/>
                </a:solidFill>
              </a:rPr>
              <a:t>!</a:t>
            </a:r>
            <a:endParaRPr lang="ko-KR" altLang="en-US" sz="5000" b="1" dirty="0">
              <a:solidFill>
                <a:srgbClr val="00B0F0"/>
              </a:solidFill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2C5F9B1F-D657-FFB2-916C-A7F2B02705E0}"/>
              </a:ext>
            </a:extLst>
          </p:cNvPr>
          <p:cNvCxnSpPr/>
          <p:nvPr/>
        </p:nvCxnSpPr>
        <p:spPr>
          <a:xfrm>
            <a:off x="144378" y="160422"/>
            <a:ext cx="12060000" cy="0"/>
          </a:xfrm>
          <a:prstGeom prst="line">
            <a:avLst/>
          </a:prstGeom>
          <a:ln w="5715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198CA780-CFC4-00A2-3938-2FCFE5340356}"/>
              </a:ext>
            </a:extLst>
          </p:cNvPr>
          <p:cNvCxnSpPr/>
          <p:nvPr/>
        </p:nvCxnSpPr>
        <p:spPr>
          <a:xfrm>
            <a:off x="64064" y="6697578"/>
            <a:ext cx="12060000" cy="0"/>
          </a:xfrm>
          <a:prstGeom prst="line">
            <a:avLst/>
          </a:prstGeom>
          <a:ln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8855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</TotalTime>
  <Words>434</Words>
  <Application>Microsoft Office PowerPoint</Application>
  <PresentationFormat>와이드스크린</PresentationFormat>
  <Paragraphs>77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맑은 고딕</vt:lpstr>
      <vt:lpstr>Arial</vt:lpstr>
      <vt:lpstr>Symbol</vt:lpstr>
      <vt:lpstr>Wingdings</vt:lpstr>
      <vt:lpstr>Office 테마</vt:lpstr>
      <vt:lpstr>MLP (다중 퍼셉트론)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양재우</dc:creator>
  <cp:lastModifiedBy>양재우</cp:lastModifiedBy>
  <cp:revision>33</cp:revision>
  <dcterms:created xsi:type="dcterms:W3CDTF">2026-01-29T12:22:12Z</dcterms:created>
  <dcterms:modified xsi:type="dcterms:W3CDTF">2026-01-30T00:43:45Z</dcterms:modified>
</cp:coreProperties>
</file>