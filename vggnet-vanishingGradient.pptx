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76" r:id="rId4"/>
    <p:sldId id="278" r:id="rId5"/>
    <p:sldId id="279" r:id="rId6"/>
    <p:sldId id="277" r:id="rId7"/>
    <p:sldId id="273" r:id="rId8"/>
    <p:sldId id="280" r:id="rId9"/>
    <p:sldId id="291" r:id="rId10"/>
    <p:sldId id="292" r:id="rId11"/>
    <p:sldId id="282" r:id="rId12"/>
    <p:sldId id="281" r:id="rId13"/>
    <p:sldId id="283" r:id="rId14"/>
    <p:sldId id="284" r:id="rId15"/>
    <p:sldId id="285" r:id="rId16"/>
    <p:sldId id="286" r:id="rId17"/>
    <p:sldId id="287" r:id="rId18"/>
    <p:sldId id="293" r:id="rId19"/>
    <p:sldId id="294" r:id="rId20"/>
    <p:sldId id="289" r:id="rId21"/>
    <p:sldId id="288" r:id="rId22"/>
    <p:sldId id="295" r:id="rId23"/>
    <p:sldId id="296" r:id="rId24"/>
    <p:sldId id="290" r:id="rId25"/>
    <p:sldId id="297" r:id="rId26"/>
    <p:sldId id="298" r:id="rId27"/>
    <p:sldId id="275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60" d="100"/>
          <a:sy n="60" d="100"/>
        </p:scale>
        <p:origin x="17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22:53:50.8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83 107 24575,'1'37'0,"-2"0"0,-2 0 0,-10 52 0,11-80 0,-4 16 0,6-25 0,0 0 0,0 0 0,0 0 0,0 0 0,-1 0 0,1-1 0,0 1 0,0 0 0,0 0 0,0 0 0,0 0 0,0 0 0,0 0 0,0 0 0,0 0 0,0 0 0,0 0 0,0 0 0,0 0 0,0 0 0,0 0 0,0 0 0,0 0 0,0 0 0,0 0 0,0 0 0,-1 0 0,1 0 0,0 0 0,0 0 0,0 0 0,0 0 0,0 0 0,0 0 0,0 0 0,0 0 0,0 0 0,0 0 0,0 0 0,0 0 0,0 0 0,0 0 0,0 0 0,0 0 0,0 0 0,0 0 0,0 0 0,-1 1 0,1-1 0,0 0 0,0 0 0,0 0 0,0 0 0,0 0 0,-1-16 0,-1-22 0,-9-46 0,-2-34 0,12 87 0,1 27 0,1 15 0,-2 73 0,3 84 0,-2-161 0,1-1 0,-1 0 0,1 1 0,0-1 0,0 0 0,1 0 0,0 0 0,0 0 0,4 7 0,-2-13 0,-1-8 0,0-10 0,-2-109 0,-2 84 0,1 255 0,-3-191 0,-3-28 0,-6-33 0,7-65 0,3 26 0,2 77 0,0 0 0,-1 0 0,1 1 0,0-1 0,0 0 0,-1 1 0,1-1 0,-1 0 0,0 1 0,1-1 0,-1 1 0,0-1 0,-2-2 0,-3 6 0,0 14 0,0 65 0,6-47 0,0-27 0,0-10 0,0-136 0,0 247 0,0-351-1365,0 219-5461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7945F9-AABC-9C65-E32E-7DC6F4DC49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111F617-8054-B418-FC0A-964ABF689A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421B83-EE31-A83C-B685-6EAEEBA3E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4E7DC4-B8AA-856D-5721-BDAA73DB2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CD27CC-3813-EE36-C7F8-914BFF439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2111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07138-FA98-2AB7-8629-10464DFF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A09BF1-9866-C7FB-8187-5984390AE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BD2D0B-3720-1367-6E4B-7BDED4E4D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F6C8A2-DCEB-E016-D6AE-F3B0B68EE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6390BA-4D7E-3122-1F7C-1B4CED483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3940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3E1EB0-5361-539B-1487-056C6CA7A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5BF9D0-37F3-CAFE-C020-53FA213F5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1B59A2-CBC0-7F9C-CA48-F53F6D660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3FD218-C794-DA8F-6ECF-21D625D29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0A8F59-A765-B2FA-FB87-D4799CAD5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19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CE2FDB-BFE8-D505-C08B-349088641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CED678-8B0C-DB88-F535-8C3D092E79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C9AE1F-3006-E35B-5B29-E656F1299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D2A83-8FFF-064B-42C5-C747E38ED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9DF2DC-23CE-033E-EB1E-F21159319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59BA7A6-8AAB-2208-7455-180F157DB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532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EA3F96-F88C-2D88-2135-0F3147DFC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343EBA4-24D4-11F2-13F5-7A6F2FA26C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49FD5AF-A2A8-43FE-E3DC-D57F057D37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3B11BF-9991-5F88-4B19-38B8C115AF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2601185-94AD-F148-0979-CE9D691B1A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6D847EE-D711-E30C-D9D4-EC4821CB6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75A5D1D-80D7-7E82-FC04-26AA80548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0F4C5FD-3854-F426-1038-4A54564B5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00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86F072-2AD8-CEFF-E084-3E3F69962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E694FF3-EDBA-FDC8-5A91-FB138A7CA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3F59B27-3B03-58D5-C82A-D07C16084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DF7513F-0ECA-24B6-86E6-480DC8961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2088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2E33E78-1119-2DD1-81CB-2116AC780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489B68D-3253-A4DC-D7D8-6F0479C6B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BCEAE9-51CC-451F-C7FC-7DF43359F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5693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59C0E2-99E5-9BD5-7DF6-5B3254246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FD1D88-67B0-38B1-72C3-AEEE81035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7D50B8-2AEC-054F-8AA0-9D9AFEF0A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B05D71-43D7-A80D-A519-6C3248A89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195C05-EA1A-235E-5FD3-1E6CD856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AEDF3E-7B0D-F53F-DEEA-161065FC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6307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346A15-C5B6-A114-2E29-472AD902A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B42CE56-0AC1-5501-F11D-922D2BAA78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8EAC10-74DA-1504-3BDE-5AF8A12266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67C23C-670F-2000-D053-4A2AC3B0B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D627DCF-96FF-724E-AACC-50257417E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F118B2-D390-D3C9-14D8-EB02F15E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8696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9EFC3-22DB-323D-3917-A068C9631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9DA345F-62F3-F7D5-ED06-FE769207A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F6EBFA-6C49-1AFF-63A2-A10252DC4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6C5061-598F-4A83-3874-968F81EC3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A2B8F5-7672-41C0-7BEE-59F64D3E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146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7ECB5A-475F-EFD8-F291-9EBB7270B4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8EF4E86-9A7C-B062-6CF2-41A0C002EA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B6D393-098F-34F5-8BDF-4401A7CFD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B88A78-B2E6-BE76-7F32-5E14E860F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05E81B-7276-0CAB-99FA-DE081090E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6913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C405E34-265E-29A0-791E-52F8F3EC2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9327B4-7F9D-7B88-CFF9-4BDFB0749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D0C84C-48DF-BB7F-6AE3-7C2A8558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E90772-3C17-48BD-9462-1080E2FAA39E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8F1F67-B553-9533-E74B-9D2431DC7C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1070C-3585-745F-2560-881E18F9E6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651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AFCED6-5F2E-3EA7-B2A2-B861E550B6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VGG-Net ,vanishing gradient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B2D9F64-AEBF-88D8-A196-96E0A00901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스터디</a:t>
            </a:r>
          </a:p>
        </p:txBody>
      </p:sp>
    </p:spTree>
    <p:extLst>
      <p:ext uri="{BB962C8B-B14F-4D97-AF65-F5344CB8AC3E}">
        <p14:creationId xmlns:p14="http://schemas.microsoft.com/office/powerpoint/2010/main" val="435726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9B307B8-22CC-6EDB-5FEE-2C593948E8C0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F0A9A2-B08F-C4CF-F622-D37CB0255281}"/>
              </a:ext>
            </a:extLst>
          </p:cNvPr>
          <p:cNvSpPr txBox="1"/>
          <p:nvPr/>
        </p:nvSpPr>
        <p:spPr>
          <a:xfrm>
            <a:off x="1163052" y="272716"/>
            <a:ext cx="25880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VGG-Net</a:t>
            </a:r>
            <a:r>
              <a:rPr lang="ko-KR" altLang="en-US" sz="2800" b="1" dirty="0">
                <a:solidFill>
                  <a:srgbClr val="00B0F0"/>
                </a:solidFill>
              </a:rPr>
              <a:t>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B77E5FD-4523-FC80-965A-FFF2DDED91D5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BC424E4-6EC8-93D9-3788-386EDA02B354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2BB282-F298-9117-6A94-3176D9387208}"/>
              </a:ext>
            </a:extLst>
          </p:cNvPr>
          <p:cNvSpPr txBox="1"/>
          <p:nvPr/>
        </p:nvSpPr>
        <p:spPr>
          <a:xfrm>
            <a:off x="9241277" y="2817546"/>
            <a:ext cx="22511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VGG-Net</a:t>
            </a:r>
          </a:p>
          <a:p>
            <a:r>
              <a:rPr lang="ko-KR" altLang="en-US" dirty="0"/>
              <a:t>필터 크기 고정</a:t>
            </a:r>
            <a:endParaRPr lang="en-US" altLang="ko-KR" dirty="0"/>
          </a:p>
          <a:p>
            <a:r>
              <a:rPr lang="ko-KR" altLang="en-US" dirty="0"/>
              <a:t>더 깊은 구조</a:t>
            </a:r>
            <a:endParaRPr lang="en-US" altLang="ko-KR" dirty="0"/>
          </a:p>
          <a:p>
            <a:r>
              <a:rPr lang="ko-KR" altLang="en-US" dirty="0"/>
              <a:t>작은 필터 사용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8BBF649-38DF-1E32-6B02-7D87263A4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375" y="1082753"/>
            <a:ext cx="7948972" cy="4669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94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4ED34-E5F0-ACF9-5930-5C141406E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8B1C88E-6154-F83B-23AD-24AB856136D4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807524-A20D-EAD2-AD8C-A878DFF29E17}"/>
              </a:ext>
            </a:extLst>
          </p:cNvPr>
          <p:cNvSpPr txBox="1"/>
          <p:nvPr/>
        </p:nvSpPr>
        <p:spPr>
          <a:xfrm>
            <a:off x="1163052" y="272716"/>
            <a:ext cx="25880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VGG-Net</a:t>
            </a:r>
            <a:r>
              <a:rPr lang="ko-KR" altLang="en-US" sz="2800" b="1" dirty="0">
                <a:solidFill>
                  <a:srgbClr val="00B0F0"/>
                </a:solidFill>
              </a:rPr>
              <a:t>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F464462-13B1-6E97-6D26-976C7F3AE987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60C90AE4-3815-66E4-1E09-B07453068853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8" name="그룹 7">
            <a:extLst>
              <a:ext uri="{FF2B5EF4-FFF2-40B4-BE49-F238E27FC236}">
                <a16:creationId xmlns:a16="http://schemas.microsoft.com/office/drawing/2014/main" id="{285A3A66-7BA3-D9FE-2F4F-C99622F4ECD2}"/>
              </a:ext>
            </a:extLst>
          </p:cNvPr>
          <p:cNvGrpSpPr/>
          <p:nvPr/>
        </p:nvGrpSpPr>
        <p:grpSpPr>
          <a:xfrm>
            <a:off x="1163051" y="795936"/>
            <a:ext cx="5465379" cy="5626565"/>
            <a:chOff x="2457060" y="795936"/>
            <a:chExt cx="5465379" cy="5626565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A867D04C-DCB1-F4CC-4A01-73C1B51DA3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57060" y="886347"/>
              <a:ext cx="5465379" cy="5536154"/>
            </a:xfrm>
            <a:prstGeom prst="rect">
              <a:avLst/>
            </a:prstGeom>
          </p:spPr>
        </p:pic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552B0E22-5082-F189-9A3A-7368C67563E6}"/>
                </a:ext>
              </a:extLst>
            </p:cNvPr>
            <p:cNvSpPr/>
            <p:nvPr/>
          </p:nvSpPr>
          <p:spPr>
            <a:xfrm>
              <a:off x="6001407" y="795936"/>
              <a:ext cx="1093075" cy="4753526"/>
            </a:xfrm>
            <a:prstGeom prst="roundRect">
              <a:avLst/>
            </a:prstGeom>
            <a:noFill/>
            <a:ln w="57150">
              <a:solidFill>
                <a:srgbClr val="FF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BDCD73B-7CB0-BFC0-9D58-F67D6DA39F7C}"/>
              </a:ext>
            </a:extLst>
          </p:cNvPr>
          <p:cNvGrpSpPr/>
          <p:nvPr/>
        </p:nvGrpSpPr>
        <p:grpSpPr>
          <a:xfrm>
            <a:off x="7248006" y="738588"/>
            <a:ext cx="4193628" cy="5821451"/>
            <a:chOff x="7641020" y="857444"/>
            <a:chExt cx="4193628" cy="582145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7FF3F7F-4CBC-6F9D-CA16-781FC8277B82}"/>
                </a:ext>
              </a:extLst>
            </p:cNvPr>
            <p:cNvSpPr txBox="1"/>
            <p:nvPr/>
          </p:nvSpPr>
          <p:spPr>
            <a:xfrm>
              <a:off x="7641021" y="857444"/>
              <a:ext cx="4193626" cy="369332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altLang="ko-KR" dirty="0"/>
                <a:t>Conv3-64: 3x3 64</a:t>
              </a:r>
              <a:r>
                <a:rPr lang="ko-KR" altLang="en-US" dirty="0"/>
                <a:t>개</a:t>
              </a:r>
              <a:r>
                <a:rPr lang="en-US" altLang="ko-KR" dirty="0"/>
                <a:t>, padding 1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98678AC-E0C3-4427-D62A-2DE1561FB2F9}"/>
                </a:ext>
              </a:extLst>
            </p:cNvPr>
            <p:cNvSpPr txBox="1"/>
            <p:nvPr/>
          </p:nvSpPr>
          <p:spPr>
            <a:xfrm>
              <a:off x="7641020" y="1228779"/>
              <a:ext cx="4193627" cy="646331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altLang="ko-KR" dirty="0"/>
                <a:t>3x3 </a:t>
              </a:r>
              <a:r>
                <a:rPr lang="ko-KR" altLang="en-US" dirty="0"/>
                <a:t>필터 </a:t>
              </a:r>
              <a:r>
                <a:rPr lang="en-US" altLang="ko-KR" dirty="0"/>
                <a:t>padding1</a:t>
              </a:r>
            </a:p>
            <a:p>
              <a:r>
                <a:rPr lang="en-US" altLang="ko-KR" dirty="0"/>
                <a:t>-&gt; </a:t>
              </a:r>
              <a:r>
                <a:rPr lang="ko-KR" altLang="en-US" dirty="0"/>
                <a:t>크기 그대로</a:t>
              </a:r>
              <a:endParaRPr lang="en-US" altLang="ko-KR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31D80BC-D7F1-A3BF-10C1-153AAE526103}"/>
                </a:ext>
              </a:extLst>
            </p:cNvPr>
            <p:cNvSpPr txBox="1"/>
            <p:nvPr/>
          </p:nvSpPr>
          <p:spPr>
            <a:xfrm>
              <a:off x="7641020" y="1877581"/>
              <a:ext cx="4193628" cy="4801314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altLang="ko-KR" dirty="0"/>
                <a:t>3x224x224 + con3-64 : </a:t>
              </a:r>
              <a:r>
                <a:rPr lang="en-US" altLang="ko-KR" b="1" dirty="0"/>
                <a:t>64</a:t>
              </a:r>
              <a:r>
                <a:rPr lang="en-US" altLang="ko-KR" dirty="0"/>
                <a:t>x3x(3x3)</a:t>
              </a:r>
            </a:p>
            <a:p>
              <a:r>
                <a:rPr lang="en-US" altLang="ko-KR" dirty="0"/>
                <a:t>=&gt;</a:t>
              </a:r>
            </a:p>
            <a:p>
              <a:r>
                <a:rPr lang="en-US" altLang="ko-KR" b="1" dirty="0"/>
                <a:t>64</a:t>
              </a:r>
              <a:r>
                <a:rPr lang="en-US" altLang="ko-KR" dirty="0"/>
                <a:t>x224x224 + con3-64 : </a:t>
              </a:r>
              <a:r>
                <a:rPr lang="en-US" altLang="ko-KR" b="1" dirty="0">
                  <a:solidFill>
                    <a:srgbClr val="FF0000"/>
                  </a:solidFill>
                </a:rPr>
                <a:t>64</a:t>
              </a:r>
              <a:r>
                <a:rPr lang="en-US" altLang="ko-KR" dirty="0"/>
                <a:t>x</a:t>
              </a:r>
              <a:r>
                <a:rPr lang="en-US" altLang="ko-KR" b="1" dirty="0"/>
                <a:t>64</a:t>
              </a:r>
              <a:r>
                <a:rPr lang="en-US" altLang="ko-KR" dirty="0"/>
                <a:t>x(3x3)</a:t>
              </a:r>
            </a:p>
            <a:p>
              <a:r>
                <a:rPr lang="en-US" altLang="ko-KR" dirty="0"/>
                <a:t>=&gt;</a:t>
              </a:r>
            </a:p>
            <a:p>
              <a:r>
                <a:rPr lang="en-US" altLang="ko-KR" b="1" dirty="0">
                  <a:solidFill>
                    <a:srgbClr val="FF0000"/>
                  </a:solidFill>
                </a:rPr>
                <a:t>64</a:t>
              </a:r>
              <a:r>
                <a:rPr lang="en-US" altLang="ko-KR" dirty="0"/>
                <a:t>x224x224 + max pool(2)</a:t>
              </a:r>
            </a:p>
            <a:p>
              <a:r>
                <a:rPr lang="en-US" altLang="ko-KR" dirty="0"/>
                <a:t>=&gt;</a:t>
              </a:r>
            </a:p>
            <a:p>
              <a:r>
                <a:rPr lang="en-US" altLang="ko-KR" b="1" dirty="0">
                  <a:solidFill>
                    <a:srgbClr val="FF0000"/>
                  </a:solidFill>
                </a:rPr>
                <a:t>64</a:t>
              </a:r>
              <a:r>
                <a:rPr lang="en-US" altLang="ko-KR" dirty="0"/>
                <a:t>x112x112 + con3-128: </a:t>
              </a:r>
              <a:r>
                <a:rPr lang="en-US" altLang="ko-KR" b="1" dirty="0">
                  <a:solidFill>
                    <a:srgbClr val="00B0F0"/>
                  </a:solidFill>
                </a:rPr>
                <a:t>128</a:t>
              </a:r>
              <a:r>
                <a:rPr lang="en-US" altLang="ko-KR" dirty="0"/>
                <a:t>x</a:t>
              </a:r>
              <a:r>
                <a:rPr lang="en-US" altLang="ko-KR" b="1" dirty="0">
                  <a:solidFill>
                    <a:srgbClr val="FF0000"/>
                  </a:solidFill>
                </a:rPr>
                <a:t>64</a:t>
              </a:r>
              <a:r>
                <a:rPr lang="en-US" altLang="ko-KR" dirty="0"/>
                <a:t>x(3x3)</a:t>
              </a:r>
            </a:p>
            <a:p>
              <a:r>
                <a:rPr lang="en-US" altLang="ko-KR" dirty="0"/>
                <a:t>=&gt;</a:t>
              </a:r>
            </a:p>
            <a:p>
              <a:r>
                <a:rPr lang="en-US" altLang="ko-KR" b="1" dirty="0">
                  <a:solidFill>
                    <a:srgbClr val="00B0F0"/>
                  </a:solidFill>
                </a:rPr>
                <a:t>128</a:t>
              </a:r>
              <a:r>
                <a:rPr lang="en-US" altLang="ko-KR" dirty="0"/>
                <a:t>x112x112 </a:t>
              </a:r>
            </a:p>
            <a:p>
              <a:r>
                <a:rPr lang="en-US" altLang="ko-KR" dirty="0"/>
                <a:t>….(pooling 4</a:t>
              </a:r>
              <a:r>
                <a:rPr lang="ko-KR" altLang="en-US" dirty="0"/>
                <a:t>개 지남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=&gt;</a:t>
              </a:r>
            </a:p>
            <a:p>
              <a:r>
                <a:rPr lang="en-US" altLang="ko-KR" dirty="0"/>
                <a:t>512x7x7 + Flatten</a:t>
              </a:r>
            </a:p>
            <a:p>
              <a:r>
                <a:rPr lang="en-US" altLang="ko-KR" dirty="0"/>
                <a:t>=&gt;</a:t>
              </a:r>
            </a:p>
            <a:p>
              <a:r>
                <a:rPr lang="en-US" altLang="ko-KR" dirty="0"/>
                <a:t>25088(=512x7x7) + FC-4096</a:t>
              </a:r>
            </a:p>
            <a:p>
              <a:r>
                <a:rPr lang="en-US" altLang="ko-KR" dirty="0"/>
                <a:t>=&gt;</a:t>
              </a:r>
            </a:p>
            <a:p>
              <a:r>
                <a:rPr lang="en-US" altLang="ko-KR" dirty="0"/>
                <a:t>4096</a:t>
              </a:r>
            </a:p>
            <a:p>
              <a:r>
                <a:rPr lang="en-US" altLang="ko-KR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514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241AC-7A82-275D-5A12-C7AD9ECF1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9D205E3-8CF6-D4D3-8824-90936331E5AB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721809-8AB4-1D4A-B076-F234A5ABE82A}"/>
              </a:ext>
            </a:extLst>
          </p:cNvPr>
          <p:cNvSpPr txBox="1"/>
          <p:nvPr/>
        </p:nvSpPr>
        <p:spPr>
          <a:xfrm>
            <a:off x="1163052" y="272716"/>
            <a:ext cx="25880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VGG-Net</a:t>
            </a:r>
            <a:r>
              <a:rPr lang="ko-KR" altLang="en-US" sz="2800" b="1" dirty="0">
                <a:solidFill>
                  <a:srgbClr val="00B0F0"/>
                </a:solidFill>
              </a:rPr>
              <a:t>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0DDB1EB-CBF8-2E91-E250-94B3378426D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5610E86-D4F5-F726-6970-D19D971667DC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AC97B43-4C78-A117-B361-6D291FC35119}"/>
              </a:ext>
            </a:extLst>
          </p:cNvPr>
          <p:cNvSpPr txBox="1"/>
          <p:nvPr/>
        </p:nvSpPr>
        <p:spPr>
          <a:xfrm>
            <a:off x="1019195" y="908229"/>
            <a:ext cx="9614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224x224</a:t>
            </a:r>
            <a:r>
              <a:rPr lang="ko-KR" altLang="en-US" sz="2400" dirty="0"/>
              <a:t>인데 </a:t>
            </a:r>
            <a:r>
              <a:rPr lang="en-US" altLang="ko-KR" sz="2400" dirty="0"/>
              <a:t>3x3 </a:t>
            </a:r>
            <a:r>
              <a:rPr lang="ko-KR" altLang="en-US" sz="2400" dirty="0"/>
              <a:t>너무 작지 않나</a:t>
            </a:r>
            <a:r>
              <a:rPr lang="en-US" altLang="ko-KR" sz="2400" dirty="0"/>
              <a:t>? =&gt; </a:t>
            </a:r>
            <a:r>
              <a:rPr lang="ko-KR" altLang="en-US" sz="2400" b="1" dirty="0"/>
              <a:t>수용영역 </a:t>
            </a:r>
            <a:r>
              <a:rPr lang="en-US" altLang="ko-KR" sz="2400" b="1" dirty="0"/>
              <a:t>(Receptive Field)</a:t>
            </a:r>
            <a:endParaRPr lang="ko-KR" altLang="en-US" sz="24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4E6961B-55D3-D574-DD6E-F85C3994C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052" y="1369894"/>
            <a:ext cx="9078592" cy="41725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A72076-F960-26A0-BD78-9E3CF6BBBDA3}"/>
              </a:ext>
            </a:extLst>
          </p:cNvPr>
          <p:cNvSpPr txBox="1"/>
          <p:nvPr/>
        </p:nvSpPr>
        <p:spPr>
          <a:xfrm>
            <a:off x="1019195" y="5708121"/>
            <a:ext cx="96141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1x1</a:t>
            </a:r>
            <a:r>
              <a:rPr lang="en-US" altLang="ko-KR" sz="2400" dirty="0"/>
              <a:t> -&gt; conv3 =&gt; </a:t>
            </a:r>
            <a:r>
              <a:rPr lang="en-US" altLang="ko-KR" sz="2400" b="1" dirty="0"/>
              <a:t>3x3</a:t>
            </a:r>
            <a:r>
              <a:rPr lang="en-US" altLang="ko-KR" sz="2400" dirty="0"/>
              <a:t> -&gt; conv3 =&gt; </a:t>
            </a:r>
            <a:r>
              <a:rPr lang="en-US" altLang="ko-KR" sz="2400" b="1" dirty="0"/>
              <a:t>5x5</a:t>
            </a:r>
            <a:r>
              <a:rPr lang="en-US" altLang="ko-KR" sz="2400" dirty="0"/>
              <a:t> -&gt; conv3 =&gt; </a:t>
            </a:r>
            <a:r>
              <a:rPr lang="en-US" altLang="ko-KR" sz="2400" b="1" dirty="0"/>
              <a:t>7x7 …</a:t>
            </a:r>
          </a:p>
          <a:p>
            <a:r>
              <a:rPr lang="en-US" altLang="ko-KR" sz="2400" b="1" dirty="0"/>
              <a:t>*</a:t>
            </a:r>
            <a:r>
              <a:rPr lang="ko-KR" altLang="en-US" sz="2400" b="1" dirty="0"/>
              <a:t>넓은 영역 처리 가능</a:t>
            </a:r>
          </a:p>
        </p:txBody>
      </p:sp>
    </p:spTree>
    <p:extLst>
      <p:ext uri="{BB962C8B-B14F-4D97-AF65-F5344CB8AC3E}">
        <p14:creationId xmlns:p14="http://schemas.microsoft.com/office/powerpoint/2010/main" val="1456955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F5C16-3C93-7DE7-E6AE-0ADE0342F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D4F62A0-2B27-D080-5AA8-3F61831830A7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2B569-EE97-C2C7-B351-EC5C82211BC3}"/>
              </a:ext>
            </a:extLst>
          </p:cNvPr>
          <p:cNvSpPr txBox="1"/>
          <p:nvPr/>
        </p:nvSpPr>
        <p:spPr>
          <a:xfrm>
            <a:off x="1163052" y="272716"/>
            <a:ext cx="25880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VGG-Net</a:t>
            </a:r>
            <a:r>
              <a:rPr lang="ko-KR" altLang="en-US" sz="2800" b="1" dirty="0">
                <a:solidFill>
                  <a:srgbClr val="00B0F0"/>
                </a:solidFill>
              </a:rPr>
              <a:t>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32373AD-4FF2-07F8-2248-A979480D9E07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73D3AE7-7712-BF63-3DE4-0FEFC10A419C}"/>
              </a:ext>
            </a:extLst>
          </p:cNvPr>
          <p:cNvCxnSpPr/>
          <p:nvPr/>
        </p:nvCxnSpPr>
        <p:spPr>
          <a:xfrm>
            <a:off x="102962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0FE9373A-7795-ECA1-06D3-CADDA9D3D7B4}"/>
              </a:ext>
            </a:extLst>
          </p:cNvPr>
          <p:cNvGrpSpPr/>
          <p:nvPr/>
        </p:nvGrpSpPr>
        <p:grpSpPr>
          <a:xfrm>
            <a:off x="5992658" y="3695502"/>
            <a:ext cx="4879750" cy="2551229"/>
            <a:chOff x="1766098" y="3672840"/>
            <a:chExt cx="4879750" cy="2551229"/>
          </a:xfrm>
        </p:grpSpPr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D32A3F9C-583C-31FF-4DE9-26FD64CD046B}"/>
                </a:ext>
              </a:extLst>
            </p:cNvPr>
            <p:cNvCxnSpPr/>
            <p:nvPr/>
          </p:nvCxnSpPr>
          <p:spPr>
            <a:xfrm>
              <a:off x="2629504" y="3738880"/>
              <a:ext cx="0" cy="221488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057590DC-7F12-8415-C50B-7DD20567A5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5344" y="5750560"/>
              <a:ext cx="368808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C673C15-1D38-4725-FB1F-BE051E33A10C}"/>
                </a:ext>
              </a:extLst>
            </p:cNvPr>
            <p:cNvSpPr/>
            <p:nvPr/>
          </p:nvSpPr>
          <p:spPr>
            <a:xfrm>
              <a:off x="3452464" y="5072608"/>
              <a:ext cx="1656079" cy="67795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0252C26-24D8-4485-9D03-B70C403532B2}"/>
                </a:ext>
              </a:extLst>
            </p:cNvPr>
            <p:cNvSpPr txBox="1"/>
            <p:nvPr/>
          </p:nvSpPr>
          <p:spPr>
            <a:xfrm>
              <a:off x="1766098" y="3672840"/>
              <a:ext cx="10261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집중도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ED2D75B-575D-2A4D-7B40-A79293126DAD}"/>
                </a:ext>
              </a:extLst>
            </p:cNvPr>
            <p:cNvSpPr txBox="1"/>
            <p:nvPr/>
          </p:nvSpPr>
          <p:spPr>
            <a:xfrm>
              <a:off x="5619688" y="5854737"/>
              <a:ext cx="10261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영역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80D36F-82B8-615A-116C-A63CD9B5AEA8}"/>
              </a:ext>
            </a:extLst>
          </p:cNvPr>
          <p:cNvGrpSpPr/>
          <p:nvPr/>
        </p:nvGrpSpPr>
        <p:grpSpPr>
          <a:xfrm>
            <a:off x="1034578" y="3666721"/>
            <a:ext cx="4879750" cy="2551229"/>
            <a:chOff x="1766098" y="3672840"/>
            <a:chExt cx="4879750" cy="2551229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7A83C18-9DA3-DA62-26F0-463E8A60CC04}"/>
                </a:ext>
              </a:extLst>
            </p:cNvPr>
            <p:cNvCxnSpPr/>
            <p:nvPr/>
          </p:nvCxnSpPr>
          <p:spPr>
            <a:xfrm>
              <a:off x="2629504" y="3738880"/>
              <a:ext cx="0" cy="221488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87A82677-49EE-9E38-BB2B-C7D9AE8741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5344" y="5750560"/>
              <a:ext cx="368808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6318C217-803A-198B-7B17-A94B655320C0}"/>
                </a:ext>
              </a:extLst>
            </p:cNvPr>
            <p:cNvSpPr/>
            <p:nvPr/>
          </p:nvSpPr>
          <p:spPr>
            <a:xfrm>
              <a:off x="3452464" y="5072608"/>
              <a:ext cx="1656079" cy="67795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B70CC4A-CF5E-ABA7-4AF3-F750B329D871}"/>
                </a:ext>
              </a:extLst>
            </p:cNvPr>
            <p:cNvSpPr txBox="1"/>
            <p:nvPr/>
          </p:nvSpPr>
          <p:spPr>
            <a:xfrm>
              <a:off x="1766098" y="3672840"/>
              <a:ext cx="10261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집중도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4415132-A97A-36F3-0F5E-4E9E19D26A5F}"/>
                </a:ext>
              </a:extLst>
            </p:cNvPr>
            <p:cNvSpPr txBox="1"/>
            <p:nvPr/>
          </p:nvSpPr>
          <p:spPr>
            <a:xfrm>
              <a:off x="5619688" y="5854737"/>
              <a:ext cx="10261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영역</a:t>
              </a:r>
            </a:p>
          </p:txBody>
        </p:sp>
      </p:grp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43E4C4D-02DC-6087-4232-847228A40622}"/>
              </a:ext>
            </a:extLst>
          </p:cNvPr>
          <p:cNvSpPr/>
          <p:nvPr/>
        </p:nvSpPr>
        <p:spPr>
          <a:xfrm>
            <a:off x="3183276" y="4393186"/>
            <a:ext cx="682606" cy="677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81FBC14D-B162-C25D-E3F5-A46611F01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236" y="988369"/>
            <a:ext cx="8326012" cy="246731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AD68229-CB9F-72C1-9099-7253701F0892}"/>
              </a:ext>
            </a:extLst>
          </p:cNvPr>
          <p:cNvSpPr txBox="1"/>
          <p:nvPr/>
        </p:nvSpPr>
        <p:spPr>
          <a:xfrm>
            <a:off x="1633824" y="6246731"/>
            <a:ext cx="7701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Q. </a:t>
            </a:r>
            <a:r>
              <a:rPr lang="ko-KR" altLang="en-US" dirty="0"/>
              <a:t>파라미터 절약돼서 좋다</a:t>
            </a:r>
            <a:r>
              <a:rPr lang="en-US" altLang="ko-KR" dirty="0"/>
              <a:t>… -&gt; </a:t>
            </a:r>
            <a:r>
              <a:rPr lang="ko-KR" altLang="en-US" dirty="0"/>
              <a:t>파라미터 많아야 </a:t>
            </a:r>
            <a:r>
              <a:rPr lang="ko-KR" altLang="en-US" dirty="0" err="1"/>
              <a:t>좋은거</a:t>
            </a:r>
            <a:r>
              <a:rPr lang="ko-KR" altLang="en-US" dirty="0"/>
              <a:t> 아닌가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3786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EC47D-94BE-43FF-7031-1FDE7BAAB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83B849F-D107-ED69-F6A4-4D505B4B6585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B7B368-BBEF-4A87-1AF4-44DEB0E840D9}"/>
              </a:ext>
            </a:extLst>
          </p:cNvPr>
          <p:cNvSpPr txBox="1"/>
          <p:nvPr/>
        </p:nvSpPr>
        <p:spPr>
          <a:xfrm>
            <a:off x="1163052" y="272716"/>
            <a:ext cx="25880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VGG-Net</a:t>
            </a:r>
            <a:r>
              <a:rPr lang="ko-KR" altLang="en-US" sz="2800" b="1" dirty="0">
                <a:solidFill>
                  <a:srgbClr val="00B0F0"/>
                </a:solidFill>
              </a:rPr>
              <a:t>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D31126D-5E7F-E721-3C04-C592E1A48149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91892B2-EA94-A400-4FF8-34FB4F9D5681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5" name="그룹 4">
            <a:extLst>
              <a:ext uri="{FF2B5EF4-FFF2-40B4-BE49-F238E27FC236}">
                <a16:creationId xmlns:a16="http://schemas.microsoft.com/office/drawing/2014/main" id="{D4249A7D-8419-1AD3-6930-00D2719915AD}"/>
              </a:ext>
            </a:extLst>
          </p:cNvPr>
          <p:cNvGrpSpPr/>
          <p:nvPr/>
        </p:nvGrpSpPr>
        <p:grpSpPr>
          <a:xfrm>
            <a:off x="1297281" y="862799"/>
            <a:ext cx="5465379" cy="5585808"/>
            <a:chOff x="462455" y="611269"/>
            <a:chExt cx="5465379" cy="5585808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083C83D4-A016-9825-C1F6-FEA571B33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2455" y="611269"/>
              <a:ext cx="5465379" cy="5536154"/>
            </a:xfrm>
            <a:prstGeom prst="rect">
              <a:avLst/>
            </a:prstGeom>
          </p:spPr>
        </p:pic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6ED2AE6E-A4CA-B59A-60E0-ED1952D6F352}"/>
                </a:ext>
              </a:extLst>
            </p:cNvPr>
            <p:cNvSpPr/>
            <p:nvPr/>
          </p:nvSpPr>
          <p:spPr>
            <a:xfrm>
              <a:off x="2656758" y="4907864"/>
              <a:ext cx="1093075" cy="1289213"/>
            </a:xfrm>
            <a:prstGeom prst="roundRect">
              <a:avLst/>
            </a:prstGeom>
            <a:noFill/>
            <a:ln w="57150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DED5341-29B4-FB90-2F9A-9A491CA8B53B}"/>
              </a:ext>
            </a:extLst>
          </p:cNvPr>
          <p:cNvSpPr txBox="1"/>
          <p:nvPr/>
        </p:nvSpPr>
        <p:spPr>
          <a:xfrm>
            <a:off x="6142550" y="2223998"/>
            <a:ext cx="33002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b="1" dirty="0">
                <a:solidFill>
                  <a:srgbClr val="FF0000"/>
                </a:solidFill>
              </a:rPr>
              <a:t>20%</a:t>
            </a:r>
            <a:endParaRPr lang="ko-KR" altLang="en-US" sz="60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0D85C6-0ECB-F5B6-9F4E-3483450B3E96}"/>
              </a:ext>
            </a:extLst>
          </p:cNvPr>
          <p:cNvSpPr txBox="1"/>
          <p:nvPr/>
        </p:nvSpPr>
        <p:spPr>
          <a:xfrm>
            <a:off x="4831653" y="5590862"/>
            <a:ext cx="33002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b="1" dirty="0">
                <a:solidFill>
                  <a:srgbClr val="FF0000"/>
                </a:solidFill>
              </a:rPr>
              <a:t>80%</a:t>
            </a:r>
            <a:endParaRPr lang="ko-KR" altLang="en-US" sz="6000" b="1" dirty="0">
              <a:solidFill>
                <a:srgbClr val="FF0000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2F7DD50D-A22E-A2A1-915E-5D5A9BC29CF2}"/>
              </a:ext>
            </a:extLst>
          </p:cNvPr>
          <p:cNvSpPr/>
          <p:nvPr/>
        </p:nvSpPr>
        <p:spPr>
          <a:xfrm>
            <a:off x="4831653" y="795936"/>
            <a:ext cx="1093075" cy="4637007"/>
          </a:xfrm>
          <a:prstGeom prst="roundRect">
            <a:avLst/>
          </a:prstGeom>
          <a:noFill/>
          <a:ln w="57150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080176-32DE-19AD-4BCE-594C93B94C2E}"/>
              </a:ext>
            </a:extLst>
          </p:cNvPr>
          <p:cNvSpPr txBox="1"/>
          <p:nvPr/>
        </p:nvSpPr>
        <p:spPr>
          <a:xfrm>
            <a:off x="8162030" y="4752540"/>
            <a:ext cx="3519471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MLP </a:t>
            </a:r>
            <a:r>
              <a:rPr lang="ko-KR" altLang="en-US" sz="2400" b="1" dirty="0"/>
              <a:t>지나치게 의존적임</a:t>
            </a:r>
            <a:endParaRPr lang="en-US" altLang="ko-KR" sz="2400" b="1" dirty="0"/>
          </a:p>
          <a:p>
            <a:endParaRPr lang="en-US" altLang="ko-KR" sz="2400" b="1" dirty="0"/>
          </a:p>
          <a:p>
            <a:r>
              <a:rPr lang="en-US" altLang="ko-KR" sz="2000" dirty="0"/>
              <a:t>GAP -&gt; Inception -&gt; </a:t>
            </a:r>
            <a:r>
              <a:rPr lang="en-US" altLang="ko-KR" sz="2000" dirty="0" err="1"/>
              <a:t>ResNet</a:t>
            </a:r>
            <a:endParaRPr lang="ko-KR" altLang="en-US" sz="2000" b="1" dirty="0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7650CEF7-B1E3-3BA1-6A10-A2D636CBC543}"/>
              </a:ext>
            </a:extLst>
          </p:cNvPr>
          <p:cNvSpPr/>
          <p:nvPr/>
        </p:nvSpPr>
        <p:spPr>
          <a:xfrm>
            <a:off x="7213325" y="4842075"/>
            <a:ext cx="629920" cy="2825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23114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7B00A-DFD2-C575-2E19-DBA214226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048F5FB-D7CB-5ABF-B4B5-3E1C787647F0}"/>
              </a:ext>
            </a:extLst>
          </p:cNvPr>
          <p:cNvSpPr txBox="1"/>
          <p:nvPr/>
        </p:nvSpPr>
        <p:spPr>
          <a:xfrm>
            <a:off x="2743625" y="2998113"/>
            <a:ext cx="670087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rgbClr val="00B0F0"/>
                </a:solidFill>
              </a:rPr>
              <a:t>Vanishing Gradient</a:t>
            </a:r>
            <a:endParaRPr lang="ko-KR" altLang="en-US" sz="50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41F06F46-60CE-83FA-CF28-FEA08011EBBB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366B451-EA3C-17B0-7056-A50D941F5A60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6825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9B3EE-A0C7-6D55-21B4-6BD5412FB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0BDED3A-FC6D-3650-8EB1-2690F6ADE4BF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720A53-F724-814D-A10B-4E9CB388B035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AA87BF0-57BB-35C6-09DB-FF04B2CE5821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C75082-D7BA-CD3A-1576-425A88AD1116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9FA2A9D-0118-5C7E-4740-CA68954BCE12}"/>
              </a:ext>
            </a:extLst>
          </p:cNvPr>
          <p:cNvSpPr txBox="1"/>
          <p:nvPr/>
        </p:nvSpPr>
        <p:spPr>
          <a:xfrm>
            <a:off x="7062280" y="2551837"/>
            <a:ext cx="48249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기울기소실</a:t>
            </a:r>
            <a:r>
              <a:rPr lang="en-US" altLang="ko-KR" b="1" dirty="0"/>
              <a:t>(Vanishing Gradient)</a:t>
            </a:r>
            <a:r>
              <a:rPr lang="ko-KR" altLang="en-US" b="1" dirty="0"/>
              <a:t>이란</a:t>
            </a:r>
            <a:r>
              <a:rPr lang="en-US" altLang="ko-KR" b="1" dirty="0"/>
              <a:t> </a:t>
            </a:r>
          </a:p>
          <a:p>
            <a:endParaRPr lang="en-US" altLang="ko-KR" dirty="0"/>
          </a:p>
          <a:p>
            <a:r>
              <a:rPr lang="ko-KR" altLang="en-US" dirty="0"/>
              <a:t>인공신경망에서 </a:t>
            </a:r>
            <a:r>
              <a:rPr lang="ko-KR" altLang="en-US" dirty="0" err="1"/>
              <a:t>역전파</a:t>
            </a:r>
            <a:r>
              <a:rPr lang="ko-KR" altLang="en-US" dirty="0"/>
              <a:t> 과정 중</a:t>
            </a:r>
            <a:r>
              <a:rPr lang="ko-KR" altLang="en-US" b="1" dirty="0"/>
              <a:t> </a:t>
            </a:r>
            <a:endParaRPr lang="en-US" altLang="ko-KR" b="1" dirty="0"/>
          </a:p>
          <a:p>
            <a:r>
              <a:rPr lang="ko-KR" altLang="en-US" b="1" dirty="0"/>
              <a:t>층이 깊어질수록</a:t>
            </a:r>
            <a:r>
              <a:rPr lang="ko-KR" altLang="en-US" dirty="0"/>
              <a:t> 기울기 값이 점점 작아져 </a:t>
            </a:r>
            <a:endParaRPr lang="en-US" altLang="ko-KR" dirty="0"/>
          </a:p>
          <a:p>
            <a:r>
              <a:rPr lang="ko-KR" altLang="en-US" dirty="0"/>
              <a:t>앞쪽 층의 </a:t>
            </a:r>
            <a:r>
              <a:rPr lang="ko-KR" altLang="en-US" b="1" dirty="0"/>
              <a:t>가중치가 거의 업데이트되지 </a:t>
            </a:r>
            <a:endParaRPr lang="en-US" altLang="ko-KR" b="1" dirty="0"/>
          </a:p>
          <a:p>
            <a:r>
              <a:rPr lang="ko-KR" altLang="en-US" b="1" dirty="0"/>
              <a:t>않는 현상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BBA6486-5CE8-17D7-DDB1-107CCCC51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105" y="1500491"/>
            <a:ext cx="6257925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72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50094-E40B-DE87-9BE9-FEF701DB2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3995E34-7947-F598-766F-01F5D669D98B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FFA8AE-AD4B-8C88-C6B1-34009B766265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71A18BCE-B846-EFEC-89A4-69DB913FE83F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246B036-6568-13A2-87BE-78AF907B1F28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8B83A81-5736-9BDF-45E1-5340FCAA0595}"/>
              </a:ext>
            </a:extLst>
          </p:cNvPr>
          <p:cNvSpPr txBox="1"/>
          <p:nvPr/>
        </p:nvSpPr>
        <p:spPr>
          <a:xfrm>
            <a:off x="2553780" y="2187914"/>
            <a:ext cx="48249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2400" dirty="0" err="1"/>
              <a:t>ReLU</a:t>
            </a:r>
            <a:r>
              <a:rPr lang="ko-KR" altLang="en-US" sz="2400" dirty="0"/>
              <a:t>로 바꾸기</a:t>
            </a:r>
            <a:endParaRPr lang="en-US" altLang="ko-KR" sz="2400" dirty="0"/>
          </a:p>
          <a:p>
            <a:pPr marL="342900" indent="-342900">
              <a:buAutoNum type="arabicPeriod"/>
            </a:pPr>
            <a:r>
              <a:rPr lang="en-US" altLang="ko-KR" sz="2400" dirty="0"/>
              <a:t>Batch Normalization </a:t>
            </a:r>
            <a:r>
              <a:rPr lang="ko-KR" altLang="en-US" sz="2400" dirty="0"/>
              <a:t>사용</a:t>
            </a:r>
            <a:endParaRPr lang="en-US" altLang="ko-KR" sz="2400" dirty="0"/>
          </a:p>
          <a:p>
            <a:pPr marL="342900" indent="-342900">
              <a:buAutoNum type="arabicPeriod"/>
            </a:pPr>
            <a:r>
              <a:rPr lang="en-US" altLang="ko-KR" sz="2400" dirty="0"/>
              <a:t>Layer Normalization </a:t>
            </a:r>
            <a:r>
              <a:rPr lang="ko-KR" altLang="en-US" sz="2400" dirty="0"/>
              <a:t>사용</a:t>
            </a:r>
            <a:endParaRPr lang="en-US" altLang="ko-KR" sz="2400" dirty="0"/>
          </a:p>
          <a:p>
            <a:pPr marL="342900" indent="-342900">
              <a:buAutoNum type="arabicPeriod"/>
            </a:pPr>
            <a:r>
              <a:rPr lang="en-US" altLang="ko-KR" sz="2400" dirty="0"/>
              <a:t>Weight Initialization</a:t>
            </a:r>
            <a:endParaRPr lang="ko-KR" altLang="en-US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D401741-3020-1EB4-855F-582085EA0942}"/>
              </a:ext>
            </a:extLst>
          </p:cNvPr>
          <p:cNvSpPr txBox="1"/>
          <p:nvPr/>
        </p:nvSpPr>
        <p:spPr>
          <a:xfrm>
            <a:off x="2656409" y="1264584"/>
            <a:ext cx="4824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/>
              <a:t>해결법</a:t>
            </a:r>
          </a:p>
        </p:txBody>
      </p:sp>
    </p:spTree>
    <p:extLst>
      <p:ext uri="{BB962C8B-B14F-4D97-AF65-F5344CB8AC3E}">
        <p14:creationId xmlns:p14="http://schemas.microsoft.com/office/powerpoint/2010/main" val="2297369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0E48F-B36A-008E-F7FE-F8D65159F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EBD13A8-072C-F28B-D09A-67C5ECE6759D}"/>
              </a:ext>
            </a:extLst>
          </p:cNvPr>
          <p:cNvSpPr txBox="1"/>
          <p:nvPr/>
        </p:nvSpPr>
        <p:spPr>
          <a:xfrm>
            <a:off x="2743625" y="2998113"/>
            <a:ext cx="670087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 err="1">
                <a:solidFill>
                  <a:srgbClr val="00B0F0"/>
                </a:solidFill>
              </a:rPr>
              <a:t>ReLU</a:t>
            </a:r>
            <a:endParaRPr lang="ko-KR" altLang="en-US" sz="50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1E37C43-B0F7-DAB1-C017-109DE6C57102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9627266-CE03-B2D2-5C15-08B943C9133D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837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5635E-D6CC-CB8D-3839-B7387B296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D9F7BB0-6D5E-F9A7-7FCE-10C0CCA27575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014EDF-433C-0F4F-4584-99139C0E6FB2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F5FF9E14-EBC5-6500-9F65-60089E4307FB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A827A26-7EEB-55B4-26B2-481956F2AF89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45F0BCBA-A130-343E-81DC-8B95BAA56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375" y="868746"/>
            <a:ext cx="7345838" cy="537798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1C6822-EB95-AABF-5B48-B7DCE5A7A618}"/>
              </a:ext>
            </a:extLst>
          </p:cNvPr>
          <p:cNvSpPr txBox="1"/>
          <p:nvPr/>
        </p:nvSpPr>
        <p:spPr>
          <a:xfrm>
            <a:off x="8949447" y="3013501"/>
            <a:ext cx="23611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깊어질수록</a:t>
            </a:r>
            <a:endParaRPr lang="en-US" altLang="ko-KR" sz="2400" dirty="0"/>
          </a:p>
          <a:p>
            <a:r>
              <a:rPr lang="ko-KR" altLang="en-US" sz="2400" dirty="0"/>
              <a:t>액</a:t>
            </a:r>
            <a:r>
              <a:rPr lang="en-US" altLang="ko-KR" sz="2400" dirty="0"/>
              <a:t>-</a:t>
            </a:r>
            <a:r>
              <a:rPr lang="ko-KR" altLang="en-US" sz="2400" dirty="0"/>
              <a:t>미가 늘어남</a:t>
            </a:r>
            <a:r>
              <a:rPr lang="en-US" altLang="ko-KR" sz="2400" dirty="0"/>
              <a:t>!</a:t>
            </a:r>
            <a:endParaRPr lang="ko-KR" altLang="en-US" sz="24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잉크 3">
                <a:extLst>
                  <a:ext uri="{FF2B5EF4-FFF2-40B4-BE49-F238E27FC236}">
                    <a16:creationId xmlns:a16="http://schemas.microsoft.com/office/drawing/2014/main" id="{C2CEBD83-237D-715E-6C32-79050B4AF88C}"/>
                  </a:ext>
                </a:extLst>
              </p14:cNvPr>
              <p14:cNvContentPartPr/>
              <p14:nvPr/>
            </p14:nvContentPartPr>
            <p14:xfrm>
              <a:off x="7615884" y="2325133"/>
              <a:ext cx="30240" cy="151200"/>
            </p14:xfrm>
          </p:contentPart>
        </mc:Choice>
        <mc:Fallback>
          <p:pic>
            <p:nvPicPr>
              <p:cNvPr id="4" name="잉크 3">
                <a:extLst>
                  <a:ext uri="{FF2B5EF4-FFF2-40B4-BE49-F238E27FC236}">
                    <a16:creationId xmlns:a16="http://schemas.microsoft.com/office/drawing/2014/main" id="{C2CEBD83-237D-715E-6C32-79050B4AF88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09764" y="2319013"/>
                <a:ext cx="42480" cy="163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81110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3A9EB-899B-B894-51AA-B741FF9A5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52C8B9-839B-FE1A-549C-277661A32ECD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9A10D7-E9E0-2EB7-6674-D57B223939E3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465FB74-2290-FF14-0408-C4814FEBB573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13A027-0B43-60A4-881E-F157E8A1C090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9D830F7C-B418-4BE4-CFB9-ABFB1EEF3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936" y="1806263"/>
            <a:ext cx="12192000" cy="4672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56BB31-36A1-3E85-B994-80A1FC3147D3}"/>
              </a:ext>
            </a:extLst>
          </p:cNvPr>
          <p:cNvSpPr txBox="1"/>
          <p:nvPr/>
        </p:nvSpPr>
        <p:spPr>
          <a:xfrm>
            <a:off x="2908570" y="933855"/>
            <a:ext cx="54280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시그모이드</a:t>
            </a:r>
            <a:r>
              <a:rPr lang="ko-KR" altLang="en-US" dirty="0"/>
              <a:t> 함수 액</a:t>
            </a:r>
            <a:r>
              <a:rPr lang="en-US" altLang="ko-KR" dirty="0"/>
              <a:t>-</a:t>
            </a:r>
            <a:r>
              <a:rPr lang="ko-KR" altLang="en-US" dirty="0"/>
              <a:t>미 최댓값 </a:t>
            </a:r>
            <a:r>
              <a:rPr lang="en-US" altLang="ko-KR" dirty="0"/>
              <a:t>0.25</a:t>
            </a:r>
          </a:p>
          <a:p>
            <a:r>
              <a:rPr lang="ko-KR" altLang="en-US" dirty="0"/>
              <a:t>층이 깊어질수록 최대 </a:t>
            </a:r>
            <a:r>
              <a:rPr lang="en-US" altLang="ko-KR" dirty="0"/>
              <a:t>0.25</a:t>
            </a:r>
            <a:r>
              <a:rPr lang="ko-KR" altLang="en-US" dirty="0"/>
              <a:t>씩 곱하기</a:t>
            </a:r>
          </a:p>
        </p:txBody>
      </p:sp>
    </p:spTree>
    <p:extLst>
      <p:ext uri="{BB962C8B-B14F-4D97-AF65-F5344CB8AC3E}">
        <p14:creationId xmlns:p14="http://schemas.microsoft.com/office/powerpoint/2010/main" val="31067439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53AF6-34AC-18CA-1B53-A187C1300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C06EB6A-78D3-013F-2E04-EBBBDB9C2953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2BAEE9-DA39-1EC7-A8E7-B12F3B53D91B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50640E4-08B3-F786-95B7-471024BEF518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EDC01AF-C3F2-D3BA-A66F-E80A2ED29F5C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F79992C-CBE9-BAE0-FF1C-8FA93FBC2E14}"/>
              </a:ext>
            </a:extLst>
          </p:cNvPr>
          <p:cNvSpPr txBox="1"/>
          <p:nvPr/>
        </p:nvSpPr>
        <p:spPr>
          <a:xfrm>
            <a:off x="2898843" y="933855"/>
            <a:ext cx="54280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하이퍼볼릭</a:t>
            </a:r>
            <a:r>
              <a:rPr lang="ko-KR" altLang="en-US" dirty="0"/>
              <a:t> 탄젠트</a:t>
            </a:r>
            <a:r>
              <a:rPr lang="en-US" altLang="ko-KR" dirty="0"/>
              <a:t>(tanh)</a:t>
            </a:r>
            <a:r>
              <a:rPr lang="ko-KR" altLang="en-US" dirty="0"/>
              <a:t> 함수 액</a:t>
            </a:r>
            <a:r>
              <a:rPr lang="en-US" altLang="ko-KR" dirty="0"/>
              <a:t>-</a:t>
            </a:r>
            <a:r>
              <a:rPr lang="ko-KR" altLang="en-US" dirty="0"/>
              <a:t>미 최대값 </a:t>
            </a:r>
            <a:r>
              <a:rPr lang="en-US" altLang="ko-KR" dirty="0"/>
              <a:t>1</a:t>
            </a:r>
          </a:p>
          <a:p>
            <a:r>
              <a:rPr lang="ko-KR" altLang="en-US" dirty="0" err="1"/>
              <a:t>시그모이드보다는</a:t>
            </a:r>
            <a:r>
              <a:rPr lang="ko-KR" altLang="en-US" dirty="0"/>
              <a:t> 크기만 여전히 </a:t>
            </a:r>
            <a:r>
              <a:rPr lang="ko-KR" altLang="en-US" dirty="0" err="1"/>
              <a:t>작아짐</a:t>
            </a:r>
            <a:endParaRPr lang="ko-KR" altLang="en-US" dirty="0"/>
          </a:p>
        </p:txBody>
      </p:sp>
      <p:pic>
        <p:nvPicPr>
          <p:cNvPr id="1028" name="Picture 4" descr="딥러닝 활성화 함수, Activation Function | helpingstar">
            <a:extLst>
              <a:ext uri="{FF2B5EF4-FFF2-40B4-BE49-F238E27FC236}">
                <a16:creationId xmlns:a16="http://schemas.microsoft.com/office/drawing/2014/main" id="{388C54BF-8E41-19CA-9E5F-4087C7827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4380" y="1798018"/>
            <a:ext cx="8137288" cy="4681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4202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2D3D5-E704-F86D-3163-D5B628F23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6930303-82B9-3718-99B0-829D964EE71A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1F4490-DC42-5BCF-45A8-9F048646652A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E124977-6889-08F0-67EC-D57AFC8A18A6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E8B0291-0542-E733-ACDF-17E3108CA130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1E7A780-23D3-FB31-EE02-9B86F89CDBAB}"/>
              </a:ext>
            </a:extLst>
          </p:cNvPr>
          <p:cNvSpPr txBox="1"/>
          <p:nvPr/>
        </p:nvSpPr>
        <p:spPr>
          <a:xfrm>
            <a:off x="2937752" y="999688"/>
            <a:ext cx="64980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ReLU</a:t>
            </a:r>
            <a:r>
              <a:rPr lang="ko-KR" altLang="en-US" dirty="0"/>
              <a:t> 함수 등장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0</a:t>
            </a:r>
            <a:r>
              <a:rPr lang="ko-KR" altLang="en-US" dirty="0"/>
              <a:t>이하 값은 제외된다는 상남자식 운영</a:t>
            </a:r>
            <a:r>
              <a:rPr lang="en-US" altLang="ko-KR" dirty="0"/>
              <a:t>, </a:t>
            </a:r>
            <a:r>
              <a:rPr lang="ko-KR" altLang="en-US" dirty="0"/>
              <a:t>여전한 리스크 존재</a:t>
            </a:r>
          </a:p>
        </p:txBody>
      </p:sp>
      <p:pic>
        <p:nvPicPr>
          <p:cNvPr id="2050" name="Picture 2" descr="딥러닝] 기울기 소실(Vanishing Gradient)의 의미와 해결방법">
            <a:extLst>
              <a:ext uri="{FF2B5EF4-FFF2-40B4-BE49-F238E27FC236}">
                <a16:creationId xmlns:a16="http://schemas.microsoft.com/office/drawing/2014/main" id="{68267B9B-2759-115A-B5C8-73DD18C1BF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78" y="1849771"/>
            <a:ext cx="12192000" cy="4735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33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BF3C5-C36C-1407-7E09-F144DDB4E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E4AF74C-34D2-45A6-6814-C8287F9087DB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CD8576-DF80-44E6-BD14-F98CFDA3F331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5FEB1A-E25D-0ED6-6579-DF936C35F164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62C9940-5D51-8830-15BF-82E3B30E759A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E1131FD-40A9-35CC-5017-29D27934CF96}"/>
              </a:ext>
            </a:extLst>
          </p:cNvPr>
          <p:cNvSpPr txBox="1"/>
          <p:nvPr/>
        </p:nvSpPr>
        <p:spPr>
          <a:xfrm>
            <a:off x="1838212" y="908229"/>
            <a:ext cx="8511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Leaky </a:t>
            </a:r>
            <a:r>
              <a:rPr lang="en-US" altLang="ko-KR" dirty="0" err="1"/>
              <a:t>ReLU</a:t>
            </a:r>
            <a:r>
              <a:rPr lang="en-US" altLang="ko-KR" dirty="0"/>
              <a:t> : 0</a:t>
            </a:r>
            <a:r>
              <a:rPr lang="ko-KR" altLang="en-US" dirty="0"/>
              <a:t>이하에서 </a:t>
            </a:r>
            <a:r>
              <a:rPr lang="en-US" altLang="ko-KR" dirty="0"/>
              <a:t>0.01</a:t>
            </a:r>
            <a:r>
              <a:rPr lang="ko-KR" altLang="en-US" dirty="0"/>
              <a:t>이라는 기울기 이용함</a:t>
            </a:r>
            <a:r>
              <a:rPr lang="en-US" altLang="ko-KR" dirty="0"/>
              <a:t>, 0</a:t>
            </a:r>
            <a:r>
              <a:rPr lang="ko-KR" altLang="en-US" dirty="0"/>
              <a:t>이 아닌 작은 상수</a:t>
            </a:r>
            <a:endParaRPr lang="en-US" altLang="ko-KR" dirty="0"/>
          </a:p>
          <a:p>
            <a:r>
              <a:rPr lang="en-US" altLang="ko-KR" dirty="0"/>
              <a:t>Parameter </a:t>
            </a:r>
            <a:r>
              <a:rPr lang="en-US" altLang="ko-KR" dirty="0" err="1"/>
              <a:t>ReLU</a:t>
            </a:r>
            <a:r>
              <a:rPr lang="en-US" altLang="ko-KR" dirty="0"/>
              <a:t> : 0</a:t>
            </a:r>
            <a:r>
              <a:rPr lang="ko-KR" altLang="en-US" dirty="0"/>
              <a:t>이하에서 기울기를 </a:t>
            </a:r>
            <a:r>
              <a:rPr lang="el-GR" altLang="ko-KR" dirty="0"/>
              <a:t>α</a:t>
            </a:r>
            <a:r>
              <a:rPr lang="ko-KR" altLang="en-US" dirty="0"/>
              <a:t>라는 파라미터 사용하여 학습시킴</a:t>
            </a:r>
          </a:p>
        </p:txBody>
      </p:sp>
      <p:pic>
        <p:nvPicPr>
          <p:cNvPr id="4098" name="Picture 2" descr="딥러닝-3.5. 활성화함수(6)-ReLU Family :: 만년필잉크의 데이터 분석 지식 저장소">
            <a:extLst>
              <a:ext uri="{FF2B5EF4-FFF2-40B4-BE49-F238E27FC236}">
                <a16:creationId xmlns:a16="http://schemas.microsoft.com/office/drawing/2014/main" id="{D810B2BF-846E-87FB-50ED-FD5948E4B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409" y="1706553"/>
            <a:ext cx="5965284" cy="4930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딥러닝 - 활성화 함수(Activation) 종류 및 비교 : 네이버 블로그">
            <a:extLst>
              <a:ext uri="{FF2B5EF4-FFF2-40B4-BE49-F238E27FC236}">
                <a16:creationId xmlns:a16="http://schemas.microsoft.com/office/drawing/2014/main" id="{DFFA681B-6585-03BC-3E9A-3D1242DA3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89" y="2097842"/>
            <a:ext cx="8268827" cy="4444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38517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324D7-BCEB-26A3-7B6F-2BD83D6A4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53E0753-91D2-1C64-16B5-0B18C8A7D709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90AEDB-AC75-A2D4-9E67-15312D496E8C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A9754B8-CEE9-125E-89CB-32639B5CBA84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11DA4FD-C384-7409-0B84-B2EB8EE82477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2394623-900D-5DD0-D704-689E2816AE63}"/>
              </a:ext>
            </a:extLst>
          </p:cNvPr>
          <p:cNvSpPr txBox="1"/>
          <p:nvPr/>
        </p:nvSpPr>
        <p:spPr>
          <a:xfrm>
            <a:off x="572362" y="1131262"/>
            <a:ext cx="44179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Leaky </a:t>
            </a:r>
            <a:r>
              <a:rPr lang="en-US" altLang="ko-KR" b="1" dirty="0" err="1"/>
              <a:t>ReLU</a:t>
            </a:r>
            <a:r>
              <a:rPr lang="en-US" altLang="ko-KR" b="1" dirty="0"/>
              <a:t>, Parameter </a:t>
            </a:r>
            <a:r>
              <a:rPr lang="en-US" altLang="ko-KR" b="1" dirty="0" err="1"/>
              <a:t>ReLU</a:t>
            </a:r>
            <a:r>
              <a:rPr lang="en-US" altLang="ko-KR" b="1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출력 분포가 양수 쪽으로 치우쳐 학습 안정성에 영향을 줄 수 있다</a:t>
            </a:r>
            <a:endParaRPr lang="en-US" altLang="ko-KR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110E667-8CBC-EE0F-A740-CBA6FA1E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660" y="740513"/>
            <a:ext cx="5906324" cy="55062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404A9B-257A-1999-9641-54A9B4037F2A}"/>
              </a:ext>
            </a:extLst>
          </p:cNvPr>
          <p:cNvSpPr txBox="1"/>
          <p:nvPr/>
        </p:nvSpPr>
        <p:spPr>
          <a:xfrm>
            <a:off x="572362" y="2389918"/>
            <a:ext cx="44957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ELU(Exponential Linear Unit)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0 </a:t>
            </a:r>
            <a:r>
              <a:rPr lang="ko-KR" altLang="en-US" dirty="0"/>
              <a:t>근처에서 매끄러운 기울기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평균을 </a:t>
            </a:r>
            <a:r>
              <a:rPr lang="en-US" altLang="ko-KR" dirty="0"/>
              <a:t>0</a:t>
            </a:r>
            <a:r>
              <a:rPr lang="ko-KR" altLang="en-US" dirty="0"/>
              <a:t>에 가깝게 유지</a:t>
            </a:r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67FDA8-E546-1B0B-0B38-77E739A0C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75" y="4148709"/>
            <a:ext cx="2991267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778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9AE62-6F79-6D26-FF51-FB17BA95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0D12763-F618-4547-77AC-466354ECAC78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B42DE6-8404-5227-0C4A-84ABE79983E1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86F01F76-8233-3CE4-3219-394AF505E489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1658F29-5BF4-9F2F-4E71-BB14E8887BCA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D51A5FB-A2D2-353A-E7D6-18114FC47B4C}"/>
              </a:ext>
            </a:extLst>
          </p:cNvPr>
          <p:cNvSpPr txBox="1"/>
          <p:nvPr/>
        </p:nvSpPr>
        <p:spPr>
          <a:xfrm>
            <a:off x="3823729" y="2649579"/>
            <a:ext cx="53202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시그모이드보다</a:t>
            </a:r>
            <a:r>
              <a:rPr lang="ko-KR" altLang="en-US" b="1" dirty="0"/>
              <a:t> 항상 </a:t>
            </a:r>
            <a:r>
              <a:rPr lang="en-US" altLang="ko-KR" b="1" dirty="0" err="1"/>
              <a:t>ReLU</a:t>
            </a:r>
            <a:r>
              <a:rPr lang="ko-KR" altLang="en-US" b="1" dirty="0"/>
              <a:t>가 좋다</a:t>
            </a:r>
            <a:r>
              <a:rPr lang="en-US" altLang="ko-KR" b="1" dirty="0"/>
              <a:t>? -&gt; NO</a:t>
            </a:r>
          </a:p>
          <a:p>
            <a:endParaRPr lang="en-US" altLang="ko-KR" b="1" dirty="0"/>
          </a:p>
          <a:p>
            <a:r>
              <a:rPr lang="ko-KR" altLang="en-US" b="1" dirty="0"/>
              <a:t>노드의 수가 충분히 많은 경우에만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684036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58365-D8E6-42E7-29C4-32C5179B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2566CE9-81F7-FFCC-BD6F-3EC9D59B48E5}"/>
              </a:ext>
            </a:extLst>
          </p:cNvPr>
          <p:cNvSpPr txBox="1"/>
          <p:nvPr/>
        </p:nvSpPr>
        <p:spPr>
          <a:xfrm>
            <a:off x="2823939" y="2613392"/>
            <a:ext cx="670087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rgbClr val="00B0F0"/>
                </a:solidFill>
              </a:rPr>
              <a:t>Batch Normalization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8BCB04CF-DE8F-100D-AA60-33DA772B36FC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A7B9193-249C-E023-92F2-D05164DE4420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35564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88C59-10B0-4B16-3A6A-A3F4855D3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4514AE6-2E8B-56D6-31A5-E73EC030E8CC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A0F2FB-1EBB-D6B9-2F9F-303966A8E340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83F58497-9813-0605-583B-06685DE65E8C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5278B8E-69BD-0FE1-6BCE-44E097CF1F9B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493F720-A010-46A3-46A4-D0A53B47F187}"/>
              </a:ext>
            </a:extLst>
          </p:cNvPr>
          <p:cNvSpPr txBox="1"/>
          <p:nvPr/>
        </p:nvSpPr>
        <p:spPr>
          <a:xfrm>
            <a:off x="3433928" y="1176030"/>
            <a:ext cx="5320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배치정규화</a:t>
            </a:r>
            <a:r>
              <a:rPr lang="en-US" altLang="ko-KR" b="1" dirty="0"/>
              <a:t>(Batch</a:t>
            </a:r>
            <a:r>
              <a:rPr lang="ko-KR" altLang="en-US" b="1" dirty="0"/>
              <a:t> </a:t>
            </a:r>
            <a:r>
              <a:rPr lang="en-US" altLang="ko-KR" b="1" dirty="0"/>
              <a:t>Normalization)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FCF3E4D-E0C6-BA4D-EEA9-884D167B2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91" y="1769990"/>
            <a:ext cx="6546751" cy="44767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4DC95DA-BBEA-A6EC-ED78-80354A804F95}"/>
              </a:ext>
            </a:extLst>
          </p:cNvPr>
          <p:cNvSpPr txBox="1"/>
          <p:nvPr/>
        </p:nvSpPr>
        <p:spPr>
          <a:xfrm>
            <a:off x="8103140" y="3599233"/>
            <a:ext cx="30253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데이터 </a:t>
            </a:r>
            <a:r>
              <a:rPr lang="en-US" altLang="ko-KR" dirty="0"/>
              <a:t>3</a:t>
            </a:r>
            <a:r>
              <a:rPr lang="ko-KR" altLang="en-US" dirty="0"/>
              <a:t>개가</a:t>
            </a:r>
            <a:endParaRPr lang="en-US" altLang="ko-KR" dirty="0"/>
          </a:p>
          <a:p>
            <a:r>
              <a:rPr lang="ko-KR" altLang="en-US" dirty="0"/>
              <a:t>평균</a:t>
            </a:r>
            <a:r>
              <a:rPr lang="en-US" altLang="ko-KR" dirty="0"/>
              <a:t>0, </a:t>
            </a:r>
            <a:r>
              <a:rPr lang="ko-KR" altLang="en-US" dirty="0"/>
              <a:t>분산</a:t>
            </a:r>
            <a:r>
              <a:rPr lang="en-US" altLang="ko-KR" dirty="0"/>
              <a:t>1</a:t>
            </a:r>
            <a:r>
              <a:rPr lang="ko-KR" altLang="en-US" dirty="0"/>
              <a:t>이면 좋을 듯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D8BC04-65FE-3A1B-1F6B-36CA337BB2C8}"/>
              </a:ext>
            </a:extLst>
          </p:cNvPr>
          <p:cNvSpPr txBox="1"/>
          <p:nvPr/>
        </p:nvSpPr>
        <p:spPr>
          <a:xfrm>
            <a:off x="8206901" y="2050061"/>
            <a:ext cx="30253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한쪽만 존재하면</a:t>
            </a:r>
            <a:endParaRPr lang="en-US" altLang="ko-KR" dirty="0"/>
          </a:p>
          <a:p>
            <a:r>
              <a:rPr lang="en-US" altLang="ko-KR" dirty="0"/>
              <a:t>Vanish gradient </a:t>
            </a:r>
            <a:r>
              <a:rPr lang="ko-KR" altLang="en-US" dirty="0"/>
              <a:t>사라짐</a:t>
            </a:r>
            <a:endParaRPr lang="en-US" altLang="ko-KR" dirty="0"/>
          </a:p>
          <a:p>
            <a:r>
              <a:rPr lang="ko-KR" altLang="en-US" dirty="0"/>
              <a:t>비선형성도 사라짐</a:t>
            </a:r>
          </a:p>
        </p:txBody>
      </p:sp>
    </p:spTree>
    <p:extLst>
      <p:ext uri="{BB962C8B-B14F-4D97-AF65-F5344CB8AC3E}">
        <p14:creationId xmlns:p14="http://schemas.microsoft.com/office/powerpoint/2010/main" val="1528181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30864-FF9F-515A-8222-BD93BFD70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DEB47D2-D004-57C7-7311-84279D828EBD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AC9CD0-2F50-C0B3-D946-79E45EF6F3DE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5AE1F7D-C861-4A07-4021-01B2BBDA2D5E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BDEBAA8-E77C-6747-1AA9-965D26963926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6146" name="Picture 2">
            <a:extLst>
              <a:ext uri="{FF2B5EF4-FFF2-40B4-BE49-F238E27FC236}">
                <a16:creationId xmlns:a16="http://schemas.microsoft.com/office/drawing/2014/main" id="{14E80D05-9F63-5670-C118-EEA248543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453" y="1472595"/>
            <a:ext cx="7361238" cy="4936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F2AF60-8EB8-59DD-2D6B-667A6A11D9D3}"/>
              </a:ext>
            </a:extLst>
          </p:cNvPr>
          <p:cNvSpPr txBox="1"/>
          <p:nvPr/>
        </p:nvSpPr>
        <p:spPr>
          <a:xfrm>
            <a:off x="3433928" y="1176030"/>
            <a:ext cx="5320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이건 어째</a:t>
            </a:r>
            <a:r>
              <a:rPr lang="en-US" altLang="ko-KR" b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9369015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A3B1C-34AB-055A-41D9-77AEF5905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D78B411-84DC-223F-61A1-9454BD1363B5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7F3BDD-B79F-964B-525B-218655EFE6E4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89D05DF5-CD75-706B-4021-B18D75B613BC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17CDB30-8FA9-345F-7CC8-734BB4FF2CFC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75B12D28-8CAC-5BF9-5E23-2D153F1FB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967" y="2160037"/>
            <a:ext cx="2343477" cy="9907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2F70028A-82E7-AB7E-07C8-F66EFB8C5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064" y="2220781"/>
            <a:ext cx="3105583" cy="102884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A10A173-2F7C-757A-BF36-97A51DF6C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0750" y="3967890"/>
            <a:ext cx="5136105" cy="198026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9EBC1EA-C72E-210E-4929-1FA7C69B9C04}"/>
              </a:ext>
            </a:extLst>
          </p:cNvPr>
          <p:cNvSpPr txBox="1"/>
          <p:nvPr/>
        </p:nvSpPr>
        <p:spPr>
          <a:xfrm>
            <a:off x="3433928" y="1176030"/>
            <a:ext cx="5320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배치정규화</a:t>
            </a:r>
            <a:r>
              <a:rPr lang="en-US" altLang="ko-KR" b="1" dirty="0"/>
              <a:t>(Batch</a:t>
            </a:r>
            <a:r>
              <a:rPr lang="ko-KR" altLang="en-US" b="1" dirty="0"/>
              <a:t> </a:t>
            </a:r>
            <a:r>
              <a:rPr lang="en-US" altLang="ko-KR" b="1" dirty="0"/>
              <a:t>Normalization)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7BF3534-9729-8F66-07CC-AE44715611C8}"/>
              </a:ext>
            </a:extLst>
          </p:cNvPr>
          <p:cNvSpPr/>
          <p:nvPr/>
        </p:nvSpPr>
        <p:spPr>
          <a:xfrm>
            <a:off x="2587557" y="2081719"/>
            <a:ext cx="924128" cy="1152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0F9226-5581-6FAB-304C-28E651FBACFD}"/>
              </a:ext>
            </a:extLst>
          </p:cNvPr>
          <p:cNvSpPr txBox="1"/>
          <p:nvPr/>
        </p:nvSpPr>
        <p:spPr>
          <a:xfrm>
            <a:off x="7185615" y="4558103"/>
            <a:ext cx="42054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ko-KR" sz="1200" b="1" dirty="0">
                <a:solidFill>
                  <a:srgbClr val="FF0000"/>
                </a:solidFill>
              </a:rPr>
              <a:t>ε</a:t>
            </a:r>
            <a:r>
              <a:rPr lang="en-US" altLang="ko-KR" sz="1200" b="1" dirty="0">
                <a:solidFill>
                  <a:srgbClr val="FF0000"/>
                </a:solidFill>
              </a:rPr>
              <a:t> -&gt; </a:t>
            </a:r>
            <a:r>
              <a:rPr lang="ko-KR" altLang="en-US" sz="1200" b="1" dirty="0">
                <a:solidFill>
                  <a:srgbClr val="FF0000"/>
                </a:solidFill>
              </a:rPr>
              <a:t>분산 너무 작을 때 </a:t>
            </a:r>
            <a:r>
              <a:rPr lang="en-US" altLang="ko-KR" sz="1200" b="1" dirty="0">
                <a:solidFill>
                  <a:srgbClr val="FF0000"/>
                </a:solidFill>
              </a:rPr>
              <a:t>0</a:t>
            </a:r>
            <a:r>
              <a:rPr lang="ko-KR" altLang="en-US" sz="1200" b="1" dirty="0">
                <a:solidFill>
                  <a:srgbClr val="FF0000"/>
                </a:solidFill>
              </a:rPr>
              <a:t>에 </a:t>
            </a:r>
            <a:r>
              <a:rPr lang="ko-KR" altLang="en-US" sz="1200" b="1" dirty="0" err="1">
                <a:solidFill>
                  <a:srgbClr val="FF0000"/>
                </a:solidFill>
              </a:rPr>
              <a:t>가까울때</a:t>
            </a:r>
            <a:r>
              <a:rPr lang="ko-KR" altLang="en-US" sz="1200" b="1" dirty="0">
                <a:solidFill>
                  <a:srgbClr val="FF0000"/>
                </a:solidFill>
              </a:rPr>
              <a:t> 안정성 위해 사용함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A9812323-4741-9567-3492-F5946FAB9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9122" y="2350756"/>
            <a:ext cx="819264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148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10719-D555-C3CD-376F-D37585269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4EF42B5-D41F-3F59-7078-D716E3DB605E}"/>
              </a:ext>
            </a:extLst>
          </p:cNvPr>
          <p:cNvSpPr txBox="1"/>
          <p:nvPr/>
        </p:nvSpPr>
        <p:spPr>
          <a:xfrm>
            <a:off x="2823939" y="2613392"/>
            <a:ext cx="670087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rgbClr val="00B0F0"/>
                </a:solidFill>
              </a:rPr>
              <a:t>Layer Normalization</a:t>
            </a:r>
            <a:endParaRPr lang="ko-KR" altLang="en-US" sz="50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C978CE18-C6FA-1EC9-7B3E-4F2B5971113B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88A9DC3-0DC5-E82E-48A8-B2D1650CC46F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41849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E971A-03B7-9E0E-ECA8-91F37962B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B695B15-5371-54EF-66B0-6375888D40D2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C2C09E-389B-2D9D-1CC1-A60FDC6F3BF0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8CF9C66F-BC50-59E9-6B06-F8F4A31012DB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A5EF25A-07AA-BD42-8023-2D8D8648A4FE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E277F38-17AE-1B3F-33CC-90B8553B9FFD}"/>
              </a:ext>
            </a:extLst>
          </p:cNvPr>
          <p:cNvSpPr txBox="1"/>
          <p:nvPr/>
        </p:nvSpPr>
        <p:spPr>
          <a:xfrm>
            <a:off x="2745309" y="998230"/>
            <a:ext cx="53202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Layer Normalization </a:t>
            </a:r>
          </a:p>
          <a:p>
            <a:endParaRPr lang="en-US" altLang="ko-KR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6FF874C-B084-5747-7E5A-9BD9E7A57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326" y="2933631"/>
            <a:ext cx="2343477" cy="99073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E15A89AE-189B-8769-0A21-BBC3A2E4AD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052" y="1769990"/>
            <a:ext cx="6546751" cy="447674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ACDD8F0-12C5-F59D-D4D7-10C5DA4BA0A9}"/>
              </a:ext>
            </a:extLst>
          </p:cNvPr>
          <p:cNvSpPr/>
          <p:nvPr/>
        </p:nvSpPr>
        <p:spPr>
          <a:xfrm>
            <a:off x="3404680" y="1540995"/>
            <a:ext cx="1575882" cy="50442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E1C853-8996-366C-0D5F-75769E06282A}"/>
              </a:ext>
            </a:extLst>
          </p:cNvPr>
          <p:cNvSpPr txBox="1"/>
          <p:nvPr/>
        </p:nvSpPr>
        <p:spPr>
          <a:xfrm>
            <a:off x="8715982" y="4698460"/>
            <a:ext cx="24221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안녕하세요</a:t>
            </a:r>
            <a:endParaRPr lang="en-US" altLang="ko-KR" dirty="0"/>
          </a:p>
          <a:p>
            <a:r>
              <a:rPr lang="ko-KR" altLang="en-US" dirty="0" err="1"/>
              <a:t>나는요ㅇㅇ</a:t>
            </a:r>
            <a:endParaRPr lang="en-US" altLang="ko-KR" dirty="0"/>
          </a:p>
          <a:p>
            <a:r>
              <a:rPr lang="ko-KR" altLang="en-US" dirty="0" err="1"/>
              <a:t>이거ㅇㅇㅇ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0264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E1A6A-1F2D-AC2B-9160-660A66EE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EE5342F-D1D0-EE08-4307-AACE0F835751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2DEDC0-07D4-6178-B6D4-FFBF5577510F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32E6CF6-3547-BB05-39D4-D5FA77709A3C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91305621-4842-DD62-0F3E-659706E77F85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0B1FBF7-40AA-55C3-3C90-FCFAAD27EAA7}"/>
              </a:ext>
            </a:extLst>
          </p:cNvPr>
          <p:cNvSpPr txBox="1"/>
          <p:nvPr/>
        </p:nvSpPr>
        <p:spPr>
          <a:xfrm>
            <a:off x="2492387" y="2421555"/>
            <a:ext cx="6487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Batch Normalization</a:t>
            </a:r>
          </a:p>
          <a:p>
            <a:r>
              <a:rPr lang="ko-KR" altLang="en-US" dirty="0"/>
              <a:t>테스트는 </a:t>
            </a:r>
            <a:r>
              <a:rPr lang="en-US" altLang="ko-KR" dirty="0"/>
              <a:t>train</a:t>
            </a:r>
            <a:r>
              <a:rPr lang="ko-KR" altLang="en-US" dirty="0"/>
              <a:t>때 적용된 가중치 이용하여 테스트함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49AAA3-D090-BCF7-209B-FA1B84D96399}"/>
              </a:ext>
            </a:extLst>
          </p:cNvPr>
          <p:cNvSpPr txBox="1"/>
          <p:nvPr/>
        </p:nvSpPr>
        <p:spPr>
          <a:xfrm>
            <a:off x="2568166" y="5443173"/>
            <a:ext cx="6487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Q. </a:t>
            </a:r>
            <a:r>
              <a:rPr lang="ko-KR" altLang="en-US" b="1" dirty="0"/>
              <a:t>어떻게 그대로 사용 </a:t>
            </a:r>
            <a:r>
              <a:rPr lang="ko-KR" altLang="en-US" b="1" dirty="0" err="1"/>
              <a:t>가능한거지</a:t>
            </a:r>
            <a:r>
              <a:rPr lang="en-US" altLang="ko-KR" b="1" dirty="0"/>
              <a:t>?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C24EDC-97C2-BEDC-6962-B66693A9317E}"/>
              </a:ext>
            </a:extLst>
          </p:cNvPr>
          <p:cNvSpPr txBox="1"/>
          <p:nvPr/>
        </p:nvSpPr>
        <p:spPr>
          <a:xfrm>
            <a:off x="2492388" y="3703399"/>
            <a:ext cx="64875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Layer Normalization</a:t>
            </a:r>
          </a:p>
          <a:p>
            <a:r>
              <a:rPr lang="ko-KR" altLang="en-US" dirty="0"/>
              <a:t>테스트때 </a:t>
            </a:r>
            <a:r>
              <a:rPr lang="en-US" altLang="ko-KR" dirty="0"/>
              <a:t>train</a:t>
            </a:r>
            <a:r>
              <a:rPr lang="ko-KR" altLang="en-US" dirty="0"/>
              <a:t>때 같은 방식으로 적용함</a:t>
            </a:r>
            <a:endParaRPr lang="en-US" altLang="ko-KR" dirty="0"/>
          </a:p>
          <a:p>
            <a:r>
              <a:rPr lang="ko-KR" altLang="en-US" dirty="0"/>
              <a:t>배치 사이즈 영향 없음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C6E30A-FD18-F99E-D8BE-862845F2709A}"/>
              </a:ext>
            </a:extLst>
          </p:cNvPr>
          <p:cNvSpPr txBox="1"/>
          <p:nvPr/>
        </p:nvSpPr>
        <p:spPr>
          <a:xfrm>
            <a:off x="2492386" y="1253866"/>
            <a:ext cx="64875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/>
              <a:t>테스트 방식 차이</a:t>
            </a:r>
            <a:endParaRPr lang="en-US" altLang="ko-KR" sz="2800" dirty="0"/>
          </a:p>
        </p:txBody>
      </p:sp>
    </p:spTree>
    <p:extLst>
      <p:ext uri="{BB962C8B-B14F-4D97-AF65-F5344CB8AC3E}">
        <p14:creationId xmlns:p14="http://schemas.microsoft.com/office/powerpoint/2010/main" val="8983896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70E51-D969-5ADF-6731-14D67BDF8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6C13958-3431-AFA8-1796-77FB49255E1A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6CA2DA-7A26-899A-953F-23F0FC6C999D}"/>
              </a:ext>
            </a:extLst>
          </p:cNvPr>
          <p:cNvSpPr txBox="1"/>
          <p:nvPr/>
        </p:nvSpPr>
        <p:spPr>
          <a:xfrm>
            <a:off x="1163052" y="272716"/>
            <a:ext cx="2986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기울기 소실이란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A7C0FC1-BB15-FF2E-A6B3-9FACBAD0ED2A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99BB0B2-6FFC-AF17-8C05-7222E0E9E88C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4C731925-1BBF-3E7D-EC18-7BA9A0112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416" y="1988914"/>
            <a:ext cx="6573167" cy="272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147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FF10F-9355-2456-06D5-0B7887250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70E372C-363C-4223-8165-4DFE5D744F3A}"/>
              </a:ext>
            </a:extLst>
          </p:cNvPr>
          <p:cNvSpPr txBox="1"/>
          <p:nvPr/>
        </p:nvSpPr>
        <p:spPr>
          <a:xfrm>
            <a:off x="2490281" y="2613392"/>
            <a:ext cx="70345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rgbClr val="00B0F0"/>
                </a:solidFill>
              </a:rPr>
              <a:t>Weight Initialization</a:t>
            </a:r>
            <a:endParaRPr lang="en-US" altLang="ko-KR" sz="50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C729024F-29B3-E3E3-79FF-9F729D35DEE9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97E78CBE-DDD2-87A9-01EB-CFAB6464213F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95141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6C416-FBB8-48B5-AEFC-E811B9D87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0A5538B-F6EC-1C58-C089-8EAE4F147EAD}"/>
              </a:ext>
            </a:extLst>
          </p:cNvPr>
          <p:cNvSpPr txBox="1"/>
          <p:nvPr/>
        </p:nvSpPr>
        <p:spPr>
          <a:xfrm>
            <a:off x="5472971" y="2923766"/>
            <a:ext cx="140281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 b="1" dirty="0">
                <a:solidFill>
                  <a:srgbClr val="00B0F0"/>
                </a:solidFill>
              </a:rPr>
              <a:t>끝</a:t>
            </a:r>
            <a:r>
              <a:rPr lang="en-US" altLang="ko-KR" sz="5000" b="1" dirty="0">
                <a:solidFill>
                  <a:srgbClr val="00B0F0"/>
                </a:solidFill>
              </a:rPr>
              <a:t>!</a:t>
            </a:r>
            <a:endParaRPr lang="ko-KR" altLang="en-US" sz="50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C5F9B1F-D657-FFB2-916C-A7F2B02705E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98CA780-CFC4-00A2-3938-2FCFE5340356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8855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662</TotalTime>
  <Words>491</Words>
  <Application>Microsoft Office PowerPoint</Application>
  <PresentationFormat>와이드스크린</PresentationFormat>
  <Paragraphs>134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맑은 고딕</vt:lpstr>
      <vt:lpstr>Arial</vt:lpstr>
      <vt:lpstr>Office 테마</vt:lpstr>
      <vt:lpstr>VGG-Net ,vanishing gradient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양재우</dc:creator>
  <cp:lastModifiedBy>양재우</cp:lastModifiedBy>
  <cp:revision>87</cp:revision>
  <dcterms:created xsi:type="dcterms:W3CDTF">2026-01-29T12:22:12Z</dcterms:created>
  <dcterms:modified xsi:type="dcterms:W3CDTF">2026-02-27T02:30:42Z</dcterms:modified>
</cp:coreProperties>
</file>