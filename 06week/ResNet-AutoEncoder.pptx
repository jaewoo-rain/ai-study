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6" r:id="rId2"/>
    <p:sldId id="257" r:id="rId3"/>
    <p:sldId id="284" r:id="rId4"/>
    <p:sldId id="285" r:id="rId5"/>
    <p:sldId id="286" r:id="rId6"/>
    <p:sldId id="287" r:id="rId7"/>
    <p:sldId id="288" r:id="rId8"/>
    <p:sldId id="289" r:id="rId9"/>
    <p:sldId id="283" r:id="rId10"/>
    <p:sldId id="279" r:id="rId11"/>
    <p:sldId id="278" r:id="rId12"/>
    <p:sldId id="275" r:id="rId13"/>
    <p:sldId id="276" r:id="rId14"/>
    <p:sldId id="277" r:id="rId15"/>
    <p:sldId id="280" r:id="rId16"/>
    <p:sldId id="281" r:id="rId17"/>
    <p:sldId id="28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35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1 373 24575,'0'-10'0,"0"0"0,1-1 0,0 1 0,1 0 0,0 0 0,0 0 0,1 0 0,1 0 0,4-10 0,-5 14 0,1 1 0,-1-1 0,1 1 0,1 0 0,-1 0 0,1 0 0,-1 1 0,1 0 0,1-1 0,-1 2 0,1-1 0,-1 1 0,1 0 0,0 0 0,9-3 0,38-17 0,-38 15 0,1 1 0,32-9 0,-28 9 0,0 0 0,0-1 0,35-21 0,8-3 0,-44 22 0,1 2 0,0 1 0,0 0 0,1 1 0,0 2 0,0 0 0,0 1 0,32 0 0,-13 3 0,-1 2 0,71 13 0,-90-10 0,0 0 0,-1 1 0,1 1 0,-1 1 0,-1 1 0,1 1 0,20 14 0,-34-19 0,1 0 0,-1 1 0,1 0 0,-2 0 0,1 0 0,-1 0 0,0 1 0,0 0 0,0-1 0,-1 1 0,0 1 0,-1-1 0,0 0 0,0 1 0,0-1 0,-1 1 0,0 10 0,1 13 0,-1 0 0,-7 58 0,5-79 0,-1 0 0,-1-1 0,0 1 0,0-1 0,0 0 0,-1 0 0,-1 0 0,0-1 0,0 1 0,0-1 0,-1 0 0,0-1 0,-1 1 0,-7 5 0,0 1 0,-1-2 0,-1 0 0,0-1 0,-1-1 0,0 0 0,-18 7 0,-104 57 0,76-41 0,-2-3 0,-86 27 0,93-33 0,40-16 0,1 0 0,-1-2 0,-1 0 0,-26 4 0,26-6 0,-1 1 0,-32 13 0,33-11 0,-1 0 0,-25 4 0,138-14 0,-65 4 0,-1-2 0,0 0 0,29-6 0,12-4 0,2 4 0,-1 3 0,108 7 0,-45-1 0,-77-2 188,40 0-769,150 17 0,-134-5 517,-61-7 2,69 14 0,-65-9 62,97 7 0,-117-14 0,-26-3-29,0 2-1,1-1 1,-1 1-1,0 0 1,0 1-1,0-1 1,14 9-1,-9-2-6763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36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0 24575,'-1'9'0,"-1"-1"0,1 1 0,-2-1 0,1 0 0,-1 0 0,-6 11 0,-4 14 0,4 5 0,2 0 0,2 1 0,2-1 0,1 1 0,6 69 0,-1-6 0,-4-17 0,3 94 0,-2-170 0,1 0 0,1 0 0,-1 0 0,2 0 0,-1 0 0,1 0 0,0 0 0,7 11 0,-8-16 0,1-1 0,-1 0 0,1 0 0,0 0 0,-1 0 0,1-1 0,0 1 0,1-1 0,-1 0 0,0 0 0,1 0 0,-1 0 0,1 0 0,0-1 0,0 1 0,-1-1 0,1 0 0,0-1 0,0 1 0,0 0 0,5-1 0,29 2 0,0-2 0,0-2 0,0-1 0,62-13 0,-57 9 0,0 2 0,0 2 0,0 1 0,47 6 0,8-2 0,-90-2 0,-1 0 0,1 0 0,-1 1 0,0-1 0,1 2 0,-1-1 0,1 1 0,8 3 0,-13-3 0,-1 0 0,0-1 0,1 1 0,-1 0 0,0 1 0,0-1 0,0 0 0,0 0 0,0 1 0,-1 0 0,1-1 0,-1 1 0,0 0 0,0-1 0,1 1 0,-2 0 0,1 0 0,0 0 0,-1 0 0,1 0 0,-1 0 0,0 0 0,0 4 0,1 48 0,-7 79 0,5-130 0,0 0 0,0 0 0,0 0 0,0 0 0,0 0 0,-1 0 0,0 0 0,0-1 0,0 1 0,0-1 0,-1 1 0,1-1 0,-1 0 0,0 0 0,1 0 0,-2 0 0,1-1 0,0 1 0,0-1 0,-1 0 0,-7 4 0,-5 1 0,-1-1 0,-1 0 0,-31 6 0,5-1 0,4 0 0,0-1 0,0-2 0,-1-2 0,0-1 0,-1-3 0,-69-4 0,107 2 0,0-1 0,1 0 0,-1 0 0,1 0 0,-1 0 0,1-1 0,-1 0 0,1 1 0,0-1 0,0 0 0,0-1 0,0 1 0,0 0 0,0-1 0,1 0 0,-5-5 0,-2-5 0,1 0 0,-13-28 0,-2-3 0,4 11-341,2-1 0,1-1-1,-14-45 1,25 63-6485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36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24575,'25'0'0,"0"-1"0,0-2 0,41-9 0,-8-1 0,1 3 0,0 3 0,102 0 0,447 7-1365,-585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37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24575,'0'47'0,"-2"0"0,-12 71 0,-11-7 0,13-66 0,2 1 0,3 0 0,-4 76 0,12-94 0,-2-1 0,0 0 0,-2 0 0,-1 0 0,-1 0 0,-9 26 0,5-22 0,2 0 0,-4 39 0,-4 17 0,-1-17 0,2-10 0,1 1 0,-7 109 0,20-167 0,0 0 0,-1 0 0,1 0 0,1 0 0,-1 1 0,0-1 0,1 0 0,0 0 0,-1 0 0,1 0 0,1 0 0,-1 0 0,0 0 0,1-1 0,-1 1 0,1 0 0,0-1 0,0 1 0,0-1 0,0 1 0,0-1 0,3 2 0,1-1 0,-1-1 0,1 1 0,-1-1 0,1-1 0,0 1 0,0-1 0,0 0 0,0-1 0,0 1 0,-1-1 0,8 0 0,363-6 0,-358 6 0,-1-2 0,1 0 0,-1-2 0,0 1 0,29-12 0,-36 12 0,0-1 0,-1 0 0,1-1 0,-1 0 0,0-1 0,0 0 0,0 0 0,-1-1 0,0 0 0,12-13 0,-16 12 0,0 1 0,-1-1 0,0 0 0,0 0 0,0 0 0,-1 0 0,-1 0 0,1 0 0,-1-1 0,-1 1 0,0-10 0,-7-94 0,6 102 0,-2 0 0,1 1 0,-1-1 0,0 1 0,-1 0 0,0 0 0,-1 0 0,0 1 0,0-1 0,-11-12 0,-9-7 0,-41-38 0,22 23 0,22 25 0,-1 1 0,0 1 0,-2 0 0,1 2 0,-2 1 0,-37-13 0,38 15 0,13 6 0,-1 1 0,1 1 0,-1 0 0,0 0 0,0 1 0,-18 0 0,-86 5 0,42 0 0,-57-3-1365,110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38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0 24575,'0'13'0,"1"-5"0,-1 0 0,0 0 0,0 0 0,0 0 0,-1 0 0,-1 0 0,0 0 0,0-1 0,0 1 0,-1 0 0,0-1 0,0 0 0,-6 10 0,-2 1 0,2 1 0,1 0 0,-8 22 0,0 2 0,0-3 0,-16 36 0,22-57 0,2 0 0,0 1 0,1 0 0,1 0 0,1 0 0,1 1 0,-2 27 0,3-4 0,3 0 0,6 63 0,-5-102 0,0-1 0,0 1 0,0-1 0,1 1 0,-1-1 0,1 1 0,1-1 0,-1 0 0,0 0 0,1 0 0,0 0 0,0 0 0,0-1 0,0 1 0,1-1 0,-1 0 0,1 0 0,0 0 0,7 4 0,8 3 0,0-1 0,1 0 0,25 6 0,-1 1 0,-27-10 0,-1-2 0,1 0 0,1 0 0,-1-2 0,18 1 0,49 7 0,-69-6 0,0-1 0,0-1 0,0-1 0,1 0 0,-1-1 0,1 0 0,-1-2 0,0 0 0,0 0 0,0-1 0,0-1 0,0-1 0,0 0 0,18-10 0,-22 9 0,-2 0 0,1-1 0,-1 0 0,0 0 0,0-1 0,-1 0 0,0-1 0,-1 1 0,0-2 0,0 1 0,-1-1 0,0 0 0,-1 0 0,0-1 0,0 1 0,-1-1 0,-1 0 0,0-1 0,3-18 0,-3 14 0,-2 1 0,0 0 0,-1-1 0,0 0 0,-1 1 0,-1 0 0,0-1 0,-8-23 0,8 30 0,-1 1 0,-1 0 0,0 0 0,0 1 0,0-1 0,-1 1 0,0 0 0,0 0 0,-1 0 0,0 1 0,0-1 0,0 2 0,-1-1 0,0 1 0,0 0 0,-13-7 0,-61-18 0,61 24 0,0-1 0,-31-16 0,40 18-136,-1 1-1,1 1 1,-1-1-1,0 2 1,0 0-1,0 0 1,0 1-1,0 1 0,-18 0 1,7 1-6690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39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0 24575,'1'1'0,"1"-1"0,-1 1 0,0-1 0,0 1 0,0 0 0,0-1 0,0 1 0,0 0 0,0-1 0,0 1 0,0 0 0,0 0 0,-1 0 0,1 0 0,0 0 0,0 0 0,-1 0 0,1 0 0,-1 1 0,1-1 0,-1 0 0,1 0 0,-1 0 0,0 1 0,0-1 0,0 0 0,1 2 0,3 41 0,-3-39 0,0 8 0,0 0 0,0 1 0,-1-1 0,-1 1 0,0-1 0,-1 0 0,0 0 0,-1 1 0,-1-1 0,0-1 0,-1 1 0,0-1 0,-1 0 0,0 0 0,-8 12 0,6-13 0,-6 8 0,0 0 0,1 1 0,2 1 0,0 0 0,1 1 0,1 0 0,-9 32 0,-24 62 0,42-115 0,0 1 0,-1-1 0,1 1 0,0-1 0,0 1 0,0-1 0,1 1 0,-1-1 0,0 1 0,0-1 0,1 1 0,-1-1 0,1 0 0,0 1 0,-1-1 0,1 1 0,0-1 0,0 0 0,0 0 0,-1 0 0,1 1 0,1-1 0,-1 0 0,0 0 0,0 0 0,0 0 0,0-1 0,1 1 0,-1 0 0,0 0 0,1-1 0,-1 1 0,1-1 0,-1 1 0,1-1 0,-1 0 0,1 0 0,-1 1 0,2-1 0,10 2 0,0-1 0,0 0 0,21-2 0,-24 1 0,604-4 0,-606 4-105,-1 0 0,0-1 0,1 0 0,-1 0 0,0 0 0,0-1 0,0-1 0,0 1 0,0-1 0,-1 0 0,1 0 0,9-7 0,-3 0-6721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40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0 24575,'0'36'0,"1"22"0,-3-1 0,-13 85 0,7-77 0,3 0 0,6 130 0,1-71 0,-2 114-1365,0-216-5461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41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98 286 24575,'3'-2'0,"1"0"0,-1 0 0,0 0 0,0-1 0,-1 1 0,1-1 0,0 0 0,-1 0 0,0 0 0,0 0 0,0 0 0,3-6 0,5-7 0,12-9 0,1 1 0,1 1 0,1 0 0,1 2 0,41-25 0,-41 32 0,0 1 0,1 1 0,42-12 0,-67 23 0,0 0 0,0 1 0,0-1 0,0 1 0,0-1 0,0 1 0,1 0 0,-1-1 0,0 1 0,0 0 0,0 1 0,0-1 0,0 0 0,0 1 0,0-1 0,0 1 0,0-1 0,0 1 0,0 0 0,0 0 0,0 0 0,0 0 0,0 0 0,-1 1 0,1-1 0,-1 0 0,1 1 0,-1-1 0,1 1 0,-1 0 0,0-1 0,1 1 0,-1 0 0,0 0 0,0 0 0,-1 0 0,1 0 0,0 0 0,-1 0 0,1 0 0,-1 0 0,1 3 0,1 11 0,0 1 0,-1 0 0,-1 0 0,-2 24 0,0-16 0,3 152 0,-5 72 0,0-227 0,-1-1 0,-2 0 0,0 0 0,-1-1 0,-1 0 0,0-1 0,-24 35 0,10-14 0,17-32 0,0-1 0,1 0 0,-2 0 0,1-1 0,-1 1 0,0-1 0,-1-1 0,1 1 0,-15 6 0,11-5 0,0 0 0,1 0 0,0 1 0,-12 11 0,15-12 0,-1-1 0,0 0 0,-1 0 0,1-1 0,-1 0 0,0-1 0,0 0 0,-11 3 0,-21 11 0,-78 39 0,70-38 0,140-18 0,419-2 0,-480 0 0,55-11 0,-53 7 0,44-3 0,334 7 86,-195 2-1537,-192-1-5375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42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24575,'2'26'0,"0"-1"0,8 34 0,-5-31 0,4 47 0,-10-58 0,2 1 0,0-1 0,1 0 0,0 1 0,2-1 0,0 0 0,1-1 0,10 25 0,7 19 0,3 9 0,-21-61 0,1 0 0,-1-1 0,1 1 0,1-1 0,0 0 0,-1 0 0,10 8 0,-10-12 0,0 0 0,0 0 0,-1 0 0,1-1 0,1 0 0,-1 0 0,0 0 0,1 0 0,-1-1 0,0 0 0,1 0 0,0-1 0,6 0 0,30 2 0,1-3 0,0-1 0,-1-2 0,1-3 0,80-22 0,-99 23 0,0 1 0,47-4 0,14-2 0,159-36 0,-241 46 0,0 1 0,0-1 0,0 1 0,0 0 0,0 0 0,-1 0 0,1 0 0,0 0 0,0 0 0,0 1 0,0 0 0,-1-1 0,1 1 0,0 0 0,-1 0 0,1 1 0,0-1 0,-1 0 0,0 1 0,1 0 0,-1-1 0,0 1 0,0 0 0,0 0 0,0 0 0,0 1 0,0-1 0,0 0 0,-1 1 0,1-1 0,-1 1 0,0-1 0,0 1 0,0 0 0,0-1 0,0 1 0,-1 0 0,1 3 0,3 13 0,-2 1 0,0-1 0,-1 0 0,-2 28 0,1-33 0,0-4 0,0-1 0,-1 1 0,0 0 0,0-1 0,-1 1 0,0-1 0,-1 0 0,0 1 0,-1-1 0,0-1 0,0 1 0,-1 0 0,0-1 0,0 0 0,-8 8 0,-21 31 0,18-24 0,-1-1 0,0 0 0,-2-1 0,-27 23 0,-2 1 0,37-34 0,-1 0 0,0 0 0,0-1 0,-19 11 0,7-5 0,0 0 0,1 2 0,-24 25 0,-36 27 0,54-48 0,10-8 0,0 0 0,-1-1 0,-33 16 0,47-27 0,1 1 0,-1-1 0,0 0 0,0-1 0,0 0 0,0 0 0,-1 0 0,1 0 0,0-1 0,0 0 0,0 0 0,-1-1 0,1 0 0,0 0 0,0 0 0,0-1 0,0 0 0,-8-4 0,-4-4 0,0-1 0,1-1 0,0-1 0,-26-26 0,23 21 0,0 0 0,-28-17 0,43 30-114,-1 1 1,1 0-1,-1-1 0,1 0 0,0 0 1,1-1-1,0 1 0,-1-1 0,2 0 1,-1 0-1,-3-9 0,1-2-6712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43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0 187 24575,'11'-1'0,"0"0"0,1-1 0,-2-1 0,1 0 0,0 0 0,17-9 0,41-11 0,31 15 0,-73 7 0,-1-1 0,40-8 0,-9-3 0,1 4 0,-1 1 0,105 1 0,-134 7 0,0-1 0,0-2 0,-1 0 0,1-2 0,-1-1 0,0-1 0,0-1 0,35-17 0,-51 21-170,0 0-1,0 0 0,1 1 1,-1 0-1,1 1 0,0 1 1,21-1-1,-10 2-6655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44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553 0 24575,'-5'2'0,"0"1"0,0-1 0,0 1 0,0-1 0,1 1 0,-1 1 0,1-1 0,0 1 0,0-1 0,0 1 0,0 0 0,-3 6 0,-4 1 0,-51 63 0,48-59 0,2 1 0,0 1 0,1 0 0,1 0 0,0 1 0,-11 31 0,-25 94 0,-1-7 0,39-109 0,-21 52 0,21-61 0,0 1 0,2-1 0,0 1 0,1 1 0,0-1 0,-1 24 0,3-12 0,-2 1 0,-15 55 0,-5 27 0,-28 150 0,42-201 0,5-36 0,2 0 0,-2 42 0,5-5 0,4 110 0,-2-170 0,1 1 0,0-1 0,-1 1 0,2-1 0,-1 0 0,0 0 0,1 0 0,0-1 0,0 1 0,0-1 0,0 1 0,0-1 0,1 0 0,-1 0 0,1 0 0,0-1 0,0 1 0,0-1 0,0 0 0,1 0 0,7 2 0,4 2 0,1 0 0,0-1 0,0-1 0,28 4 0,187-6 0,-120-4 0,-84 0 0,0-1 0,0-1 0,-1-2 0,1-1 0,30-11 0,37-10 0,-23 14 0,-42 9 0,1-2 0,29-10 0,-38 9 0,-5 3 0,-1-1 0,1 0 0,-1-2 0,0 0 0,26-18 0,-40 24 0,1 0 0,0 0 0,-1-1 0,0 1 0,0-1 0,1 0 0,-1 0 0,-1 1 0,1-1 0,0 0 0,-1-1 0,0 1 0,1 0 0,-1 0 0,-1-1 0,1 1 0,0 0 0,-1-1 0,0 1 0,1-1 0,-1 1 0,-1 0 0,1-1 0,0 1 0,-1-1 0,0 1 0,0 0 0,0-1 0,0 1 0,0 0 0,-1 0 0,1 0 0,-1 0 0,0 0 0,0 0 0,-4-4 0,-13-19 0,-1 1 0,-38-36 0,14 16 0,33 34 0,-2-1 0,0 1 0,0 1 0,-1 0 0,0 1 0,-23-10 0,-97-34 0,49 23 0,-59-17 0,37 15 0,84 26 0,1 1 0,-1 0 0,-36-1 0,-34-6 0,29-2-682,-99-8-1,140 20-6143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46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24575,'1'4'0,"1"-1"0,-1 0 0,1 0 0,-1 0 0,1 0 0,0 0 0,0 0 0,0 0 0,1 0 0,-1-1 0,1 1 0,-1-1 0,1 0 0,0 0 0,0 0 0,4 2 0,16 15 0,-7-3 0,1-1 0,0-1 0,26 16 0,0 0 0,2 1 0,58 31 0,-59-38 0,73 54 0,-98-65 0,1 0 0,0-1 0,22 10 0,-23-14 0,-1 2 0,-1 0 0,0 1 0,26 21 0,10 3 0,-10-10 0,7 17 0,-35-28 0,0-1 0,1-1 0,1-1 0,31 18 0,-29-20 0,-2 2 0,1 0 0,-1 2 0,25 22 0,-1 0 0,22 19 0,61 68 0,-16-14 0,-79-81 0,-1 2 0,47 60 0,-64-75 0,0-1 0,22 19 0,12 14 0,18 24 0,-42-50 0,-2 2 0,0 0 0,-2 0 0,0 2 0,17 33 0,-17-20 0,2 0 0,1-1 0,2-1 0,1-1 0,46 50 0,-36-43 0,-28-32 0,1-2 0,0 1 0,0-1 0,1 0 0,11 10 0,-11-11 0,0 2 0,0-1 0,0 1 0,-1 0 0,0 1 0,-1 0 0,0-1 0,0 2 0,4 11 0,-3-8 0,0-1 0,0 0 0,1-1 0,1 1 0,8 10 0,2-1 0,-1 2 0,-2 0 0,0 1 0,15 33 0,-10-18 0,16 44 0,-30-64 0,1-1 0,1 0 0,1 0 0,1-1 0,13 18 0,-15-23 0,-1 0 0,0 1 0,9 21 0,6 10 0,-6-14 0,-1 1 0,-1 1 0,-2 0 0,-1 0 0,-1 2 0,-2-1 0,-1 1 0,-2 0 0,-2 0 0,0 49 0,-1-60 0,0 1 0,1-1 0,2 0 0,10 33 0,-8-32 0,-1 1 0,-1-1 0,3 45 0,-7-33 0,-4 166 0,-21-68 0,20-102 0,-2 1 0,-1-1 0,-1 0 0,-13 31 0,-4 19 0,17-54 0,0 2 0,-21 51 0,24-67 0,0 1 0,0-1 0,-1 17 0,3-18 0,0 0 0,0 0 0,-1-1 0,0 0 0,-8 14 0,-42 78 0,21-28 0,14-25 0,5-20 0,9-18 0,0-1 0,0 0 0,-2-1 0,1 0 0,-1 0 0,-1 0 0,-14 16 0,-23 22 0,-41 59 0,74-92 0,-27 53 0,34-58 0,-1 0 0,0 0 0,0 0 0,-1-1 0,0 0 0,-17 18 0,1-4 0,1 2 0,1 0 0,1 1 0,-27 53 0,28-48 0,-11 16 0,-1-1 0,-68 76 0,-23 35 0,118-152 0,-110 168 0,-37 37 0,124-166 0,21-35 0,1 0 0,-2-1 0,1 0 0,-1 0 0,0 0 0,-10 8 0,-15 14 0,-37 45 0,-23 23 0,82-90 0,-12 10 0,1 0 0,1 1 0,0 1 0,2 0 0,1 2 0,-22 36 0,25-34 0,-1-1 0,-35 44 0,-6 9 0,-60 90 0,41-62 0,19-17 0,4-9 0,-33 51 0,55-82 0,-45 88 0,22-31 0,17-32-1365,24-57-5461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3:48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1775 0 24575,'-1'5'0,"0"0"0,-1 0 0,1-1 0,-1 1 0,0-1 0,-1 0 0,1 1 0,-6 5 0,-4 11 0,-21 42 0,-46 65 0,60-100 0,-8 11 0,-1-1 0,-2-2 0,-2-1 0,-39 34 0,51-48 0,0 1 0,2 1 0,-31 49 0,27-39 0,-27 33 0,-12 4 0,-94 121 0,48-34 0,55-51 0,32-51 0,18-46 0,0-1 0,-1 1 0,0 0 0,-1-1 0,-5 10 0,-5 7 0,-21 50 0,28-56 0,-1-1 0,0 0 0,-2 0 0,0-1 0,-1 0 0,-15 18 0,17-24 0,2-1 0,-1 2 0,2-1 0,-11 24 0,-2 4 0,3-8 0,-20 59 0,-8 18 0,6-14 0,29-67 0,-1-1 0,-16 29 0,5-15 0,-16 49 0,7-17 0,-20 58 0,-33 58 0,14-5 0,15-34 0,43-121 0,1 0 0,2 1 0,0 0 0,2 0 0,1 0 0,2 1 0,0 54 0,2-67 0,-1 0 0,-1-1 0,0 1 0,-1-1 0,-9 26 0,6-23 0,2-1 0,0 1 0,-4 37 0,7 242 0,4-145 0,0-128 0,1 1 0,2-1 0,0 0 0,2 0 0,11 29 0,7 30 0,-15-56 0,0 0 0,1 0 0,2-2 0,31 50 0,-23-41 0,43 43 0,-9-14 0,-39-46 0,0 0 0,15 24 0,86 114 0,-8-13 0,-96-123 0,1 0 0,0-2 0,2 0 0,0 0 0,22 17 0,-16-15 0,-2 1 0,0 1 0,-1 1 0,20 34 0,30 36 0,116 145 0,-169-218 0,-1 0 0,-1 1 0,13 28 0,-15-26 0,1 0 0,31 39 0,-12-21 0,-3 1 0,36 64 0,-12-16 0,48 50 0,-70-103 0,-2 2 0,-2 2 0,29 57 0,-30-49 0,38 57 0,94 114 0,8 10 0,-146-195 0,-16-28 0,0 1 0,0-1 0,1-1 0,-1 1 0,2-1 0,10 12 0,-10-12 0,0 1 0,0 1 0,-1-1 0,0 1 0,0 0 0,-1 0 0,4 10 0,-3-7 0,1 0 0,0-1 0,12 18 0,85 113 0,-16-20 0,-44-64 0,-23-29 0,0-2 0,33 33 0,29 30 0,-51-58 0,-21-23 0,-1 1 0,0 1 0,-1-1 0,0 1 0,0 1 0,7 13 0,-9-15 0,0 1 0,0-1 0,1 0 0,0-1 0,15 15 0,-14-16 0,0 1 0,-1 0 0,0 1 0,0 0 0,8 14 0,-7-7 0,2-1 0,-1-1 0,15 15 0,-16-20 0,-1 1 0,0-1 0,0 1 0,-1 0 0,0 0 0,-1 1 0,0 0 0,5 15 0,-9-21-97,1 0-1,0 0 1,0-1-1,0 1 1,1-1-1,0 1 1,-1-1-1,1 0 1,1 0-1,-1-1 1,1 1-1,-1 0 0,6 2 1,4 4-6729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4:37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04:54:37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C8C12-2702-4545-91FC-B559E7ED4DC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39217-1672-452E-95D5-664CA29A29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27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39217-1672-452E-95D5-664CA29A294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086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7B76-9DCB-AB34-F54E-774144E7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BDC9E1-4806-97AD-CA9C-82F72B35E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3D6A10-2B5C-664D-D0B9-BA48146FD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64CD6-D9E2-6EC5-E3BC-A3D7849C7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39217-1672-452E-95D5-664CA29A294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76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45F9-AABC-9C65-E32E-7DC6F4DC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1F617-8054-B418-FC0A-964ABF68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21B83-EE31-A83C-B685-6EAEEBA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E7DC4-B8AA-856D-5721-BDAA73DB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D27CC-3813-EE36-C7F8-914BFF4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07138-FA98-2AB7-8629-10464DFF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09BF1-9866-C7FB-8187-5984390A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D2D0B-3720-1367-6E4B-7BDED4E4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6C8A2-DCEB-E016-D6AE-F3B0B68E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390BA-4D7E-3122-1F7C-1B4CED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4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E1EB0-5361-539B-1487-056C6CA7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F9D0-37F3-CAFE-C020-53FA213F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59A2-CBC0-7F9C-CA48-F53F6D6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D218-C794-DA8F-6ECF-21D625D2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A8F59-A765-B2FA-FB87-D4799CAD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E2FDB-BFE8-D505-C08B-3490886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ED678-8B0C-DB88-F535-8C3D092E7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9AE1F-3006-E35B-5B29-E656F1299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D2A83-8FFF-064B-42C5-C747E38E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F2DC-23CE-033E-EB1E-F2115931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BA7A6-8AAB-2208-7455-180F157D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3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F96-F88C-2D88-2135-0F3147DF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3EBA4-24D4-11F2-13F5-7A6F2FA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9FD5AF-A2A8-43FE-E3DC-D57F057D3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B11BF-9991-5F88-4B19-38B8C115A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01185-94AD-F148-0979-CE9D691B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847EE-D711-E30C-D9D4-EC4821C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A5D1D-80D7-7E82-FC04-26AA805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4C5FD-3854-F426-1038-4A54564B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0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F072-2AD8-CEFF-E084-3E3F6996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694FF3-EDBA-FDC8-5A91-FB138A7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59B27-3B03-58D5-C82A-D07C1608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F7513F-0ECA-24B6-86E6-480DC89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E33E78-1119-2DD1-81CB-2116AC7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9B68D-3253-A4DC-D7D8-6F0479C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CEAE9-51CC-451F-C7FC-7DF4335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C0E2-99E5-9BD5-7DF6-5B325424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D1D88-67B0-38B1-72C3-AEEE81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D50B8-2AEC-054F-8AA0-9D9AFEF0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05D71-43D7-A80D-A519-6C3248A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95C05-EA1A-235E-5FD3-1E6CD85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EDF3E-7B0D-F53F-DEEA-161065FC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46A15-C5B6-A114-2E29-472AD902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2CE56-0AC1-5501-F11D-922D2BAA7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EAC10-74DA-1504-3BDE-5AF8A122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7C23C-670F-2000-D053-4A2AC3B0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27DCF-96FF-724E-AACC-50257417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118B2-D390-D3C9-14D8-EB02F15E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EFC3-22DB-323D-3917-A068C96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345F-62F3-F7D5-ED06-FE769207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6EBFA-6C49-1AFF-63A2-A10252DC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C5061-598F-4A83-3874-968F81EC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2B8F5-7672-41C0-7BEE-59F64D3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4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ECB5A-475F-EFD8-F291-9EBB7270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E86-9A7C-B062-6CF2-41A0C002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6D393-098F-34F5-8BDF-4401A7C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88A78-B2E6-BE76-7F32-5E14E860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5E81B-7276-0CAB-99FA-DE081090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05E34-265E-29A0-791E-52F8F3E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327B4-7F9D-7B88-CFF9-4BDFB074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C84C-48DF-BB7F-6AE3-7C2A8558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0772-3C17-48BD-9462-1080E2FAA39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F67-B553-9533-E74B-9D2431DC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1070C-3585-745F-2560-881E18F9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6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24" Type="http://schemas.openxmlformats.org/officeDocument/2006/relationships/customXml" Target="../ink/ink11.xml"/><Relationship Id="rId5" Type="http://schemas.openxmlformats.org/officeDocument/2006/relationships/image" Target="../media/image60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7.png"/><Relationship Id="rId30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CED6-5F2E-3EA7-B2A2-B861E550B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ResNet</a:t>
            </a:r>
            <a:br>
              <a:rPr lang="en-US" altLang="ko-KR" dirty="0"/>
            </a:br>
            <a:r>
              <a:rPr lang="en-US" altLang="ko-KR" dirty="0" err="1"/>
              <a:t>AutoEncoder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9F64-AEBF-88D8-A196-96E0A009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스터디</a:t>
            </a:r>
          </a:p>
        </p:txBody>
      </p:sp>
    </p:spTree>
    <p:extLst>
      <p:ext uri="{BB962C8B-B14F-4D97-AF65-F5344CB8AC3E}">
        <p14:creationId xmlns:p14="http://schemas.microsoft.com/office/powerpoint/2010/main" val="43572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B307B8-22CC-6EDB-5FEE-2C593948E8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A9A2-B08F-C4CF-F622-D37CB0255281}"/>
              </a:ext>
            </a:extLst>
          </p:cNvPr>
          <p:cNvSpPr txBox="1"/>
          <p:nvPr/>
        </p:nvSpPr>
        <p:spPr>
          <a:xfrm>
            <a:off x="1163052" y="272716"/>
            <a:ext cx="239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ResNet</a:t>
            </a:r>
            <a:r>
              <a:rPr lang="ko-KR" altLang="en-US" sz="2800" b="1" dirty="0">
                <a:solidFill>
                  <a:srgbClr val="00B0F0"/>
                </a:solidFill>
              </a:rPr>
              <a:t> 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77E5FD-4523-FC80-965A-FFF2DDED91D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C424E4-6EC8-93D9-3788-386EDA02B35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2BB282-F298-9117-6A94-3176D9387208}"/>
              </a:ext>
            </a:extLst>
          </p:cNvPr>
          <p:cNvSpPr txBox="1"/>
          <p:nvPr/>
        </p:nvSpPr>
        <p:spPr>
          <a:xfrm>
            <a:off x="1372602" y="1839965"/>
            <a:ext cx="103960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ResNet</a:t>
            </a:r>
            <a:endParaRPr lang="en-US" altLang="ko-KR" sz="2400" b="1" dirty="0"/>
          </a:p>
          <a:p>
            <a:endParaRPr lang="en-US" altLang="ko-K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Kaiming He</a:t>
            </a:r>
            <a:r>
              <a:rPr lang="ko-KR" altLang="en-US" dirty="0"/>
              <a:t>의 생각 </a:t>
            </a:r>
            <a:r>
              <a:rPr lang="en-US" altLang="ko-KR" dirty="0"/>
              <a:t>vanishing gradient </a:t>
            </a:r>
            <a:r>
              <a:rPr lang="ko-KR" altLang="en-US" dirty="0"/>
              <a:t>해결</a:t>
            </a:r>
            <a:r>
              <a:rPr lang="en-US" altLang="ko-KR" dirty="0"/>
              <a:t>(</a:t>
            </a:r>
            <a:r>
              <a:rPr lang="en-US" altLang="ko-KR" dirty="0" err="1"/>
              <a:t>BN+ReLU</a:t>
            </a:r>
            <a:r>
              <a:rPr lang="en-US" altLang="ko-KR" dirty="0"/>
              <a:t>)</a:t>
            </a:r>
            <a:r>
              <a:rPr lang="ko-KR" altLang="en-US" dirty="0"/>
              <a:t>했는데도 모델이 깊어질수록 </a:t>
            </a:r>
            <a:r>
              <a:rPr lang="en-US" altLang="ko-KR" dirty="0"/>
              <a:t>training error</a:t>
            </a:r>
            <a:r>
              <a:rPr lang="ko-KR" altLang="en-US" dirty="0"/>
              <a:t>가 </a:t>
            </a:r>
            <a:r>
              <a:rPr lang="ko-KR" altLang="en-US" dirty="0" err="1"/>
              <a:t>커지는건</a:t>
            </a:r>
            <a:r>
              <a:rPr lang="ko-KR" altLang="en-US" dirty="0"/>
              <a:t> 이상하다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깊은 것은 얕은 것을 똑같이 흉내 낼 수 있지 않나</a:t>
            </a:r>
            <a:r>
              <a:rPr lang="en-US" altLang="ko-KR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50</a:t>
            </a:r>
            <a:r>
              <a:rPr lang="ko-KR" altLang="en-US" dirty="0"/>
              <a:t>층이 </a:t>
            </a:r>
            <a:r>
              <a:rPr lang="en-US" altLang="ko-KR" dirty="0"/>
              <a:t>20</a:t>
            </a:r>
            <a:r>
              <a:rPr lang="ko-KR" altLang="en-US" dirty="0"/>
              <a:t>층 짜리를 나타내고 싶다면</a:t>
            </a:r>
            <a:r>
              <a:rPr lang="en-US" altLang="ko-KR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나머지 </a:t>
            </a:r>
            <a:r>
              <a:rPr lang="en-US" altLang="ko-KR" dirty="0"/>
              <a:t>30</a:t>
            </a:r>
            <a:r>
              <a:rPr lang="ko-KR" altLang="en-US" dirty="0"/>
              <a:t>층은 </a:t>
            </a:r>
            <a:r>
              <a:rPr lang="en-US" altLang="ko-KR" dirty="0"/>
              <a:t>identity mapping </a:t>
            </a:r>
            <a:r>
              <a:rPr lang="ko-KR" altLang="en-US" dirty="0"/>
              <a:t>하면 된다</a:t>
            </a:r>
            <a:r>
              <a:rPr lang="en-US" altLang="ko-KR" dirty="0"/>
              <a:t>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Identity mapping : </a:t>
            </a:r>
            <a:r>
              <a:rPr lang="ko-KR" altLang="en-US" dirty="0"/>
              <a:t>들어온 대로 나가게 하는 것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깊은 것은 얕은 것이 표현할 수 있는 것을 포함</a:t>
            </a:r>
            <a:r>
              <a:rPr lang="en-US" altLang="ko-KR" dirty="0"/>
              <a:t>, </a:t>
            </a:r>
            <a:r>
              <a:rPr lang="ko-KR" altLang="en-US" dirty="0"/>
              <a:t>그 이상의 표현력을 </a:t>
            </a:r>
            <a:r>
              <a:rPr lang="ko-KR" altLang="en-US" dirty="0" err="1"/>
              <a:t>가질수</a:t>
            </a:r>
            <a:r>
              <a:rPr lang="ko-KR" altLang="en-US" dirty="0"/>
              <a:t> 있다고 생각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그런데 지금은 이상하게 깊을수록 </a:t>
            </a:r>
            <a:r>
              <a:rPr lang="en-US" altLang="ko-KR" dirty="0"/>
              <a:t>training error</a:t>
            </a:r>
            <a:r>
              <a:rPr lang="ko-KR" altLang="en-US" dirty="0"/>
              <a:t>가 더 커짐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en-US" altLang="ko-KR" dirty="0"/>
              <a:t>=&gt; </a:t>
            </a:r>
            <a:r>
              <a:rPr lang="ko-KR" altLang="en-US" dirty="0"/>
              <a:t>지금은 모델이 </a:t>
            </a:r>
            <a:r>
              <a:rPr lang="en-US" altLang="ko-KR" dirty="0"/>
              <a:t>identity mapping</a:t>
            </a:r>
            <a:r>
              <a:rPr lang="ko-KR" altLang="en-US" dirty="0"/>
              <a:t>을 만들기 힘들어 한다는 증거</a:t>
            </a:r>
            <a:r>
              <a:rPr lang="en-US" altLang="ko-KR" dirty="0"/>
              <a:t>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따라서 모델이 층을 학습할 때 </a:t>
            </a:r>
            <a:r>
              <a:rPr lang="en-US" altLang="ko-KR" dirty="0"/>
              <a:t>identity mapping</a:t>
            </a:r>
            <a:r>
              <a:rPr lang="ko-KR" altLang="en-US" dirty="0"/>
              <a:t>도 잘 만들 수 있게 </a:t>
            </a:r>
            <a:r>
              <a:rPr lang="ko-KR" altLang="en-US" dirty="0" err="1"/>
              <a:t>해야한다</a:t>
            </a:r>
            <a:r>
              <a:rPr lang="en-US" altLang="ko-KR" dirty="0"/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b="1" dirty="0"/>
              <a:t>Shortcut connection</a:t>
            </a:r>
            <a:r>
              <a:rPr lang="ko-KR" altLang="en-US" b="1" dirty="0"/>
              <a:t>을 제안</a:t>
            </a:r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EFBA5E-D9EE-874F-12E7-176F7C97A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378" y="272716"/>
            <a:ext cx="5668166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0F323-7E42-2C44-2FBB-DB37EC6D1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7C5D63-1C2E-B788-0C8A-EA3918C7D399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B435F-5EB9-D301-1A07-4D69D48CAF4F}"/>
              </a:ext>
            </a:extLst>
          </p:cNvPr>
          <p:cNvSpPr txBox="1"/>
          <p:nvPr/>
        </p:nvSpPr>
        <p:spPr>
          <a:xfrm>
            <a:off x="1163052" y="272716"/>
            <a:ext cx="239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ResNet</a:t>
            </a:r>
            <a:r>
              <a:rPr lang="ko-KR" altLang="en-US" sz="2800" b="1" dirty="0">
                <a:solidFill>
                  <a:srgbClr val="00B0F0"/>
                </a:solidFill>
              </a:rPr>
              <a:t> 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C0CF418-DC87-B465-1583-C7E207D0A6D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1687934-1479-E051-DA41-C68AFE653522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677858-8181-3635-9397-4947E4135A2E}"/>
              </a:ext>
            </a:extLst>
          </p:cNvPr>
          <p:cNvSpPr txBox="1"/>
          <p:nvPr/>
        </p:nvSpPr>
        <p:spPr>
          <a:xfrm>
            <a:off x="1163052" y="1463695"/>
            <a:ext cx="263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skip-connection</a:t>
            </a:r>
            <a:endParaRPr lang="en-US" altLang="ko-KR" dirty="0"/>
          </a:p>
        </p:txBody>
      </p:sp>
      <p:pic>
        <p:nvPicPr>
          <p:cNvPr id="1026" name="Picture 2" descr="Skip-Connection">
            <a:extLst>
              <a:ext uri="{FF2B5EF4-FFF2-40B4-BE49-F238E27FC236}">
                <a16:creationId xmlns:a16="http://schemas.microsoft.com/office/drawing/2014/main" id="{A14D310B-04AF-67B7-AF2F-03792FD36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421" y="725965"/>
            <a:ext cx="4005409" cy="228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A5BFA3-6273-2CFF-CD6E-2A688F7E6A96}"/>
              </a:ext>
            </a:extLst>
          </p:cNvPr>
          <p:cNvSpPr txBox="1"/>
          <p:nvPr/>
        </p:nvSpPr>
        <p:spPr>
          <a:xfrm>
            <a:off x="881374" y="2269953"/>
            <a:ext cx="72638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x</a:t>
            </a:r>
            <a:r>
              <a:rPr lang="ko-KR" altLang="en-US" dirty="0"/>
              <a:t>가 들어와서 </a:t>
            </a:r>
            <a:r>
              <a:rPr lang="en-US" altLang="ko-KR" dirty="0"/>
              <a:t>F(x)</a:t>
            </a:r>
            <a:r>
              <a:rPr lang="ko-KR" altLang="en-US" dirty="0"/>
              <a:t>가 </a:t>
            </a:r>
            <a:r>
              <a:rPr lang="ko-KR" altLang="en-US" dirty="0" err="1"/>
              <a:t>나가는게</a:t>
            </a:r>
            <a:r>
              <a:rPr lang="ko-KR" altLang="en-US" dirty="0"/>
              <a:t> 기존</a:t>
            </a:r>
            <a:br>
              <a:rPr lang="en-US" altLang="ko-KR" dirty="0"/>
            </a:br>
            <a:r>
              <a:rPr lang="en-US" altLang="ko-KR" dirty="0" err="1"/>
              <a:t>x+F</a:t>
            </a:r>
            <a:r>
              <a:rPr lang="en-US" altLang="ko-KR" dirty="0"/>
              <a:t>(x)</a:t>
            </a:r>
            <a:r>
              <a:rPr lang="ko-KR" altLang="en-US" dirty="0"/>
              <a:t>가 나가게끔 </a:t>
            </a:r>
            <a:r>
              <a:rPr lang="ko-KR" altLang="en-US" dirty="0" err="1"/>
              <a:t>연결해주는게</a:t>
            </a:r>
            <a:r>
              <a:rPr lang="ko-KR" altLang="en-US" dirty="0"/>
              <a:t> </a:t>
            </a:r>
            <a:r>
              <a:rPr lang="en-US" altLang="ko-KR" dirty="0"/>
              <a:t>skip-connection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x</a:t>
            </a:r>
            <a:r>
              <a:rPr lang="ko-KR" altLang="en-US" dirty="0"/>
              <a:t>로 </a:t>
            </a:r>
            <a:r>
              <a:rPr lang="en-US" altLang="ko-KR" dirty="0"/>
              <a:t>H(x) = x (identity mapping)</a:t>
            </a:r>
            <a:r>
              <a:rPr lang="ko-KR" altLang="en-US" dirty="0"/>
              <a:t>을 만들고 싶다고 </a:t>
            </a:r>
            <a:r>
              <a:rPr lang="ko-KR" altLang="en-US" dirty="0" err="1"/>
              <a:t>가정할때</a:t>
            </a:r>
            <a:br>
              <a:rPr lang="en-US" altLang="ko-KR" dirty="0"/>
            </a:br>
            <a:r>
              <a:rPr lang="en-US" altLang="ko-KR" dirty="0"/>
              <a:t>skip-connection </a:t>
            </a:r>
            <a:r>
              <a:rPr lang="ko-KR" altLang="en-US" dirty="0"/>
              <a:t>없는 </a:t>
            </a:r>
            <a:r>
              <a:rPr lang="en-US" altLang="ko-KR" dirty="0"/>
              <a:t>MLP</a:t>
            </a:r>
            <a:r>
              <a:rPr lang="ko-KR" altLang="en-US" dirty="0"/>
              <a:t>라면 </a:t>
            </a:r>
            <a:r>
              <a:rPr lang="en-US" altLang="ko-KR" dirty="0"/>
              <a:t>weight matrix -&gt; </a:t>
            </a:r>
            <a:r>
              <a:rPr lang="ko-KR" altLang="en-US" dirty="0" err="1"/>
              <a:t>항등행렬</a:t>
            </a:r>
            <a:br>
              <a:rPr lang="en-US" altLang="ko-KR" dirty="0"/>
            </a:br>
            <a:r>
              <a:rPr lang="en-US" altLang="ko-KR" dirty="0"/>
              <a:t>skip-connection </a:t>
            </a:r>
            <a:r>
              <a:rPr lang="ko-KR" altLang="en-US" dirty="0"/>
              <a:t>있는 </a:t>
            </a:r>
            <a:r>
              <a:rPr lang="en-US" altLang="ko-KR" dirty="0"/>
              <a:t>MLP</a:t>
            </a:r>
            <a:r>
              <a:rPr lang="ko-KR" altLang="en-US" dirty="0"/>
              <a:t>라면 </a:t>
            </a:r>
            <a:r>
              <a:rPr lang="en-US" altLang="ko-KR" dirty="0"/>
              <a:t>weight matrix -&gt; 0000…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Weight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근처로 초기화 되기 때문에 </a:t>
            </a:r>
            <a:r>
              <a:rPr lang="en-US" altLang="ko-KR" dirty="0"/>
              <a:t>skip-connection</a:t>
            </a:r>
            <a:r>
              <a:rPr lang="ko-KR" altLang="en-US" dirty="0"/>
              <a:t>이 있을 때 더 쉽게 만들 수 있음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왜 </a:t>
            </a:r>
            <a:r>
              <a:rPr lang="en-US" altLang="ko-KR" dirty="0"/>
              <a:t>H(x) </a:t>
            </a:r>
            <a:r>
              <a:rPr lang="ko-KR" altLang="en-US" dirty="0"/>
              <a:t>가 </a:t>
            </a:r>
            <a:r>
              <a:rPr lang="en-US" altLang="ko-KR" dirty="0"/>
              <a:t>x</a:t>
            </a:r>
            <a:r>
              <a:rPr lang="ko-KR" altLang="en-US" dirty="0"/>
              <a:t>를 </a:t>
            </a:r>
            <a:r>
              <a:rPr lang="ko-KR" altLang="en-US" dirty="0" err="1"/>
              <a:t>만들어야함</a:t>
            </a:r>
            <a:r>
              <a:rPr lang="en-US" altLang="ko-KR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깊을수록 </a:t>
            </a:r>
            <a:r>
              <a:rPr lang="en-US" altLang="ko-KR" dirty="0"/>
              <a:t>training error </a:t>
            </a:r>
            <a:r>
              <a:rPr lang="ko-KR" altLang="en-US" dirty="0"/>
              <a:t>커짐 문제 해결 가능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63227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9787B-B1D8-B43A-4F81-7BA48B98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2ED070-33F8-DF1A-2D29-F0BAAA39E3D6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8E799-C0B4-1EE7-92F3-A039675A5E83}"/>
              </a:ext>
            </a:extLst>
          </p:cNvPr>
          <p:cNvSpPr txBox="1"/>
          <p:nvPr/>
        </p:nvSpPr>
        <p:spPr>
          <a:xfrm>
            <a:off x="1163052" y="272716"/>
            <a:ext cx="239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ResNet</a:t>
            </a:r>
            <a:r>
              <a:rPr lang="ko-KR" altLang="en-US" sz="2800" b="1" dirty="0">
                <a:solidFill>
                  <a:srgbClr val="00B0F0"/>
                </a:solidFill>
              </a:rPr>
              <a:t> 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3350FAC-99F6-AF22-863E-B56E0602661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7363ADA-64B8-4FD5-CD8D-8CC4A4FAE5D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507F5C-F9F1-9B67-53A8-751ED41CDFD6}"/>
              </a:ext>
            </a:extLst>
          </p:cNvPr>
          <p:cNvSpPr txBox="1"/>
          <p:nvPr/>
        </p:nvSpPr>
        <p:spPr>
          <a:xfrm>
            <a:off x="1163052" y="1463695"/>
            <a:ext cx="263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ResNet</a:t>
            </a:r>
            <a:r>
              <a:rPr lang="ko-KR" altLang="en-US" sz="2400" b="1" dirty="0"/>
              <a:t>의 </a:t>
            </a:r>
            <a:r>
              <a:rPr lang="en-US" altLang="ko-KR" sz="2400" b="1" dirty="0"/>
              <a:t>‘</a:t>
            </a:r>
            <a:r>
              <a:rPr lang="ko-KR" altLang="en-US" sz="2400" b="1" dirty="0"/>
              <a:t>귀띔</a:t>
            </a:r>
            <a:r>
              <a:rPr lang="en-US" altLang="ko-KR" sz="2400" b="1" dirty="0"/>
              <a:t>＇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B3CC2C-5818-64B0-090C-895BA2C25666}"/>
              </a:ext>
            </a:extLst>
          </p:cNvPr>
          <p:cNvSpPr txBox="1"/>
          <p:nvPr/>
        </p:nvSpPr>
        <p:spPr>
          <a:xfrm>
            <a:off x="881374" y="2269953"/>
            <a:ext cx="110620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엄청 깊다면 입력으로부터 차근차근 조금씩 값을 </a:t>
            </a:r>
            <a:r>
              <a:rPr lang="ko-KR" altLang="en-US" dirty="0" err="1"/>
              <a:t>바꿔나가는게</a:t>
            </a:r>
            <a:r>
              <a:rPr lang="ko-KR" altLang="en-US" dirty="0"/>
              <a:t> </a:t>
            </a:r>
            <a:r>
              <a:rPr lang="ko-KR" altLang="en-US" dirty="0" err="1"/>
              <a:t>이상적일것이다</a:t>
            </a:r>
            <a:br>
              <a:rPr lang="en-US" altLang="ko-KR" dirty="0"/>
            </a:br>
            <a:r>
              <a:rPr lang="ko-KR" altLang="en-US" dirty="0" err="1"/>
              <a:t>예를들어서</a:t>
            </a:r>
            <a:r>
              <a:rPr lang="ko-KR" altLang="en-US" dirty="0"/>
              <a:t> 잘 학습된 </a:t>
            </a:r>
            <a:r>
              <a:rPr lang="en-US" altLang="ko-KR" dirty="0"/>
              <a:t>ResNet-50</a:t>
            </a:r>
            <a:r>
              <a:rPr lang="ko-KR" altLang="en-US" dirty="0"/>
              <a:t>은 </a:t>
            </a:r>
            <a:r>
              <a:rPr lang="en-US" altLang="ko-KR" dirty="0"/>
              <a:t>34-&gt;36</a:t>
            </a:r>
            <a:r>
              <a:rPr lang="ko-KR" altLang="en-US" dirty="0"/>
              <a:t>층 갈 때 값의 변화가 크지 않을 것이다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즉 </a:t>
            </a:r>
            <a:r>
              <a:rPr lang="en-US" altLang="ko-KR" dirty="0"/>
              <a:t>: H(x) ≈ 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skip-</a:t>
            </a:r>
            <a:r>
              <a:rPr lang="en-US" altLang="ko-KR" dirty="0" err="1"/>
              <a:t>connectio</a:t>
            </a:r>
            <a:r>
              <a:rPr lang="ko-KR" altLang="en-US" dirty="0"/>
              <a:t>이 있을 때는 </a:t>
            </a:r>
            <a:r>
              <a:rPr lang="en-US" altLang="ko-KR" dirty="0"/>
              <a:t>x</a:t>
            </a:r>
            <a:r>
              <a:rPr lang="ko-KR" altLang="en-US" dirty="0"/>
              <a:t>와 비슷한 출력을 잘 만들어내기 때문에</a:t>
            </a:r>
            <a:br>
              <a:rPr lang="en-US" altLang="ko-KR" dirty="0"/>
            </a:br>
            <a:r>
              <a:rPr lang="en-US" altLang="ko-KR" dirty="0"/>
              <a:t>skip-</a:t>
            </a:r>
            <a:r>
              <a:rPr lang="en-US" altLang="ko-KR" dirty="0" err="1"/>
              <a:t>connectio</a:t>
            </a:r>
            <a:r>
              <a:rPr lang="ko-KR" altLang="en-US" dirty="0"/>
              <a:t>을 연결해 준다는 것은 </a:t>
            </a:r>
            <a:r>
              <a:rPr lang="en-US" altLang="ko-KR" dirty="0"/>
              <a:t>“</a:t>
            </a:r>
            <a:r>
              <a:rPr lang="ko-KR" altLang="en-US" dirty="0"/>
              <a:t>값의 변화가 그리 크지 않은 게 좋을 테니</a:t>
            </a:r>
            <a:br>
              <a:rPr lang="en-US" altLang="ko-KR" dirty="0"/>
            </a:br>
            <a:r>
              <a:rPr lang="en-US" altLang="ko-KR" dirty="0"/>
              <a:t>block </a:t>
            </a:r>
            <a:r>
              <a:rPr lang="ko-KR" altLang="en-US" dirty="0"/>
              <a:t>하나에서 모든 걸 다 하려고 하지 </a:t>
            </a:r>
            <a:r>
              <a:rPr lang="en-US" altLang="ko-KR" dirty="0"/>
              <a:t>a</a:t>
            </a:r>
            <a:r>
              <a:rPr lang="ko-KR" altLang="en-US" dirty="0"/>
              <a:t>라고 조금씩만 바꿔 나가라</a:t>
            </a:r>
            <a:r>
              <a:rPr lang="en-US" altLang="ko-KR" dirty="0"/>
              <a:t>“ </a:t>
            </a:r>
            <a:r>
              <a:rPr lang="ko-KR" altLang="en-US" dirty="0"/>
              <a:t>라고 </a:t>
            </a:r>
            <a:r>
              <a:rPr lang="en-US" altLang="ko-KR" dirty="0"/>
              <a:t>AI</a:t>
            </a:r>
            <a:r>
              <a:rPr lang="ko-KR" altLang="en-US" dirty="0"/>
              <a:t>에게 귀띔 해주는 셈</a:t>
            </a:r>
            <a:r>
              <a:rPr lang="en-US" altLang="ko-KR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깊을수록 </a:t>
            </a:r>
            <a:r>
              <a:rPr lang="en-US" altLang="ko-KR" dirty="0"/>
              <a:t>std(</a:t>
            </a:r>
            <a:r>
              <a:rPr lang="ko-KR" altLang="en-US" dirty="0"/>
              <a:t>분산</a:t>
            </a:r>
            <a:r>
              <a:rPr lang="en-US" altLang="ko-KR" dirty="0"/>
              <a:t>)</a:t>
            </a:r>
            <a:r>
              <a:rPr lang="ko-KR" altLang="en-US" dirty="0"/>
              <a:t>가 더 작다는 실험 결과도 존재함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1498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C2B6-D4FE-C612-DDF5-77268CFA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C9A26D-29BC-A810-FA9E-99AF96E750B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16D1D-BE80-6D60-06A4-9DD08E7B0588}"/>
              </a:ext>
            </a:extLst>
          </p:cNvPr>
          <p:cNvSpPr txBox="1"/>
          <p:nvPr/>
        </p:nvSpPr>
        <p:spPr>
          <a:xfrm>
            <a:off x="1163052" y="272716"/>
            <a:ext cx="239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ResNet</a:t>
            </a:r>
            <a:r>
              <a:rPr lang="ko-KR" altLang="en-US" sz="2800" b="1" dirty="0">
                <a:solidFill>
                  <a:srgbClr val="00B0F0"/>
                </a:solidFill>
              </a:rPr>
              <a:t> 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D6F8031-7A66-32E6-AEFF-C485A0F5193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8801633-5A1A-553E-4155-DF98808A9E72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C1E101A-989A-607A-65B3-7079AF68B3D7}"/>
              </a:ext>
            </a:extLst>
          </p:cNvPr>
          <p:cNvSpPr txBox="1"/>
          <p:nvPr/>
        </p:nvSpPr>
        <p:spPr>
          <a:xfrm>
            <a:off x="1163052" y="1463695"/>
            <a:ext cx="7530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Residual </a:t>
            </a:r>
            <a:r>
              <a:rPr lang="en-US" altLang="ko-KR" sz="2400" b="1" dirty="0" err="1"/>
              <a:t>Laerning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88AC7-3D2C-3C15-98FF-AAF35C9EF2BA}"/>
              </a:ext>
            </a:extLst>
          </p:cNvPr>
          <p:cNvSpPr txBox="1"/>
          <p:nvPr/>
        </p:nvSpPr>
        <p:spPr>
          <a:xfrm>
            <a:off x="1163052" y="2152995"/>
            <a:ext cx="8712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차이만을 학습한다고 해서 </a:t>
            </a:r>
            <a:r>
              <a:rPr lang="ko-KR" altLang="en-US" dirty="0" err="1"/>
              <a:t>잔차</a:t>
            </a:r>
            <a:r>
              <a:rPr lang="en-US" altLang="ko-KR" dirty="0"/>
              <a:t>(residual)</a:t>
            </a:r>
            <a:r>
              <a:rPr lang="ko-KR" altLang="en-US" dirty="0"/>
              <a:t>학습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변화량만 학습하면 되니까 학습이 쉽다</a:t>
            </a:r>
            <a:r>
              <a:rPr lang="en-US" altLang="ko-KR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BN </a:t>
            </a:r>
            <a:r>
              <a:rPr lang="ko-KR" altLang="en-US" dirty="0" err="1"/>
              <a:t>쓸때는</a:t>
            </a:r>
            <a:r>
              <a:rPr lang="en-US" altLang="ko-KR" dirty="0"/>
              <a:t>? x-&gt; conv -&gt; BN -&gt; </a:t>
            </a:r>
            <a:r>
              <a:rPr lang="en-US" altLang="ko-KR" dirty="0" err="1"/>
              <a:t>ReLU</a:t>
            </a:r>
            <a:r>
              <a:rPr lang="en-US" altLang="ko-KR" dirty="0"/>
              <a:t> -&gt; conv -&gt; BN -&gt;</a:t>
            </a:r>
            <a:r>
              <a:rPr lang="en-US" altLang="ko-KR" b="1" dirty="0">
                <a:solidFill>
                  <a:srgbClr val="FF0000"/>
                </a:solidFill>
              </a:rPr>
              <a:t> +x </a:t>
            </a:r>
            <a:r>
              <a:rPr lang="en-US" altLang="ko-KR" dirty="0"/>
              <a:t>-&gt; </a:t>
            </a:r>
            <a:r>
              <a:rPr lang="en-US" altLang="ko-KR" dirty="0" err="1"/>
              <a:t>ReLU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ReLU</a:t>
            </a:r>
            <a:r>
              <a:rPr lang="ko-KR" altLang="en-US" dirty="0"/>
              <a:t>뒤에 </a:t>
            </a:r>
            <a:r>
              <a:rPr lang="en-US" altLang="ko-KR" dirty="0"/>
              <a:t>+x </a:t>
            </a:r>
            <a:r>
              <a:rPr lang="ko-KR" altLang="en-US" dirty="0" err="1"/>
              <a:t>하게되면</a:t>
            </a:r>
            <a:r>
              <a:rPr lang="ko-KR" altLang="en-US" dirty="0"/>
              <a:t> 양수들만 더하게 되어서 </a:t>
            </a:r>
            <a:r>
              <a:rPr lang="ko-KR" altLang="en-US" dirty="0" err="1"/>
              <a:t>별로임</a:t>
            </a:r>
            <a:endParaRPr lang="en-US" altLang="ko-KR" dirty="0"/>
          </a:p>
        </p:txBody>
      </p:sp>
      <p:pic>
        <p:nvPicPr>
          <p:cNvPr id="3" name="Picture 2" descr="Skip-Connection">
            <a:extLst>
              <a:ext uri="{FF2B5EF4-FFF2-40B4-BE49-F238E27FC236}">
                <a16:creationId xmlns:a16="http://schemas.microsoft.com/office/drawing/2014/main" id="{4039281E-41BE-241C-6739-025EBEAFA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984" y="3584043"/>
            <a:ext cx="4005409" cy="228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FF2736-9849-2581-4ED7-41DBCDA12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64" y="3470282"/>
            <a:ext cx="2048161" cy="4953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B43E40D-430C-5D69-CA5A-0DC36E1AB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957" y="4016384"/>
            <a:ext cx="2114845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E2E3-D802-90BC-1841-A7169C08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41067-3C56-9793-7A68-377C39573D9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6F1EC-0B59-916D-CD70-D6064E1647ED}"/>
              </a:ext>
            </a:extLst>
          </p:cNvPr>
          <p:cNvSpPr txBox="1"/>
          <p:nvPr/>
        </p:nvSpPr>
        <p:spPr>
          <a:xfrm>
            <a:off x="1163052" y="272716"/>
            <a:ext cx="239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ResNet</a:t>
            </a:r>
            <a:r>
              <a:rPr lang="ko-KR" altLang="en-US" sz="2800" b="1" dirty="0">
                <a:solidFill>
                  <a:srgbClr val="00B0F0"/>
                </a:solidFill>
              </a:rPr>
              <a:t> 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F75AA0A-80F0-360D-8553-31D588193A2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BDE14B5-25F0-442B-F5A5-934FDC7E880E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512433D-DD6B-BEAB-ACC9-5EBB56C97E74}"/>
              </a:ext>
            </a:extLst>
          </p:cNvPr>
          <p:cNvSpPr txBox="1"/>
          <p:nvPr/>
        </p:nvSpPr>
        <p:spPr>
          <a:xfrm>
            <a:off x="5669807" y="548286"/>
            <a:ext cx="848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구조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B64C2B-FF7A-408D-DD78-30556A9C5A38}"/>
              </a:ext>
            </a:extLst>
          </p:cNvPr>
          <p:cNvSpPr txBox="1"/>
          <p:nvPr/>
        </p:nvSpPr>
        <p:spPr>
          <a:xfrm>
            <a:off x="783638" y="1102343"/>
            <a:ext cx="10493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사이즈 줄일 때 </a:t>
            </a:r>
            <a:r>
              <a:rPr lang="en-US" altLang="ko-KR" dirty="0"/>
              <a:t>pooling </a:t>
            </a:r>
            <a:r>
              <a:rPr lang="ko-KR" altLang="en-US" dirty="0"/>
              <a:t>대신 </a:t>
            </a:r>
            <a:r>
              <a:rPr lang="en-US" altLang="ko-KR" dirty="0"/>
              <a:t>stride 2</a:t>
            </a:r>
            <a:r>
              <a:rPr lang="ko-KR" altLang="en-US" dirty="0"/>
              <a:t>를 이용하여 줄인다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점선은 </a:t>
            </a:r>
            <a:r>
              <a:rPr lang="en-US" altLang="ko-KR" dirty="0"/>
              <a:t>1x1 conv </a:t>
            </a:r>
            <a:r>
              <a:rPr lang="ko-KR" altLang="en-US" dirty="0"/>
              <a:t>통과 후 더함 </a:t>
            </a:r>
            <a:r>
              <a:rPr lang="en-US" altLang="ko-KR" dirty="0"/>
              <a:t>-&gt; </a:t>
            </a:r>
            <a:r>
              <a:rPr lang="ko-KR" altLang="en-US" dirty="0"/>
              <a:t>기존 값 들도 </a:t>
            </a:r>
            <a:r>
              <a:rPr lang="en-US" altLang="ko-KR" dirty="0"/>
              <a:t>stride 2 </a:t>
            </a:r>
            <a:r>
              <a:rPr lang="ko-KR" altLang="en-US" dirty="0"/>
              <a:t>이용</a:t>
            </a:r>
            <a:r>
              <a:rPr lang="en-US" altLang="ko-KR" dirty="0"/>
              <a:t> + </a:t>
            </a:r>
            <a:r>
              <a:rPr lang="ko-KR" altLang="en-US" dirty="0" err="1"/>
              <a:t>채널수</a:t>
            </a:r>
            <a:r>
              <a:rPr lang="ko-KR" altLang="en-US" dirty="0"/>
              <a:t> 조정 사이즈 맞춰 줌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63F61AE-EF90-CEBC-8A82-56FB3130E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65800" y="-1270604"/>
            <a:ext cx="4838044" cy="10980429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15B712E2-B396-A3E4-6C28-7283B1639EAB}"/>
              </a:ext>
            </a:extLst>
          </p:cNvPr>
          <p:cNvSpPr/>
          <p:nvPr/>
        </p:nvSpPr>
        <p:spPr>
          <a:xfrm>
            <a:off x="4019550" y="2619375"/>
            <a:ext cx="247650" cy="2476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2524A63-3D66-9F9B-9F95-4575E2EA8078}"/>
              </a:ext>
            </a:extLst>
          </p:cNvPr>
          <p:cNvSpPr/>
          <p:nvPr/>
        </p:nvSpPr>
        <p:spPr>
          <a:xfrm>
            <a:off x="6050553" y="2609558"/>
            <a:ext cx="247650" cy="2476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294DC13-FDD7-FAF5-3EC3-9CB4AB0DCD87}"/>
              </a:ext>
            </a:extLst>
          </p:cNvPr>
          <p:cNvSpPr/>
          <p:nvPr/>
        </p:nvSpPr>
        <p:spPr>
          <a:xfrm>
            <a:off x="9123953" y="2619375"/>
            <a:ext cx="247650" cy="2476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250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D2B1-ACF7-3FCC-22F9-81B54DB2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7BC46-0C27-7BE5-B3B9-9F2E4601913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54E0D-8CA8-CE82-9882-59F40547285C}"/>
              </a:ext>
            </a:extLst>
          </p:cNvPr>
          <p:cNvSpPr txBox="1"/>
          <p:nvPr/>
        </p:nvSpPr>
        <p:spPr>
          <a:xfrm>
            <a:off x="1163052" y="272716"/>
            <a:ext cx="239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ResNet</a:t>
            </a:r>
            <a:r>
              <a:rPr lang="ko-KR" altLang="en-US" sz="2800" b="1" dirty="0">
                <a:solidFill>
                  <a:srgbClr val="00B0F0"/>
                </a:solidFill>
              </a:rPr>
              <a:t> 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93BA95-77B1-6B92-ED74-1E07E9EF565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2328D30-BC68-41C0-FC03-87C7CB8D303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BB288B-0657-1F35-C831-F9777A0679ED}"/>
              </a:ext>
            </a:extLst>
          </p:cNvPr>
          <p:cNvSpPr txBox="1"/>
          <p:nvPr/>
        </p:nvSpPr>
        <p:spPr>
          <a:xfrm>
            <a:off x="5109845" y="651496"/>
            <a:ext cx="1841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Bottleneck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7EB163-31FF-2021-908B-3430005805E1}"/>
              </a:ext>
            </a:extLst>
          </p:cNvPr>
          <p:cNvSpPr txBox="1"/>
          <p:nvPr/>
        </p:nvSpPr>
        <p:spPr>
          <a:xfrm>
            <a:off x="783638" y="1397618"/>
            <a:ext cx="104939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</a:t>
            </a:r>
            <a:r>
              <a:rPr lang="ko-KR" altLang="en-US" dirty="0"/>
              <a:t>층 이상 깊은 </a:t>
            </a:r>
            <a:r>
              <a:rPr lang="en-US" altLang="ko-KR" dirty="0" err="1"/>
              <a:t>ResNet</a:t>
            </a:r>
            <a:r>
              <a:rPr lang="ko-KR" altLang="en-US" dirty="0"/>
              <a:t>에선 </a:t>
            </a:r>
            <a:r>
              <a:rPr lang="en-US" altLang="ko-KR" dirty="0"/>
              <a:t>Bottleneck </a:t>
            </a:r>
            <a:r>
              <a:rPr lang="ko-KR" altLang="en-US" dirty="0"/>
              <a:t>구조 사용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en-US" altLang="ko-KR" dirty="0"/>
              <a:t>block</a:t>
            </a:r>
            <a:r>
              <a:rPr lang="ko-KR" altLang="en-US" dirty="0"/>
              <a:t> 처럼 </a:t>
            </a:r>
            <a:r>
              <a:rPr lang="en-US" altLang="ko-KR" dirty="0"/>
              <a:t>3x3</a:t>
            </a:r>
            <a:r>
              <a:rPr lang="ko-KR" altLang="en-US" dirty="0"/>
              <a:t>만 사용하면 파라미터 수 </a:t>
            </a:r>
            <a:r>
              <a:rPr lang="ko-KR" altLang="en-US" dirty="0" err="1"/>
              <a:t>많아짐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1x1</a:t>
            </a:r>
            <a:r>
              <a:rPr lang="ko-KR" altLang="en-US" dirty="0"/>
              <a:t>로 채널 수 줄인 다음 </a:t>
            </a:r>
            <a:r>
              <a:rPr lang="en-US" altLang="ko-KR" dirty="0"/>
              <a:t>3x3 </a:t>
            </a:r>
            <a:r>
              <a:rPr lang="ko-KR" altLang="en-US" dirty="0"/>
              <a:t>통과시키고 다시 </a:t>
            </a:r>
            <a:r>
              <a:rPr lang="en-US" altLang="ko-KR" dirty="0"/>
              <a:t>1x1 </a:t>
            </a:r>
            <a:r>
              <a:rPr lang="ko-KR" altLang="en-US" dirty="0" err="1"/>
              <a:t>채널수</a:t>
            </a:r>
            <a:r>
              <a:rPr lang="ko-KR" altLang="en-US" dirty="0"/>
              <a:t> 키움</a:t>
            </a:r>
            <a:br>
              <a:rPr lang="en-US" altLang="ko-KR" dirty="0"/>
            </a:br>
            <a:r>
              <a:rPr lang="en-US" altLang="ko-KR" dirty="0"/>
              <a:t>(1x1</a:t>
            </a:r>
            <a:r>
              <a:rPr lang="ko-KR" altLang="en-US" dirty="0"/>
              <a:t>로 채널 수 조절</a:t>
            </a:r>
            <a:r>
              <a:rPr lang="en-US" altLang="ko-KR" dirty="0"/>
              <a:t>, 3x3</a:t>
            </a:r>
            <a:r>
              <a:rPr lang="ko-KR" altLang="en-US" dirty="0"/>
              <a:t>으로 공간 정보를 보도록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256 -&gt; 64 -&gt; 256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4E860A-FABE-E06A-9EB5-0721E546C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506" y="3124203"/>
            <a:ext cx="6001588" cy="2410161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2B7ED572-C133-7A9D-8BF6-387D2DED8312}"/>
              </a:ext>
            </a:extLst>
          </p:cNvPr>
          <p:cNvGrpSpPr/>
          <p:nvPr/>
        </p:nvGrpSpPr>
        <p:grpSpPr>
          <a:xfrm>
            <a:off x="7991325" y="3019185"/>
            <a:ext cx="3459600" cy="3017520"/>
            <a:chOff x="7991325" y="2885835"/>
            <a:chExt cx="3459600" cy="30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7013CD9-B41D-9952-6F4F-70D96A73C4AF}"/>
                    </a:ext>
                  </a:extLst>
                </p14:cNvPr>
                <p14:cNvContentPartPr/>
                <p14:nvPr/>
              </p14:nvContentPartPr>
              <p14:xfrm>
                <a:off x="8629245" y="3094635"/>
                <a:ext cx="663120" cy="3564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7013CD9-B41D-9952-6F4F-70D96A73C4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23125" y="3088515"/>
                  <a:ext cx="6753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4A0B899-2EDD-0812-45B3-494CA4B89DE2}"/>
                    </a:ext>
                  </a:extLst>
                </p14:cNvPr>
                <p14:cNvContentPartPr/>
                <p14:nvPr/>
              </p14:nvContentPartPr>
              <p14:xfrm>
                <a:off x="9208125" y="3057555"/>
                <a:ext cx="300240" cy="4676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4A0B899-2EDD-0812-45B3-494CA4B89D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02005" y="3051435"/>
                  <a:ext cx="3124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95F854A-7E15-77AD-6135-417CAA303ECC}"/>
                    </a:ext>
                  </a:extLst>
                </p14:cNvPr>
                <p14:cNvContentPartPr/>
                <p14:nvPr/>
              </p14:nvContentPartPr>
              <p14:xfrm>
                <a:off x="9229725" y="3104715"/>
                <a:ext cx="399240" cy="198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95F854A-7E15-77AD-6135-417CAA303E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23605" y="3098595"/>
                  <a:ext cx="411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6EB24E3-3609-7F18-7B4D-59E6D6BBC15A}"/>
                    </a:ext>
                  </a:extLst>
                </p14:cNvPr>
                <p14:cNvContentPartPr/>
                <p14:nvPr/>
              </p14:nvContentPartPr>
              <p14:xfrm>
                <a:off x="9744885" y="3019395"/>
                <a:ext cx="316440" cy="5263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6EB24E3-3609-7F18-7B4D-59E6D6BBC1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38765" y="3013275"/>
                  <a:ext cx="32868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ADAD335-7B91-3479-491A-D2C8DAFE7496}"/>
                    </a:ext>
                  </a:extLst>
                </p14:cNvPr>
                <p14:cNvContentPartPr/>
                <p14:nvPr/>
              </p14:nvContentPartPr>
              <p14:xfrm>
                <a:off x="9074925" y="3885915"/>
                <a:ext cx="289080" cy="3438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ADAD335-7B91-3479-491A-D2C8DAFE74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68805" y="3879795"/>
                  <a:ext cx="3013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F7AAA73-092D-D9EF-12CC-5952036FE24A}"/>
                    </a:ext>
                  </a:extLst>
                </p14:cNvPr>
                <p14:cNvContentPartPr/>
                <p14:nvPr/>
              </p14:nvContentPartPr>
              <p14:xfrm>
                <a:off x="9461925" y="3895635"/>
                <a:ext cx="304920" cy="2397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F7AAA73-092D-D9EF-12CC-5952036FE2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55805" y="3889515"/>
                  <a:ext cx="317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C81964D-8869-3BA6-356D-975E50C6A73D}"/>
                    </a:ext>
                  </a:extLst>
                </p14:cNvPr>
                <p14:cNvContentPartPr/>
                <p14:nvPr/>
              </p14:nvContentPartPr>
              <p14:xfrm>
                <a:off x="9666405" y="3971955"/>
                <a:ext cx="11160" cy="3610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C81964D-8869-3BA6-356D-975E50C6A7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60285" y="3965835"/>
                  <a:ext cx="234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918BF4E-AB94-A701-12E5-2CBC1D2DAB77}"/>
                    </a:ext>
                  </a:extLst>
                </p14:cNvPr>
                <p14:cNvContentPartPr/>
                <p14:nvPr/>
              </p14:nvContentPartPr>
              <p14:xfrm>
                <a:off x="8603685" y="4707075"/>
                <a:ext cx="530280" cy="3988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918BF4E-AB94-A701-12E5-2CBC1D2DAB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97565" y="4700955"/>
                  <a:ext cx="5425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06ABB6EB-C4B2-682B-69D7-21C54F47F705}"/>
                    </a:ext>
                  </a:extLst>
                </p14:cNvPr>
                <p14:cNvContentPartPr/>
                <p14:nvPr/>
              </p14:nvContentPartPr>
              <p14:xfrm>
                <a:off x="9239085" y="4695555"/>
                <a:ext cx="401760" cy="5036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06ABB6EB-C4B2-682B-69D7-21C54F47F7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32965" y="4689435"/>
                  <a:ext cx="41400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72EA0DD-9D6E-1870-A509-EC5F8C4DCCF7}"/>
                    </a:ext>
                  </a:extLst>
                </p14:cNvPr>
                <p14:cNvContentPartPr/>
                <p14:nvPr/>
              </p14:nvContentPartPr>
              <p14:xfrm>
                <a:off x="9267885" y="4742715"/>
                <a:ext cx="408240" cy="676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72EA0DD-9D6E-1870-A509-EC5F8C4DCC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61765" y="4736595"/>
                  <a:ext cx="420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8D9C7461-25BB-1E06-E529-73C796031444}"/>
                    </a:ext>
                  </a:extLst>
                </p14:cNvPr>
                <p14:cNvContentPartPr/>
                <p14:nvPr/>
              </p14:nvContentPartPr>
              <p14:xfrm>
                <a:off x="10211805" y="4562355"/>
                <a:ext cx="438480" cy="6771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8D9C7461-25BB-1E06-E529-73C7960314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05685" y="4556235"/>
                  <a:ext cx="45072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8B749423-65C1-C98C-FD15-C70EB9B05C23}"/>
                    </a:ext>
                  </a:extLst>
                </p14:cNvPr>
                <p14:cNvContentPartPr/>
                <p14:nvPr/>
              </p14:nvContentPartPr>
              <p14:xfrm>
                <a:off x="7991325" y="2885835"/>
                <a:ext cx="953640" cy="27360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8B749423-65C1-C98C-FD15-C70EB9B05C2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85205" y="2879715"/>
                  <a:ext cx="965880" cy="27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18F696C8-66DD-14D6-19E4-27A62154EB2E}"/>
                    </a:ext>
                  </a:extLst>
                </p14:cNvPr>
                <p14:cNvContentPartPr/>
                <p14:nvPr/>
              </p14:nvContentPartPr>
              <p14:xfrm>
                <a:off x="10381365" y="2914635"/>
                <a:ext cx="1069560" cy="298872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18F696C8-66DD-14D6-19E4-27A62154EB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375245" y="2908515"/>
                  <a:ext cx="1081800" cy="300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5F22B6A2-A9BC-C1B6-58D5-3CC5E627A6C5}"/>
                  </a:ext>
                </a:extLst>
              </p14:cNvPr>
              <p14:cNvContentPartPr/>
              <p14:nvPr/>
            </p14:nvContentPartPr>
            <p14:xfrm>
              <a:off x="3467205" y="6105315"/>
              <a:ext cx="360" cy="3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5F22B6A2-A9BC-C1B6-58D5-3CC5E627A6C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61085" y="609919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108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7187-918A-711A-FC33-A7D02FA7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74ADAA-C4D3-92C6-E8FE-D9D8CBEF722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17BAC-D12C-AEF8-A7E6-5298A2C41810}"/>
              </a:ext>
            </a:extLst>
          </p:cNvPr>
          <p:cNvSpPr txBox="1"/>
          <p:nvPr/>
        </p:nvSpPr>
        <p:spPr>
          <a:xfrm>
            <a:off x="1163052" y="272716"/>
            <a:ext cx="239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ResNet</a:t>
            </a:r>
            <a:r>
              <a:rPr lang="ko-KR" altLang="en-US" sz="2800" b="1" dirty="0">
                <a:solidFill>
                  <a:srgbClr val="00B0F0"/>
                </a:solidFill>
              </a:rPr>
              <a:t> 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0A92DB1-1152-8F8E-DCFE-4965D7125B4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D56B390-ECF3-048B-E16A-310EA382B13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3DAC8EB-1C46-ECDC-F79C-4BD7A24F4F0C}"/>
              </a:ext>
            </a:extLst>
          </p:cNvPr>
          <p:cNvSpPr txBox="1"/>
          <p:nvPr/>
        </p:nvSpPr>
        <p:spPr>
          <a:xfrm>
            <a:off x="4916116" y="784807"/>
            <a:ext cx="1841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결론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250AC8-9D7C-499F-ED38-21476E10A5A4}"/>
              </a:ext>
            </a:extLst>
          </p:cNvPr>
          <p:cNvSpPr txBox="1"/>
          <p:nvPr/>
        </p:nvSpPr>
        <p:spPr>
          <a:xfrm>
            <a:off x="783638" y="1397618"/>
            <a:ext cx="104939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</a:t>
            </a:r>
            <a:r>
              <a:rPr lang="ko-KR" altLang="en-US" dirty="0"/>
              <a:t>층 이상 깊은 </a:t>
            </a:r>
            <a:r>
              <a:rPr lang="en-US" altLang="ko-KR" dirty="0" err="1"/>
              <a:t>ResNet</a:t>
            </a:r>
            <a:r>
              <a:rPr lang="ko-KR" altLang="en-US" dirty="0"/>
              <a:t>에선 </a:t>
            </a:r>
            <a:r>
              <a:rPr lang="en-US" altLang="ko-KR" dirty="0"/>
              <a:t>Bottleneck </a:t>
            </a:r>
            <a:r>
              <a:rPr lang="ko-KR" altLang="en-US" dirty="0"/>
              <a:t>구조 사용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en-US" altLang="ko-KR" dirty="0"/>
              <a:t>block</a:t>
            </a:r>
            <a:r>
              <a:rPr lang="ko-KR" altLang="en-US" dirty="0"/>
              <a:t> 처럼 </a:t>
            </a:r>
            <a:r>
              <a:rPr lang="en-US" altLang="ko-KR" dirty="0"/>
              <a:t>3x3</a:t>
            </a:r>
            <a:r>
              <a:rPr lang="ko-KR" altLang="en-US" dirty="0"/>
              <a:t>만 사용하면 파라미터 수 </a:t>
            </a:r>
            <a:r>
              <a:rPr lang="ko-KR" altLang="en-US" dirty="0" err="1"/>
              <a:t>많아짐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1x1</a:t>
            </a:r>
            <a:r>
              <a:rPr lang="ko-KR" altLang="en-US" dirty="0"/>
              <a:t>로 채널 수 줄인 다음 </a:t>
            </a:r>
            <a:r>
              <a:rPr lang="en-US" altLang="ko-KR" dirty="0"/>
              <a:t>3x3 </a:t>
            </a:r>
            <a:r>
              <a:rPr lang="ko-KR" altLang="en-US" dirty="0"/>
              <a:t>통과시키고 다시 </a:t>
            </a:r>
            <a:r>
              <a:rPr lang="en-US" altLang="ko-KR" dirty="0"/>
              <a:t>1x1 </a:t>
            </a:r>
            <a:r>
              <a:rPr lang="ko-KR" altLang="en-US" dirty="0" err="1"/>
              <a:t>채널수</a:t>
            </a:r>
            <a:r>
              <a:rPr lang="ko-KR" altLang="en-US" dirty="0"/>
              <a:t> 키움</a:t>
            </a:r>
            <a:br>
              <a:rPr lang="en-US" altLang="ko-KR" dirty="0"/>
            </a:br>
            <a:r>
              <a:rPr lang="en-US" altLang="ko-KR" dirty="0"/>
              <a:t>(1x1</a:t>
            </a:r>
            <a:r>
              <a:rPr lang="ko-KR" altLang="en-US" dirty="0"/>
              <a:t>로 채널 수 조절</a:t>
            </a:r>
            <a:r>
              <a:rPr lang="en-US" altLang="ko-KR" dirty="0"/>
              <a:t>, 3x3</a:t>
            </a:r>
            <a:r>
              <a:rPr lang="ko-KR" altLang="en-US" dirty="0"/>
              <a:t>으로 공간 정보를 보도록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256 -&gt; 64 -&gt; 256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642FF58B-BC60-A9C9-FF7B-9A4BE310E32A}"/>
                  </a:ext>
                </a:extLst>
              </p14:cNvPr>
              <p14:cNvContentPartPr/>
              <p14:nvPr/>
            </p14:nvContentPartPr>
            <p14:xfrm>
              <a:off x="3467205" y="6105315"/>
              <a:ext cx="360" cy="36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642FF58B-BC60-A9C9-FF7B-9A4BE310E3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1085" y="6099195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C8A1EC97-B1D0-C953-C880-E01678EF2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375" y="3026092"/>
            <a:ext cx="8954750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97713-0FC8-E119-0A0E-34893B518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6FEA7F-81A2-D5EE-FF70-B63E421D3429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62EFA-B847-D068-6F4F-F2E144F7BA4F}"/>
              </a:ext>
            </a:extLst>
          </p:cNvPr>
          <p:cNvSpPr txBox="1"/>
          <p:nvPr/>
        </p:nvSpPr>
        <p:spPr>
          <a:xfrm>
            <a:off x="1163052" y="272716"/>
            <a:ext cx="2627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오토인코더</a:t>
            </a:r>
            <a:r>
              <a:rPr lang="ko-KR" altLang="en-US" sz="2800" b="1" dirty="0">
                <a:solidFill>
                  <a:srgbClr val="00B0F0"/>
                </a:solidFill>
              </a:rPr>
              <a:t> 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BAA3E38-6D4B-4274-3995-C4F466B98BD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018995-145A-26DC-1740-4B9560B3B45D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760B20-A62B-50B4-18D6-1A8AF5F1546B}"/>
              </a:ext>
            </a:extLst>
          </p:cNvPr>
          <p:cNvSpPr txBox="1"/>
          <p:nvPr/>
        </p:nvSpPr>
        <p:spPr>
          <a:xfrm>
            <a:off x="2322695" y="908229"/>
            <a:ext cx="832654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AutoEncoder</a:t>
            </a:r>
            <a:endParaRPr lang="en-US" altLang="ko-KR" sz="2400" b="1" dirty="0"/>
          </a:p>
          <a:p>
            <a:endParaRPr lang="en-US" altLang="ko-KR" sz="2400" b="1" dirty="0"/>
          </a:p>
          <a:p>
            <a:pPr marL="342900" indent="-342900">
              <a:buAutoNum type="arabicPeriod"/>
            </a:pPr>
            <a:r>
              <a:rPr lang="ko-KR" altLang="en-US" dirty="0"/>
              <a:t>데이터의 효율적인 표현을 학습하는 인공신경망 모델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데이터의 중요한 특성을 추출하고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이를 바탕으로 데이터를 압축한 후 다시 복원하는 단계를 거침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Encoder</a:t>
            </a:r>
            <a:r>
              <a:rPr lang="ko-KR" altLang="en-US" dirty="0"/>
              <a:t>부분 더 작은 차원으로 압축</a:t>
            </a:r>
            <a:r>
              <a:rPr lang="en-US" altLang="ko-KR" dirty="0"/>
              <a:t>(</a:t>
            </a:r>
            <a:r>
              <a:rPr lang="ko-KR" altLang="en-US" dirty="0"/>
              <a:t>데이터의 중요한 특성을 얼마나 잘 잡아내느냐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Decoder </a:t>
            </a:r>
            <a:r>
              <a:rPr lang="ko-KR" altLang="en-US" dirty="0"/>
              <a:t>완벽하게 복원은 아니지만 원본에 가깝게 복원함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셀프지도</a:t>
            </a:r>
            <a:r>
              <a:rPr lang="ko-KR" altLang="en-US" dirty="0"/>
              <a:t> 학습</a:t>
            </a:r>
            <a:br>
              <a:rPr lang="en-US" altLang="ko-KR" dirty="0"/>
            </a:br>
            <a:r>
              <a:rPr lang="ko-KR" altLang="en-US" dirty="0" err="1"/>
              <a:t>출력값이</a:t>
            </a:r>
            <a:r>
              <a:rPr lang="ko-KR" altLang="en-US" dirty="0"/>
              <a:t> 주어지지 않으며 주어진 데이터의 특성과 분포를 기반으로 설정됨</a:t>
            </a:r>
            <a:r>
              <a:rPr lang="en-US" altLang="ko-KR" dirty="0"/>
              <a:t>, </a:t>
            </a:r>
            <a:r>
              <a:rPr lang="ko-KR" altLang="en-US" dirty="0"/>
              <a:t>원본과 복원 간의 차이를 줄이면서 학습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차원축소 </a:t>
            </a:r>
            <a:r>
              <a:rPr lang="en-US" altLang="ko-KR" dirty="0"/>
              <a:t>: </a:t>
            </a:r>
            <a:r>
              <a:rPr lang="ko-KR" altLang="en-US" dirty="0"/>
              <a:t>데이터의 특성을 줄임</a:t>
            </a:r>
            <a:r>
              <a:rPr lang="en-US" altLang="ko-KR" dirty="0"/>
              <a:t>, </a:t>
            </a:r>
            <a:r>
              <a:rPr lang="ko-KR" altLang="en-US" dirty="0"/>
              <a:t>계상 높이고 노이즈 줄이고 데이터를 더 잘 이해함</a:t>
            </a:r>
            <a:r>
              <a:rPr lang="en-US" altLang="ko-KR" dirty="0"/>
              <a:t>, </a:t>
            </a:r>
            <a:r>
              <a:rPr lang="ko-KR" altLang="en-US" dirty="0"/>
              <a:t>불필요한 내용 없애기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제한된 크기의 잠재 공간을 사용하여 최대한 근접하게 생성해내는 학습을 하는 과정에서 원본 데이터가 갖는 중요한 특성을 잡아냄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추론 시 이미지를 </a:t>
            </a:r>
            <a:r>
              <a:rPr lang="en-US" altLang="ko-KR" dirty="0"/>
              <a:t>1</a:t>
            </a:r>
            <a:r>
              <a:rPr lang="ko-KR" altLang="en-US" dirty="0"/>
              <a:t>회 분석한다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5518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C50A-CEF8-ACE1-5866-0C0F3905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9E3D56-3BE6-10E0-99D5-DCE6B26BD403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0B7E0-5031-3F06-75FC-BF25229821B3}"/>
              </a:ext>
            </a:extLst>
          </p:cNvPr>
          <p:cNvSpPr txBox="1"/>
          <p:nvPr/>
        </p:nvSpPr>
        <p:spPr>
          <a:xfrm>
            <a:off x="1163052" y="272716"/>
            <a:ext cx="2627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err="1">
                <a:solidFill>
                  <a:srgbClr val="00B0F0"/>
                </a:solidFill>
              </a:rPr>
              <a:t>오토인코더</a:t>
            </a:r>
            <a:r>
              <a:rPr lang="ko-KR" altLang="en-US" sz="2800" b="1" dirty="0">
                <a:solidFill>
                  <a:srgbClr val="00B0F0"/>
                </a:solidFill>
              </a:rPr>
              <a:t> 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8E762AF-C0F1-6B85-9E78-A1F1C31D41A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FABD335-1168-C4B0-E267-A43C9B96103D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4A28E8-263A-B108-E2A2-50C199703F95}"/>
              </a:ext>
            </a:extLst>
          </p:cNvPr>
          <p:cNvSpPr txBox="1"/>
          <p:nvPr/>
        </p:nvSpPr>
        <p:spPr>
          <a:xfrm>
            <a:off x="2322695" y="908229"/>
            <a:ext cx="832654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/>
              <a:t>변분오토인코드</a:t>
            </a:r>
            <a:r>
              <a:rPr lang="en-US" altLang="ko-KR" sz="2400" b="1" dirty="0"/>
              <a:t>(VAE)</a:t>
            </a:r>
          </a:p>
          <a:p>
            <a:endParaRPr lang="en-US" altLang="ko-KR" sz="2400" b="1" dirty="0"/>
          </a:p>
          <a:p>
            <a:pPr marL="342900" indent="-342900">
              <a:buAutoNum type="arabicPeriod"/>
            </a:pPr>
            <a:r>
              <a:rPr lang="ko-KR" altLang="en-US" dirty="0" err="1"/>
              <a:t>오토인코더는</a:t>
            </a:r>
            <a:r>
              <a:rPr lang="ko-KR" altLang="en-US" dirty="0"/>
              <a:t> 입력데이터를 단순히 압축하고 복원한다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VAE</a:t>
            </a:r>
            <a:r>
              <a:rPr lang="ko-KR" altLang="en-US" dirty="0"/>
              <a:t>는 특정 분포를 학습하여 </a:t>
            </a:r>
            <a:r>
              <a:rPr lang="ko-KR" altLang="en-US" b="1" dirty="0"/>
              <a:t>새로운 데이터를 생성할 수 있음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dirty="0"/>
              <a:t>잠재공간을 </a:t>
            </a:r>
            <a:r>
              <a:rPr lang="ko-KR" altLang="en-US" dirty="0" err="1"/>
              <a:t>편균과</a:t>
            </a:r>
            <a:r>
              <a:rPr lang="ko-KR" altLang="en-US" dirty="0"/>
              <a:t>  분산이 만드는 확률분포를 따른다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새로운 데이터 </a:t>
            </a:r>
            <a:r>
              <a:rPr lang="ko-KR" altLang="en-US" dirty="0" err="1"/>
              <a:t>만들수</a:t>
            </a:r>
            <a:r>
              <a:rPr lang="ko-KR" altLang="en-US" dirty="0"/>
              <a:t> 있음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평균과 분산을 통해 잠재 공간 정보를 알 수 있어서 변형이 가능함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04985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704B-09B9-B7EB-AB6F-91B12624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290570-434A-DF98-F6B9-809E4905F19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2C3BA-F45B-A032-0795-2F760A56F0F4}"/>
              </a:ext>
            </a:extLst>
          </p:cNvPr>
          <p:cNvSpPr txBox="1"/>
          <p:nvPr/>
        </p:nvSpPr>
        <p:spPr>
          <a:xfrm>
            <a:off x="1163052" y="272716"/>
            <a:ext cx="2997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GoogLeNet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49B7D4C-2168-6A07-7195-2DB52BCC748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57BFE86-7B7B-8B7B-F30A-7C47D5370DCD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069F0E-EA69-7B20-695B-290E1E0D45F5}"/>
              </a:ext>
            </a:extLst>
          </p:cNvPr>
          <p:cNvSpPr txBox="1"/>
          <p:nvPr/>
        </p:nvSpPr>
        <p:spPr>
          <a:xfrm>
            <a:off x="2322695" y="908229"/>
            <a:ext cx="754273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YOLO v1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빠르다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추론 시 이미지를 </a:t>
            </a:r>
            <a:r>
              <a:rPr lang="en-US" altLang="ko-KR" dirty="0"/>
              <a:t>1</a:t>
            </a:r>
            <a:r>
              <a:rPr lang="ko-KR" altLang="en-US" dirty="0"/>
              <a:t>회 분석한다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pic>
        <p:nvPicPr>
          <p:cNvPr id="1026" name="Picture 2" descr="딥러닝] GoogLeNet(Inception) 모델의 개요 및 특징">
            <a:extLst>
              <a:ext uri="{FF2B5EF4-FFF2-40B4-BE49-F238E27FC236}">
                <a16:creationId xmlns:a16="http://schemas.microsoft.com/office/drawing/2014/main" id="{D99F4C1C-66A1-DD96-1CBC-1D895EFF2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36" y="3788762"/>
            <a:ext cx="1219200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115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416-FBB8-48B5-AEFC-E811B9D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5538B-F6EC-1C58-C089-8EAE4F147EAD}"/>
              </a:ext>
            </a:extLst>
          </p:cNvPr>
          <p:cNvSpPr txBox="1"/>
          <p:nvPr/>
        </p:nvSpPr>
        <p:spPr>
          <a:xfrm>
            <a:off x="5472971" y="2923766"/>
            <a:ext cx="1402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끝</a:t>
            </a:r>
            <a:r>
              <a:rPr lang="en-US" altLang="ko-KR" sz="5000" b="1" dirty="0">
                <a:solidFill>
                  <a:srgbClr val="00B0F0"/>
                </a:solidFill>
              </a:rPr>
              <a:t>!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5F9B1F-D657-FFB2-916C-A7F2B02705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8CA780-CFC4-00A2-3938-2FCFE534035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55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0572-0558-2B95-4035-8F3CC479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A88089-0983-A666-8F2F-7BF6606C0658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4F636-E2DF-B0B3-7F3B-8A5858FD5B24}"/>
              </a:ext>
            </a:extLst>
          </p:cNvPr>
          <p:cNvSpPr txBox="1"/>
          <p:nvPr/>
        </p:nvSpPr>
        <p:spPr>
          <a:xfrm>
            <a:off x="1163052" y="27271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대각행렬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A4492C3-3E33-BA75-F87B-A22A9A17E418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EAC97D8-7E75-8B87-BC2C-FA09709A027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4A73AB4-BE49-F9DF-B2AC-03C1BD934549}"/>
              </a:ext>
            </a:extLst>
          </p:cNvPr>
          <p:cNvSpPr txBox="1"/>
          <p:nvPr/>
        </p:nvSpPr>
        <p:spPr>
          <a:xfrm>
            <a:off x="2322695" y="1011379"/>
            <a:ext cx="754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Diagonal matrix(</a:t>
            </a:r>
            <a:r>
              <a:rPr lang="ko-KR" altLang="en-US" dirty="0"/>
              <a:t>대각행렬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AE32A6-18BD-01DC-2A03-0C55D5B3F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52" y="1849993"/>
            <a:ext cx="4718861" cy="381196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B5AE9D-A297-2A25-B741-6534A864A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349" y="2281584"/>
            <a:ext cx="5028337" cy="29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89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033F-3424-F8FB-F7C5-EB944FDC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218BF7-F046-BA87-15EC-73ACC6A5A6B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54B55-3F9F-C07D-BD22-718E25E286C3}"/>
              </a:ext>
            </a:extLst>
          </p:cNvPr>
          <p:cNvSpPr txBox="1"/>
          <p:nvPr/>
        </p:nvSpPr>
        <p:spPr>
          <a:xfrm>
            <a:off x="1163052" y="272716"/>
            <a:ext cx="1168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Norm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010FB52-96AF-947E-13F8-0518BE229F6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F6E1884-7880-98E9-CCA1-3A393EAC6E2A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EB661A-700F-E106-1FF1-2035566C2DCD}"/>
              </a:ext>
            </a:extLst>
          </p:cNvPr>
          <p:cNvSpPr txBox="1"/>
          <p:nvPr/>
        </p:nvSpPr>
        <p:spPr>
          <a:xfrm>
            <a:off x="881375" y="1074952"/>
            <a:ext cx="754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norm (</a:t>
            </a:r>
            <a:r>
              <a:rPr lang="ko-KR" altLang="en-US" b="1" dirty="0"/>
              <a:t>크기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- 0 ~ </a:t>
            </a:r>
            <a:r>
              <a:rPr lang="ko-KR" altLang="en-US" dirty="0"/>
              <a:t>양수 스칼라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1BB6C-764E-D0BB-5CF7-802BBB650014}"/>
              </a:ext>
            </a:extLst>
          </p:cNvPr>
          <p:cNvSpPr txBox="1"/>
          <p:nvPr/>
        </p:nvSpPr>
        <p:spPr>
          <a:xfrm>
            <a:off x="881375" y="1991898"/>
            <a:ext cx="7542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2-norm(</a:t>
            </a:r>
            <a:r>
              <a:rPr lang="en-US" altLang="ko-KR" b="1" dirty="0">
                <a:solidFill>
                  <a:srgbClr val="FF0000"/>
                </a:solidFill>
              </a:rPr>
              <a:t>l</a:t>
            </a:r>
            <a:r>
              <a:rPr lang="en-US" altLang="ko-KR" sz="1000" b="1" dirty="0">
                <a:solidFill>
                  <a:srgbClr val="FF0000"/>
                </a:solidFill>
              </a:rPr>
              <a:t>2</a:t>
            </a:r>
            <a:r>
              <a:rPr lang="en-US" altLang="ko-KR" b="1" dirty="0">
                <a:solidFill>
                  <a:srgbClr val="FF0000"/>
                </a:solidFill>
              </a:rPr>
              <a:t>-norm</a:t>
            </a:r>
            <a:r>
              <a:rPr lang="en-US" altLang="ko-KR" b="1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벡터의 물리적인 크기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모두 제곱</a:t>
            </a:r>
            <a:r>
              <a:rPr lang="en-US" altLang="ko-KR" dirty="0"/>
              <a:t>, 1/2 </a:t>
            </a:r>
            <a:r>
              <a:rPr lang="ko-KR" altLang="en-US" dirty="0"/>
              <a:t>이기 때문에 </a:t>
            </a:r>
            <a:r>
              <a:rPr lang="en-US" altLang="ko-KR" dirty="0"/>
              <a:t>2-norm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92AB8-3B68-CE95-41F5-54DFE2C7C7CA}"/>
              </a:ext>
            </a:extLst>
          </p:cNvPr>
          <p:cNvSpPr txBox="1"/>
          <p:nvPr/>
        </p:nvSpPr>
        <p:spPr>
          <a:xfrm>
            <a:off x="881375" y="4256944"/>
            <a:ext cx="4566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1-norm(</a:t>
            </a:r>
            <a:r>
              <a:rPr lang="en-US" altLang="ko-KR" b="1" dirty="0">
                <a:solidFill>
                  <a:srgbClr val="FF0000"/>
                </a:solidFill>
              </a:rPr>
              <a:t>l</a:t>
            </a:r>
            <a:r>
              <a:rPr lang="en-US" altLang="ko-KR" sz="1000" b="1" dirty="0">
                <a:solidFill>
                  <a:srgbClr val="FF0000"/>
                </a:solidFill>
              </a:rPr>
              <a:t>1</a:t>
            </a:r>
            <a:r>
              <a:rPr lang="en-US" altLang="ko-KR" b="1" dirty="0">
                <a:solidFill>
                  <a:srgbClr val="FF0000"/>
                </a:solidFill>
              </a:rPr>
              <a:t>-norm</a:t>
            </a:r>
            <a:r>
              <a:rPr lang="en-US" altLang="ko-KR" b="1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벡터의 물리적인 크기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모두 </a:t>
            </a:r>
            <a:r>
              <a:rPr lang="en-US" altLang="ko-KR" dirty="0"/>
              <a:t>1</a:t>
            </a:r>
            <a:r>
              <a:rPr lang="ko-KR" altLang="en-US" dirty="0"/>
              <a:t>승 </a:t>
            </a:r>
            <a:r>
              <a:rPr lang="en-US" altLang="ko-KR" dirty="0"/>
              <a:t>-&gt; </a:t>
            </a:r>
            <a:r>
              <a:rPr lang="ko-KR" altLang="en-US" dirty="0"/>
              <a:t>크기를 위해 절댓값 취함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D119F7A-3B8E-3BCF-43DB-757A3AE5D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75" y="5380192"/>
            <a:ext cx="4686954" cy="103837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0ED0F60-DEBD-3979-DF9A-803B09DCF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48" y="2904341"/>
            <a:ext cx="5649113" cy="11431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61A449-C014-E33B-7BAF-952505A1C40D}"/>
              </a:ext>
            </a:extLst>
          </p:cNvPr>
          <p:cNvSpPr txBox="1"/>
          <p:nvPr/>
        </p:nvSpPr>
        <p:spPr>
          <a:xfrm>
            <a:off x="6427439" y="4256944"/>
            <a:ext cx="4566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p-norm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벡터의 물리적인 크기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모두 </a:t>
            </a:r>
            <a:r>
              <a:rPr lang="en-US" altLang="ko-KR" dirty="0"/>
              <a:t>1</a:t>
            </a:r>
            <a:r>
              <a:rPr lang="ko-KR" altLang="en-US" dirty="0"/>
              <a:t>승 </a:t>
            </a:r>
            <a:r>
              <a:rPr lang="en-US" altLang="ko-KR" dirty="0"/>
              <a:t>-&gt; </a:t>
            </a:r>
            <a:r>
              <a:rPr lang="ko-KR" altLang="en-US" dirty="0"/>
              <a:t>크기를 위해 절댓값 취함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0C43751-FBE1-0B7B-78A1-905076588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439" y="5605504"/>
            <a:ext cx="393437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76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AA0D-FEB4-7051-F17F-333D08BAE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40B252-898C-FC76-2D0E-59777CF21EE3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4698C-B301-270A-F197-0DDE03AC2ADB}"/>
              </a:ext>
            </a:extLst>
          </p:cNvPr>
          <p:cNvSpPr txBox="1"/>
          <p:nvPr/>
        </p:nvSpPr>
        <p:spPr>
          <a:xfrm>
            <a:off x="1163052" y="272716"/>
            <a:ext cx="1513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Entropy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A66C6F-F472-11B1-8CB7-ED67713875E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08DA46A-6D24-D09B-2DCD-B5CE9E734BC2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46FEB3-E4F1-519A-E02B-C47E97B89313}"/>
              </a:ext>
            </a:extLst>
          </p:cNvPr>
          <p:cNvSpPr txBox="1"/>
          <p:nvPr/>
        </p:nvSpPr>
        <p:spPr>
          <a:xfrm>
            <a:off x="881375" y="1074952"/>
            <a:ext cx="75427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Entropy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정보를 표현하는데 필요한 평균 최소 </a:t>
            </a:r>
            <a:r>
              <a:rPr lang="ko-KR" altLang="en-US" dirty="0" err="1"/>
              <a:t>자원량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정보를 표현 </a:t>
            </a:r>
            <a:r>
              <a:rPr lang="en-US" altLang="ko-KR" dirty="0"/>
              <a:t>-&gt; </a:t>
            </a:r>
            <a:r>
              <a:rPr lang="ko-KR" altLang="en-US" dirty="0"/>
              <a:t>정보의 만국 공통어 </a:t>
            </a:r>
            <a:r>
              <a:rPr lang="en-US" altLang="ko-KR" dirty="0"/>
              <a:t>-&gt; Bits(0 or 1</a:t>
            </a:r>
            <a:r>
              <a:rPr lang="ko-KR" altLang="en-US" dirty="0"/>
              <a:t>의 길이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Ex)</a:t>
            </a:r>
            <a:r>
              <a:rPr lang="ko-KR" altLang="en-US" dirty="0"/>
              <a:t> 연인간의 대화에서 하트</a:t>
            </a:r>
            <a:r>
              <a:rPr lang="en-US" altLang="ko-KR" dirty="0"/>
              <a:t>(0.5), </a:t>
            </a:r>
            <a:r>
              <a:rPr lang="ko-KR" altLang="en-US" dirty="0" err="1"/>
              <a:t>ㅗ</a:t>
            </a:r>
            <a:r>
              <a:rPr lang="en-US" altLang="ko-KR" dirty="0"/>
              <a:t>(0.001)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 err="1"/>
              <a:t>자주쓰는건</a:t>
            </a:r>
            <a:r>
              <a:rPr lang="ko-KR" altLang="en-US" dirty="0"/>
              <a:t> 짧게 </a:t>
            </a:r>
            <a:r>
              <a:rPr lang="en-US" altLang="ko-KR" dirty="0"/>
              <a:t>0, </a:t>
            </a:r>
            <a:r>
              <a:rPr lang="ko-KR" altLang="en-US" dirty="0" err="1"/>
              <a:t>안쓰는건</a:t>
            </a:r>
            <a:r>
              <a:rPr lang="ko-KR" altLang="en-US" dirty="0"/>
              <a:t> 길게</a:t>
            </a:r>
            <a:r>
              <a:rPr lang="en-US" altLang="ko-KR" dirty="0"/>
              <a:t>111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확률이 낮은 걸 길게 코딩</a:t>
            </a:r>
            <a:r>
              <a:rPr lang="en-US" altLang="ko-KR" dirty="0"/>
              <a:t>, </a:t>
            </a:r>
            <a:r>
              <a:rPr lang="ko-KR" altLang="en-US" dirty="0"/>
              <a:t>큰 걸 짧게 코딩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최악</a:t>
            </a:r>
            <a:r>
              <a:rPr lang="en-US" altLang="ko-KR" dirty="0"/>
              <a:t>) </a:t>
            </a:r>
            <a:r>
              <a:rPr lang="ko-KR" altLang="en-US" dirty="0"/>
              <a:t>최소 </a:t>
            </a:r>
            <a:r>
              <a:rPr lang="ko-KR" altLang="en-US" dirty="0" err="1"/>
              <a:t>자원량이</a:t>
            </a:r>
            <a:r>
              <a:rPr lang="ko-KR" altLang="en-US" dirty="0"/>
              <a:t> 맥시멈이 되는 때가 확률이 </a:t>
            </a:r>
            <a:r>
              <a:rPr lang="ko-KR" altLang="en-US" dirty="0" err="1"/>
              <a:t>유니폼할때임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F0981-0D96-470A-4414-708CF9CD739D}"/>
              </a:ext>
            </a:extLst>
          </p:cNvPr>
          <p:cNvSpPr txBox="1"/>
          <p:nvPr/>
        </p:nvSpPr>
        <p:spPr>
          <a:xfrm>
            <a:off x="881375" y="3383276"/>
            <a:ext cx="75427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Cross-Entropy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모든게</a:t>
            </a:r>
            <a:r>
              <a:rPr lang="ko-KR" altLang="en-US" dirty="0"/>
              <a:t> 공평한 확률이라 생각하고 코딩함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내가 </a:t>
            </a:r>
            <a:r>
              <a:rPr lang="ko-KR" altLang="en-US" dirty="0" err="1"/>
              <a:t>코딩한거임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KL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Entropy – </a:t>
            </a:r>
            <a:r>
              <a:rPr lang="en-US" altLang="ko-KR" dirty="0" err="1"/>
              <a:t>CrossEntropy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얼마나 잘못 코딩했는지 확인</a:t>
            </a:r>
          </a:p>
        </p:txBody>
      </p:sp>
    </p:spTree>
    <p:extLst>
      <p:ext uri="{BB962C8B-B14F-4D97-AF65-F5344CB8AC3E}">
        <p14:creationId xmlns:p14="http://schemas.microsoft.com/office/powerpoint/2010/main" val="4149781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F3C1E-BF0A-3CFC-7C16-1402ADD2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EAD26C-0144-07DE-4158-183D3A78DA5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D805F-23DA-4175-C4D2-F9D3691DBBBD}"/>
              </a:ext>
            </a:extLst>
          </p:cNvPr>
          <p:cNvSpPr txBox="1"/>
          <p:nvPr/>
        </p:nvSpPr>
        <p:spPr>
          <a:xfrm>
            <a:off x="1163052" y="272716"/>
            <a:ext cx="3555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Mutual Information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02ACA3E-D4CF-FF8C-BA06-BD12C78D0AE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7DF20A4-81A3-7D14-6161-1A7E9DAAC8F2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A9323D1D-835F-25FB-1C37-B45D43FFD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512" y="1435072"/>
            <a:ext cx="6426429" cy="94300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3007FB8-68A6-E842-EBBF-6431AEC93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052" y="2464847"/>
            <a:ext cx="2953162" cy="9431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5C6C2F9-8431-ABFB-38D9-C92E2C19C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962" y="2417216"/>
            <a:ext cx="3467584" cy="99073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0F344A3-E054-8EE9-6BCC-6ADDF9323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300" y="3960227"/>
            <a:ext cx="4810796" cy="24101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F496ACF-17B7-373F-C123-F01FFFADBEE8}"/>
              </a:ext>
            </a:extLst>
          </p:cNvPr>
          <p:cNvSpPr txBox="1"/>
          <p:nvPr/>
        </p:nvSpPr>
        <p:spPr>
          <a:xfrm>
            <a:off x="5126091" y="5565894"/>
            <a:ext cx="6119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"X</a:t>
            </a:r>
            <a:r>
              <a:rPr lang="ko-KR" altLang="en-US" sz="2000" dirty="0">
                <a:solidFill>
                  <a:srgbClr val="FF0000"/>
                </a:solidFill>
              </a:rPr>
              <a:t>를 알면 </a:t>
            </a:r>
            <a:r>
              <a:rPr lang="en-US" altLang="ko-KR" sz="2000" dirty="0">
                <a:solidFill>
                  <a:srgbClr val="FF0000"/>
                </a:solidFill>
              </a:rPr>
              <a:t>Y</a:t>
            </a:r>
            <a:r>
              <a:rPr lang="ko-KR" altLang="en-US" sz="2000" dirty="0">
                <a:solidFill>
                  <a:srgbClr val="FF0000"/>
                </a:solidFill>
              </a:rPr>
              <a:t>에 대해 얼마나 더 많이 알 수 있는가</a:t>
            </a:r>
            <a:r>
              <a:rPr lang="en-US" altLang="ko-KR" sz="2000" dirty="0">
                <a:solidFill>
                  <a:srgbClr val="FF0000"/>
                </a:solidFill>
              </a:rPr>
              <a:t>?"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40B4ED-A45B-B325-2E91-C458740E2C2E}"/>
              </a:ext>
            </a:extLst>
          </p:cNvPr>
          <p:cNvSpPr txBox="1"/>
          <p:nvPr/>
        </p:nvSpPr>
        <p:spPr>
          <a:xfrm>
            <a:off x="5126091" y="5161510"/>
            <a:ext cx="611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Mutual Information = </a:t>
            </a:r>
            <a:r>
              <a:rPr lang="ko-KR" altLang="en-US" b="1" dirty="0"/>
              <a:t>두 변수 사이의 “정보 </a:t>
            </a:r>
            <a:r>
              <a:rPr lang="ko-KR" altLang="en-US" b="1" dirty="0" err="1"/>
              <a:t>공유량</a:t>
            </a:r>
            <a:r>
              <a:rPr lang="ko-KR" altLang="en-US" b="1" dirty="0"/>
              <a:t>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3105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D760-7E0D-577F-BD68-2610F649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49639C-48BA-413F-0829-843509B3ED5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7261A-6CFF-8578-BE65-8031814C579D}"/>
              </a:ext>
            </a:extLst>
          </p:cNvPr>
          <p:cNvSpPr txBox="1"/>
          <p:nvPr/>
        </p:nvSpPr>
        <p:spPr>
          <a:xfrm>
            <a:off x="1163052" y="272716"/>
            <a:ext cx="3475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Loss Landscape</a:t>
            </a:r>
            <a:r>
              <a:rPr lang="ko-KR" altLang="en-US" sz="2800" b="1" dirty="0">
                <a:solidFill>
                  <a:srgbClr val="00B0F0"/>
                </a:solidFill>
              </a:rPr>
              <a:t> 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362F429-4402-7278-1A42-AF69008E580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37EDF31-1AE4-A2D9-39CE-9DF9B537EBD8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0409A7-7D44-7B54-E176-3DDD237EC18A}"/>
              </a:ext>
            </a:extLst>
          </p:cNvPr>
          <p:cNvSpPr txBox="1"/>
          <p:nvPr/>
        </p:nvSpPr>
        <p:spPr>
          <a:xfrm>
            <a:off x="1682662" y="908229"/>
            <a:ext cx="832654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Loss Landscape</a:t>
            </a:r>
          </a:p>
          <a:p>
            <a:endParaRPr lang="en-US" altLang="ko-K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BN+ReLU</a:t>
            </a:r>
            <a:r>
              <a:rPr lang="en-US" altLang="ko-KR" dirty="0"/>
              <a:t> </a:t>
            </a:r>
            <a:r>
              <a:rPr lang="ko-KR" altLang="en-US" dirty="0"/>
              <a:t>이미 존재하여 </a:t>
            </a:r>
            <a:r>
              <a:rPr lang="en-US" altLang="ko-KR" dirty="0"/>
              <a:t>vanishing gradient </a:t>
            </a:r>
            <a:r>
              <a:rPr lang="ko-KR" altLang="en-US" dirty="0"/>
              <a:t>해결 </a:t>
            </a:r>
            <a:r>
              <a:rPr lang="ko-KR" altLang="en-US" dirty="0" err="1"/>
              <a:t>가능했을텐데</a:t>
            </a:r>
            <a:r>
              <a:rPr lang="en-US" altLang="ko-KR" dirty="0"/>
              <a:t>..</a:t>
            </a:r>
            <a:br>
              <a:rPr lang="en-US" altLang="ko-KR" dirty="0"/>
            </a:br>
            <a:r>
              <a:rPr lang="ko-KR" altLang="en-US" dirty="0"/>
              <a:t>그래도 너무 깊으면 </a:t>
            </a:r>
            <a:r>
              <a:rPr lang="en-US" altLang="ko-KR" dirty="0"/>
              <a:t>training, test error</a:t>
            </a:r>
            <a:r>
              <a:rPr lang="ko-KR" altLang="en-US" dirty="0"/>
              <a:t>가 같이 커지더라</a:t>
            </a:r>
            <a:br>
              <a:rPr lang="en-US" altLang="ko-KR" dirty="0"/>
            </a:br>
            <a:r>
              <a:rPr lang="en-US" altLang="ko-KR" dirty="0"/>
              <a:t>-&gt; overfitting</a:t>
            </a:r>
            <a:r>
              <a:rPr lang="ko-KR" altLang="en-US" dirty="0"/>
              <a:t>은 아님</a:t>
            </a:r>
            <a:r>
              <a:rPr lang="en-US" altLang="ko-KR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이후에 </a:t>
            </a:r>
            <a:r>
              <a:rPr lang="ko-KR" altLang="en-US" dirty="0" err="1"/>
              <a:t>밝혀지길</a:t>
            </a:r>
            <a:r>
              <a:rPr lang="ko-KR" altLang="en-US" dirty="0"/>
              <a:t> 깊게 만들수록 </a:t>
            </a:r>
            <a:r>
              <a:rPr lang="en-US" altLang="ko-KR" b="1" dirty="0"/>
              <a:t>loss </a:t>
            </a:r>
            <a:r>
              <a:rPr lang="ko-KR" altLang="en-US" b="1" dirty="0"/>
              <a:t>모양이 꼬불꼬불해진다</a:t>
            </a:r>
            <a:r>
              <a:rPr lang="en-US" altLang="ko-KR" b="1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ResNet</a:t>
            </a:r>
            <a:r>
              <a:rPr lang="ko-KR" altLang="en-US" dirty="0"/>
              <a:t>의 </a:t>
            </a:r>
            <a:r>
              <a:rPr lang="en-US" altLang="ko-KR" b="1" dirty="0"/>
              <a:t>skip-connection</a:t>
            </a:r>
            <a:r>
              <a:rPr lang="ko-KR" altLang="en-US" dirty="0"/>
              <a:t>이 대표적인 해결 방안 중 하나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9A2261-5B17-C620-D73D-5BEA38573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6" y="3401219"/>
            <a:ext cx="4931554" cy="28255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8707C3F-38E8-392F-1552-F4C1136DE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446" y="3122559"/>
            <a:ext cx="5036550" cy="299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8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2817</TotalTime>
  <Words>914</Words>
  <Application>Microsoft Office PowerPoint</Application>
  <PresentationFormat>와이드스크린</PresentationFormat>
  <Paragraphs>127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ResNet AutoEncoder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160</cp:revision>
  <dcterms:created xsi:type="dcterms:W3CDTF">2026-01-29T12:22:12Z</dcterms:created>
  <dcterms:modified xsi:type="dcterms:W3CDTF">2026-03-20T05:39:57Z</dcterms:modified>
</cp:coreProperties>
</file>