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300" r:id="rId4"/>
    <p:sldId id="276" r:id="rId5"/>
    <p:sldId id="302" r:id="rId6"/>
    <p:sldId id="304" r:id="rId7"/>
    <p:sldId id="303" r:id="rId8"/>
    <p:sldId id="299" r:id="rId9"/>
    <p:sldId id="305" r:id="rId10"/>
    <p:sldId id="306" r:id="rId11"/>
    <p:sldId id="307" r:id="rId12"/>
    <p:sldId id="298" r:id="rId13"/>
    <p:sldId id="27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945F9-AABC-9C65-E32E-7DC6F4DC4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11F617-8054-B418-FC0A-964ABF689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421B83-EE31-A83C-B685-6EAEEBA3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4E7DC4-B8AA-856D-5721-BDAA73DB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CD27CC-3813-EE36-C7F8-914BFF43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1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07138-FA98-2AB7-8629-10464DFF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09BF1-9866-C7FB-8187-5984390A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BD2D0B-3720-1367-6E4B-7BDED4E4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6C8A2-DCEB-E016-D6AE-F3B0B68E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390BA-4D7E-3122-1F7C-1B4CED4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94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E1EB0-5361-539B-1487-056C6CA7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BF9D0-37F3-CAFE-C020-53FA213F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B59A2-CBC0-7F9C-CA48-F53F6D66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FD218-C794-DA8F-6ECF-21D625D2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A8F59-A765-B2FA-FB87-D4799CAD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1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E2FDB-BFE8-D505-C08B-34908864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CED678-8B0C-DB88-F535-8C3D092E7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C9AE1F-3006-E35B-5B29-E656F1299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D2A83-8FFF-064B-42C5-C747E38E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9DF2DC-23CE-033E-EB1E-F2115931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BA7A6-8AAB-2208-7455-180F157D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53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A3F96-F88C-2D88-2135-0F3147DF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43EBA4-24D4-11F2-13F5-7A6F2FA2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9FD5AF-A2A8-43FE-E3DC-D57F057D3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3B11BF-9991-5F88-4B19-38B8C115A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01185-94AD-F148-0979-CE9D691B1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D847EE-D711-E30C-D9D4-EC4821C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5A5D1D-80D7-7E82-FC04-26AA8054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F4C5FD-3854-F426-1038-4A54564B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80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6F072-2AD8-CEFF-E084-3E3F6996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694FF3-EDBA-FDC8-5A91-FB138A7C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F59B27-3B03-58D5-C82A-D07C1608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F7513F-0ECA-24B6-86E6-480DC896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8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E33E78-1119-2DD1-81CB-2116AC78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89B68D-3253-A4DC-D7D8-6F0479C6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BCEAE9-51CC-451F-C7FC-7DF43359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9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9C0E2-99E5-9BD5-7DF6-5B325424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FD1D88-67B0-38B1-72C3-AEEE81035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7D50B8-2AEC-054F-8AA0-9D9AFEF0A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B05D71-43D7-A80D-A519-6C3248A8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195C05-EA1A-235E-5FD3-1E6CD856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AEDF3E-7B0D-F53F-DEEA-161065FC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30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46A15-C5B6-A114-2E29-472AD902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2CE56-0AC1-5501-F11D-922D2BAA78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8EAC10-74DA-1504-3BDE-5AF8A1226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67C23C-670F-2000-D053-4A2AC3B0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627DCF-96FF-724E-AACC-50257417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118B2-D390-D3C9-14D8-EB02F15E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9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9EFC3-22DB-323D-3917-A068C963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DA345F-62F3-F7D5-ED06-FE769207A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6EBFA-6C49-1AFF-63A2-A10252DC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C5061-598F-4A83-3874-968F81EC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A2B8F5-7672-41C0-7BEE-59F64D3E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4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7ECB5A-475F-EFD8-F291-9EBB7270B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F4E86-9A7C-B062-6CF2-41A0C002E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6D393-098F-34F5-8BDF-4401A7CF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88A78-B2E6-BE76-7F32-5E14E860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5E81B-7276-0CAB-99FA-DE081090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1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405E34-265E-29A0-791E-52F8F3EC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9327B4-7F9D-7B88-CFF9-4BDFB0749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0C84C-48DF-BB7F-6AE3-7C2A85580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90772-3C17-48BD-9462-1080E2FAA39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F1F67-B553-9533-E74B-9D2431DC7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C1070C-3585-745F-2560-881E18F9E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5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FCED6-5F2E-3EA7-B2A2-B861E550B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GoogLeNet</a:t>
            </a:r>
            <a:br>
              <a:rPr lang="en-US" altLang="ko-KR" dirty="0"/>
            </a:br>
            <a:r>
              <a:rPr lang="en-US" altLang="ko-KR" dirty="0"/>
              <a:t>(Inception Net v1)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2D9F64-AEBF-88D8-A196-96E0A0090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스터디</a:t>
            </a:r>
          </a:p>
        </p:txBody>
      </p:sp>
    </p:spTree>
    <p:extLst>
      <p:ext uri="{BB962C8B-B14F-4D97-AF65-F5344CB8AC3E}">
        <p14:creationId xmlns:p14="http://schemas.microsoft.com/office/powerpoint/2010/main" val="435726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B307B8-22CC-6EDB-5FEE-2C593948E8C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0A9A2-B08F-C4CF-F622-D37CB0255281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B77E5FD-4523-FC80-965A-FFF2DDED91D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BC424E4-6EC8-93D9-3788-386EDA02B35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2BB282-F298-9117-6A94-3176D9387208}"/>
              </a:ext>
            </a:extLst>
          </p:cNvPr>
          <p:cNvSpPr txBox="1"/>
          <p:nvPr/>
        </p:nvSpPr>
        <p:spPr>
          <a:xfrm>
            <a:off x="2322695" y="908229"/>
            <a:ext cx="754273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GoogLeNet</a:t>
            </a:r>
            <a:endParaRPr lang="en-US" altLang="ko-KR" sz="2400" b="1" dirty="0"/>
          </a:p>
          <a:p>
            <a:r>
              <a:rPr lang="en-US" altLang="ko-KR" dirty="0" err="1"/>
              <a:t>VGGNet</a:t>
            </a:r>
            <a:r>
              <a:rPr lang="en-US" altLang="ko-KR" dirty="0"/>
              <a:t> </a:t>
            </a:r>
            <a:r>
              <a:rPr lang="ko-KR" altLang="en-US" dirty="0"/>
              <a:t>동일한 시기에 발표</a:t>
            </a:r>
            <a:r>
              <a:rPr lang="en-US" altLang="ko-KR" dirty="0"/>
              <a:t>, 1</a:t>
            </a:r>
            <a:r>
              <a:rPr lang="ko-KR" altLang="en-US" dirty="0"/>
              <a:t>등 함 </a:t>
            </a:r>
            <a:r>
              <a:rPr lang="en-US" altLang="ko-KR" dirty="0"/>
              <a:t>VGG 2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en-US" altLang="ko-KR" dirty="0"/>
              <a:t>1x1 vs 3x3 vs 5x5 =&gt; </a:t>
            </a:r>
            <a:r>
              <a:rPr lang="ko-KR" altLang="en-US" dirty="0"/>
              <a:t>병렬적으로 다 사용해보자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깊은 네트워크에서 적은 파라미터 이용하여 모델 성능을 높임</a:t>
            </a:r>
            <a:endParaRPr lang="en-US" altLang="ko-KR" dirty="0"/>
          </a:p>
          <a:p>
            <a:r>
              <a:rPr lang="ko-KR" altLang="en-US" dirty="0"/>
              <a:t>같은 층에서 다양한 크기의 특징을 동시에 뽑으면 더 좋지 않을까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Inception</a:t>
            </a:r>
            <a:r>
              <a:rPr lang="ko-KR" altLang="en-US" dirty="0"/>
              <a:t> </a:t>
            </a:r>
            <a:r>
              <a:rPr lang="en-US" altLang="ko-KR" dirty="0"/>
              <a:t>Module</a:t>
            </a:r>
            <a:r>
              <a:rPr lang="ko-KR" altLang="en-US" dirty="0"/>
              <a:t> 도입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Auxiliary classifiers (</a:t>
            </a:r>
            <a:r>
              <a:rPr lang="ko-KR" altLang="en-US" dirty="0"/>
              <a:t>보조 분류기</a:t>
            </a:r>
            <a:r>
              <a:rPr lang="en-US" altLang="ko-KR" dirty="0"/>
              <a:t>) </a:t>
            </a:r>
            <a:r>
              <a:rPr lang="ko-KR" altLang="en-US" dirty="0"/>
              <a:t>도입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/>
              <a:t>FC layer </a:t>
            </a:r>
            <a:r>
              <a:rPr lang="ko-KR" altLang="en-US" dirty="0"/>
              <a:t>제거하고 </a:t>
            </a:r>
            <a:r>
              <a:rPr lang="en-US" altLang="ko-KR" dirty="0"/>
              <a:t>Global Average Pooling </a:t>
            </a:r>
            <a:r>
              <a:rPr lang="ko-KR" altLang="en-US" dirty="0"/>
              <a:t>사용</a:t>
            </a:r>
          </a:p>
        </p:txBody>
      </p:sp>
      <p:pic>
        <p:nvPicPr>
          <p:cNvPr id="1026" name="Picture 2" descr="딥러닝] GoogLeNet(Inception) 모델의 개요 및 특징">
            <a:extLst>
              <a:ext uri="{FF2B5EF4-FFF2-40B4-BE49-F238E27FC236}">
                <a16:creationId xmlns:a16="http://schemas.microsoft.com/office/drawing/2014/main" id="{AFAEDF7D-25C0-3476-F74B-62C22ACAE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36" y="3788762"/>
            <a:ext cx="1219200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79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27E2-43C6-73D5-EDAC-A0B70225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AAEC9C-6820-3945-D4A6-890BDE2CCE56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A66A3-18B4-1A05-1A77-A921D334DCBE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E2B5059-D9AE-2925-ECDE-1ACC26C0437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828FB6B-A233-C045-ADB7-84DAD7DFEF7A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032" name="Picture 8" descr="CNN] GoogLeNet">
            <a:extLst>
              <a:ext uri="{FF2B5EF4-FFF2-40B4-BE49-F238E27FC236}">
                <a16:creationId xmlns:a16="http://schemas.microsoft.com/office/drawing/2014/main" id="{9886AA40-B4D1-6D5C-50D9-C089282E4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375" y="1974119"/>
            <a:ext cx="9954796" cy="423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93C3E8-5ED4-5AC5-CEB5-2A42C8C0A887}"/>
              </a:ext>
            </a:extLst>
          </p:cNvPr>
          <p:cNvSpPr txBox="1"/>
          <p:nvPr/>
        </p:nvSpPr>
        <p:spPr>
          <a:xfrm>
            <a:off x="4040303" y="1056550"/>
            <a:ext cx="4107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/>
              <a:t>특정구조 반복</a:t>
            </a:r>
          </a:p>
        </p:txBody>
      </p:sp>
    </p:spTree>
    <p:extLst>
      <p:ext uri="{BB962C8B-B14F-4D97-AF65-F5344CB8AC3E}">
        <p14:creationId xmlns:p14="http://schemas.microsoft.com/office/powerpoint/2010/main" val="2246489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4ED34-E5F0-ACF9-5930-5C141406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B1C88E-6154-F83B-23AD-24AB856136D4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07524-A20D-EAD2-AD8C-A878DFF29E17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F464462-13B1-6E97-6D26-976C7F3AE98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0C90AE4-3815-66E4-1E09-B07453068853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A6E4EE49-28B9-1F02-3C0A-81C7F8995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4" y="1988462"/>
            <a:ext cx="11965070" cy="42582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F319B0A-5640-E405-9B69-6E896A0B88AE}"/>
              </a:ext>
            </a:extLst>
          </p:cNvPr>
          <p:cNvSpPr txBox="1"/>
          <p:nvPr/>
        </p:nvSpPr>
        <p:spPr>
          <a:xfrm>
            <a:off x="4040303" y="836693"/>
            <a:ext cx="4107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Inception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Module</a:t>
            </a:r>
            <a:endParaRPr lang="ko-KR" altLang="en-US" sz="3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7ACFD7-79CF-E524-B7A0-F24F64CB3CA7}"/>
              </a:ext>
            </a:extLst>
          </p:cNvPr>
          <p:cNvSpPr txBox="1"/>
          <p:nvPr/>
        </p:nvSpPr>
        <p:spPr>
          <a:xfrm>
            <a:off x="2226771" y="1374242"/>
            <a:ext cx="85650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다양한 크기의 특징</a:t>
            </a:r>
            <a:r>
              <a:rPr lang="en-US" altLang="ko-KR" dirty="0"/>
              <a:t>(</a:t>
            </a:r>
            <a:r>
              <a:rPr lang="ko-KR" altLang="en-US" dirty="0"/>
              <a:t>스케일</a:t>
            </a:r>
            <a:r>
              <a:rPr lang="en-US" altLang="ko-KR" dirty="0"/>
              <a:t>)</a:t>
            </a:r>
            <a:r>
              <a:rPr lang="ko-KR" altLang="en-US" dirty="0"/>
              <a:t>을 동시에 잡기 위해서</a:t>
            </a:r>
            <a:endParaRPr lang="en-US" altLang="ko-KR" dirty="0"/>
          </a:p>
          <a:p>
            <a:r>
              <a:rPr lang="ko-KR" altLang="en-US" dirty="0"/>
              <a:t>입력</a:t>
            </a:r>
            <a:r>
              <a:rPr lang="en-US" altLang="ko-KR" dirty="0"/>
              <a:t>, </a:t>
            </a:r>
            <a:r>
              <a:rPr lang="ko-KR" altLang="en-US" dirty="0"/>
              <a:t>출력 사이즈 동일</a:t>
            </a:r>
            <a:r>
              <a:rPr lang="en-US" altLang="ko-KR" dirty="0"/>
              <a:t>(pooling</a:t>
            </a:r>
            <a:r>
              <a:rPr lang="ko-KR" altLang="en-US" dirty="0"/>
              <a:t>도 동일함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=&gt; stride 1</a:t>
            </a:r>
            <a:r>
              <a:rPr lang="ko-KR" altLang="en-US" dirty="0"/>
              <a:t>고정</a:t>
            </a:r>
            <a:r>
              <a:rPr lang="en-US" altLang="ko-KR" dirty="0"/>
              <a:t>, padding</a:t>
            </a:r>
            <a:r>
              <a:rPr lang="ko-KR" altLang="en-US" dirty="0"/>
              <a:t>을 조정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02A151-9181-1335-C3B9-871311C3E416}"/>
              </a:ext>
            </a:extLst>
          </p:cNvPr>
          <p:cNvSpPr txBox="1"/>
          <p:nvPr/>
        </p:nvSpPr>
        <p:spPr>
          <a:xfrm>
            <a:off x="162866" y="2848670"/>
            <a:ext cx="1173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S=1, P=0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543C46-98C5-246E-F1DC-EF5E8B2FE891}"/>
              </a:ext>
            </a:extLst>
          </p:cNvPr>
          <p:cNvSpPr txBox="1"/>
          <p:nvPr/>
        </p:nvSpPr>
        <p:spPr>
          <a:xfrm>
            <a:off x="1640246" y="2843767"/>
            <a:ext cx="1173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S=1, P=1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F118F2-4B2E-4130-840D-2105889232E6}"/>
              </a:ext>
            </a:extLst>
          </p:cNvPr>
          <p:cNvSpPr txBox="1"/>
          <p:nvPr/>
        </p:nvSpPr>
        <p:spPr>
          <a:xfrm>
            <a:off x="4659671" y="2807668"/>
            <a:ext cx="1173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S=1, P=1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0357F-4F53-6906-1D00-1CF24B39F90F}"/>
              </a:ext>
            </a:extLst>
          </p:cNvPr>
          <p:cNvSpPr txBox="1"/>
          <p:nvPr/>
        </p:nvSpPr>
        <p:spPr>
          <a:xfrm>
            <a:off x="3149958" y="2807668"/>
            <a:ext cx="1173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S=1, P=2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14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10FAB-7DC5-4D03-0E26-60973F5F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2917AC-410B-0C90-5C3E-4D6FB362354C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012BC-1E69-28E4-3131-5C2FE2BBB281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9655E15-B815-1F8A-DC2C-5E53D07ACCC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6A55E3D-3437-A7D3-3B76-D24ADD97216A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5EE5C7C8-9824-CB19-1DBA-EAC20ECF1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00" y="1487184"/>
            <a:ext cx="6192114" cy="4334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1EA2F6-FE75-7E0E-FDFF-A990D48CC08D}"/>
              </a:ext>
            </a:extLst>
          </p:cNvPr>
          <p:cNvSpPr txBox="1"/>
          <p:nvPr/>
        </p:nvSpPr>
        <p:spPr>
          <a:xfrm>
            <a:off x="7000875" y="1374242"/>
            <a:ext cx="4419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1x1 conv </a:t>
            </a:r>
            <a:r>
              <a:rPr lang="ko-KR" altLang="en-US" dirty="0"/>
              <a:t>사용해서 파라미터 수 감소</a:t>
            </a:r>
            <a:endParaRPr lang="en-US" altLang="ko-KR" dirty="0"/>
          </a:p>
          <a:p>
            <a:r>
              <a:rPr lang="en-US" altLang="ko-KR" dirty="0"/>
              <a:t>48x480x3x3 vs (16x480x1x1)+(48x16x3x3)</a:t>
            </a:r>
          </a:p>
          <a:p>
            <a:r>
              <a:rPr lang="en-US" altLang="ko-KR" dirty="0"/>
              <a:t>207,360 &gt;&gt; 14,592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나중에 사용하면 안되나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14,592 vs (16x480x3x3)+(48x16x1x1)</a:t>
            </a:r>
          </a:p>
          <a:p>
            <a:r>
              <a:rPr lang="en-US" altLang="ko-KR" dirty="0"/>
              <a:t>14,592 &lt;&lt; 49,888</a:t>
            </a:r>
          </a:p>
          <a:p>
            <a:endParaRPr lang="en-US" altLang="ko-KR" dirty="0"/>
          </a:p>
          <a:p>
            <a:r>
              <a:rPr lang="en-US" altLang="ko-KR" b="1" dirty="0"/>
              <a:t>Q. Pooling</a:t>
            </a:r>
            <a:r>
              <a:rPr lang="ko-KR" altLang="en-US" b="1" dirty="0"/>
              <a:t>은 왜 먼저 하지</a:t>
            </a:r>
            <a:r>
              <a:rPr lang="en-US" altLang="ko-KR" b="1" dirty="0"/>
              <a:t>?</a:t>
            </a:r>
          </a:p>
          <a:p>
            <a:r>
              <a:rPr lang="en-US" altLang="ko-KR" b="1" dirty="0"/>
              <a:t>Q.</a:t>
            </a:r>
            <a:r>
              <a:rPr lang="ko-KR" altLang="en-US" b="1" dirty="0"/>
              <a:t> </a:t>
            </a:r>
            <a:r>
              <a:rPr lang="en-US" altLang="ko-KR" b="1" dirty="0"/>
              <a:t>1x1</a:t>
            </a:r>
            <a:r>
              <a:rPr lang="ko-KR" altLang="en-US" b="1" dirty="0"/>
              <a:t> </a:t>
            </a:r>
            <a:r>
              <a:rPr lang="en-US" altLang="ko-KR" b="1" dirty="0"/>
              <a:t>conv</a:t>
            </a:r>
            <a:r>
              <a:rPr lang="ko-KR" altLang="en-US" b="1" dirty="0"/>
              <a:t>하면 정보손실 별로 없나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39D57-D792-459A-1A8F-715937465D88}"/>
              </a:ext>
            </a:extLst>
          </p:cNvPr>
          <p:cNvSpPr txBox="1"/>
          <p:nvPr/>
        </p:nvSpPr>
        <p:spPr>
          <a:xfrm>
            <a:off x="3171832" y="5977492"/>
            <a:ext cx="160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480 </a:t>
            </a:r>
            <a:r>
              <a:rPr lang="ko-KR" altLang="en-US" dirty="0">
                <a:solidFill>
                  <a:srgbClr val="FF0000"/>
                </a:solidFill>
              </a:rPr>
              <a:t>입력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9253E9-7536-82DD-8D58-C5AC50286E0F}"/>
              </a:ext>
            </a:extLst>
          </p:cNvPr>
          <p:cNvSpPr txBox="1"/>
          <p:nvPr/>
        </p:nvSpPr>
        <p:spPr>
          <a:xfrm>
            <a:off x="3171832" y="942475"/>
            <a:ext cx="160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48 </a:t>
            </a:r>
            <a:r>
              <a:rPr lang="ko-KR" altLang="en-US" dirty="0">
                <a:solidFill>
                  <a:srgbClr val="FF0000"/>
                </a:solidFill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706207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B279-C144-0654-64E8-E677D0AF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7995E2-37A0-33C0-318D-5699C0A38D7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7C220-E546-FB9C-1941-5B773470ACA1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5016250-95E5-2069-15F3-1C4421CE6A8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A89E361-D89A-BF3A-F0C7-83D29B50695A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7BDC41E-84F2-FFC0-1260-191A27EA3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052" y="795936"/>
            <a:ext cx="3435475" cy="56102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8F9B18-1994-3DD5-12F2-05980ABFB8B0}"/>
              </a:ext>
            </a:extLst>
          </p:cNvPr>
          <p:cNvSpPr txBox="1"/>
          <p:nvPr/>
        </p:nvSpPr>
        <p:spPr>
          <a:xfrm>
            <a:off x="4881863" y="1022935"/>
            <a:ext cx="5423223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(S) : Same </a:t>
            </a:r>
            <a:r>
              <a:rPr lang="ko-KR" altLang="en-US" dirty="0"/>
              <a:t>혹은 딱 반으로 떨어지게 되도록 </a:t>
            </a:r>
            <a:r>
              <a:rPr lang="en-US" altLang="ko-KR" dirty="0"/>
              <a:t>padding</a:t>
            </a:r>
            <a:r>
              <a:rPr lang="ko-KR" altLang="en-US" dirty="0"/>
              <a:t>을 조절한다는 뜻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Stride</a:t>
            </a:r>
            <a:r>
              <a:rPr lang="ko-KR" altLang="en-US" dirty="0"/>
              <a:t>가 </a:t>
            </a:r>
            <a:r>
              <a:rPr lang="en-US" altLang="ko-KR" dirty="0"/>
              <a:t>2</a:t>
            </a:r>
            <a:r>
              <a:rPr lang="ko-KR" altLang="en-US" dirty="0"/>
              <a:t>인 경우 반으로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Stride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인 경우 동일하게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(V) : </a:t>
            </a:r>
            <a:r>
              <a:rPr lang="en-US" altLang="ko-KR" dirty="0" err="1"/>
              <a:t>Valide</a:t>
            </a:r>
            <a:r>
              <a:rPr lang="en-US" altLang="ko-KR" dirty="0"/>
              <a:t> Padding 0</a:t>
            </a:r>
            <a:r>
              <a:rPr lang="ko-KR" altLang="en-US" dirty="0"/>
              <a:t>준다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LRN : </a:t>
            </a:r>
            <a:r>
              <a:rPr lang="ko-KR" altLang="en-US" dirty="0"/>
              <a:t>요즘은 </a:t>
            </a:r>
            <a:r>
              <a:rPr lang="en-US" altLang="ko-KR" dirty="0"/>
              <a:t>Conv-</a:t>
            </a:r>
            <a:r>
              <a:rPr lang="en-US" altLang="ko-KR" dirty="0" err="1"/>
              <a:t>ReLU</a:t>
            </a:r>
            <a:r>
              <a:rPr lang="en-US" altLang="ko-KR" dirty="0"/>
              <a:t>-Batch </a:t>
            </a:r>
            <a:r>
              <a:rPr lang="ko-KR" altLang="en-US" dirty="0"/>
              <a:t>조합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187ED1-158B-1DC6-75A2-C8BF05BEF546}"/>
              </a:ext>
            </a:extLst>
          </p:cNvPr>
          <p:cNvSpPr txBox="1"/>
          <p:nvPr/>
        </p:nvSpPr>
        <p:spPr>
          <a:xfrm>
            <a:off x="940700" y="4300761"/>
            <a:ext cx="147061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커널 사이즈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DD57FA-86A5-C538-3D4E-872005CC831E}"/>
              </a:ext>
            </a:extLst>
          </p:cNvPr>
          <p:cNvSpPr txBox="1"/>
          <p:nvPr/>
        </p:nvSpPr>
        <p:spPr>
          <a:xfrm>
            <a:off x="3215254" y="3783247"/>
            <a:ext cx="133444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Stride </a:t>
            </a:r>
            <a:r>
              <a:rPr lang="ko-KR" altLang="en-US" dirty="0">
                <a:solidFill>
                  <a:srgbClr val="FF0000"/>
                </a:solidFill>
              </a:rPr>
              <a:t>크기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68068D8-186A-E85A-E30D-37E4239DFEF0}"/>
              </a:ext>
            </a:extLst>
          </p:cNvPr>
          <p:cNvSpPr/>
          <p:nvPr/>
        </p:nvSpPr>
        <p:spPr>
          <a:xfrm>
            <a:off x="2846690" y="3802297"/>
            <a:ext cx="210835" cy="2914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0A5967E-8A65-9354-1005-2097F5D9C601}"/>
              </a:ext>
            </a:extLst>
          </p:cNvPr>
          <p:cNvSpPr/>
          <p:nvPr/>
        </p:nvSpPr>
        <p:spPr>
          <a:xfrm>
            <a:off x="2501205" y="4338083"/>
            <a:ext cx="423733" cy="3693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3CA61E0-D9E5-72E9-403C-34F7CE1DB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740" y="2838587"/>
            <a:ext cx="2705197" cy="3567574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CE04E76D-30B5-E9A4-E57D-4A229E18EE19}"/>
              </a:ext>
            </a:extLst>
          </p:cNvPr>
          <p:cNvSpPr/>
          <p:nvPr/>
        </p:nvSpPr>
        <p:spPr>
          <a:xfrm>
            <a:off x="6415980" y="4183421"/>
            <a:ext cx="899220" cy="3693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EE230-FCC7-2FB8-7F00-CE8F26467EA0}"/>
              </a:ext>
            </a:extLst>
          </p:cNvPr>
          <p:cNvSpPr txBox="1"/>
          <p:nvPr/>
        </p:nvSpPr>
        <p:spPr>
          <a:xfrm>
            <a:off x="6357542" y="4197932"/>
            <a:ext cx="2471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GAP</a:t>
            </a: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(Global Average Pool)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881834-6B75-91A5-2353-80AD07B8416B}"/>
              </a:ext>
            </a:extLst>
          </p:cNvPr>
          <p:cNvSpPr txBox="1"/>
          <p:nvPr/>
        </p:nvSpPr>
        <p:spPr>
          <a:xfrm>
            <a:off x="7069023" y="3601048"/>
            <a:ext cx="9700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1000</a:t>
            </a:r>
            <a:r>
              <a:rPr lang="ko-KR" altLang="en-US" dirty="0">
                <a:solidFill>
                  <a:srgbClr val="FF0000"/>
                </a:solidFill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803582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AF79-6642-4DE2-7FFC-474F23CCA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CD63DC-95A4-4849-2939-42EF2F30543D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C44FF-C542-6FBC-042B-71996AA42B2C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8E2DDD5-C625-1290-2DF7-B37F1DAA864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06A73C8-595A-6C2F-6C24-F3B823C695B1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" name="Picture 2" descr="딥러닝] GoogLeNet(Inception) 모델의 개요 및 특징">
            <a:extLst>
              <a:ext uri="{FF2B5EF4-FFF2-40B4-BE49-F238E27FC236}">
                <a16:creationId xmlns:a16="http://schemas.microsoft.com/office/drawing/2014/main" id="{A4225427-CCA1-C8C5-8091-0966D7BBD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6925"/>
            <a:ext cx="1219200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EEABE7BC-7CFC-84AC-5434-032C6B5BE6F5}"/>
              </a:ext>
            </a:extLst>
          </p:cNvPr>
          <p:cNvSpPr/>
          <p:nvPr/>
        </p:nvSpPr>
        <p:spPr>
          <a:xfrm>
            <a:off x="5165387" y="4058967"/>
            <a:ext cx="2324910" cy="7782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F4AE665-A8D5-C76C-C4FB-84FC0CD5650C}"/>
              </a:ext>
            </a:extLst>
          </p:cNvPr>
          <p:cNvSpPr/>
          <p:nvPr/>
        </p:nvSpPr>
        <p:spPr>
          <a:xfrm>
            <a:off x="7769158" y="3646808"/>
            <a:ext cx="2324910" cy="7782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5D141C-9293-B3F6-0AE4-527442B22D59}"/>
              </a:ext>
            </a:extLst>
          </p:cNvPr>
          <p:cNvSpPr txBox="1"/>
          <p:nvPr/>
        </p:nvSpPr>
        <p:spPr>
          <a:xfrm>
            <a:off x="2142616" y="1116096"/>
            <a:ext cx="795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Auxiliary classifiers(</a:t>
            </a:r>
            <a:r>
              <a:rPr lang="ko-KR" altLang="en-US" sz="3200" b="1" dirty="0"/>
              <a:t>보조 분류기</a:t>
            </a:r>
            <a:r>
              <a:rPr lang="en-US" altLang="ko-KR" sz="3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9924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1469-EFA7-4121-F7A9-B6374208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AAE492-7BBE-7293-52EC-E2EF8BB81FA2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A08F5-E8D6-7A47-4BA7-DCE754088A29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6BD06F6-8401-BAB2-7CFD-5037B3A37AF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9064A14-94F1-380A-C0EF-9589255D49F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E7FDB6-15B0-506A-13A3-87F4B6BC08B3}"/>
              </a:ext>
            </a:extLst>
          </p:cNvPr>
          <p:cNvSpPr txBox="1"/>
          <p:nvPr/>
        </p:nvSpPr>
        <p:spPr>
          <a:xfrm>
            <a:off x="811645" y="1394183"/>
            <a:ext cx="49605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Auxiliary classifiers(</a:t>
            </a:r>
            <a:r>
              <a:rPr lang="ko-KR" altLang="en-US" b="1" dirty="0"/>
              <a:t>보조 분류기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Vanishing Gradient </a:t>
            </a:r>
            <a:r>
              <a:rPr lang="ko-KR" altLang="en-US" dirty="0"/>
              <a:t>문제 해결하기 위해</a:t>
            </a:r>
            <a:endParaRPr lang="en-US" altLang="ko-KR" dirty="0"/>
          </a:p>
          <a:p>
            <a:r>
              <a:rPr lang="ko-KR" altLang="en-US" dirty="0"/>
              <a:t>네트워크 중간에 두개의 보조 분류기를 구성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 </a:t>
            </a:r>
            <a:r>
              <a:rPr lang="ko-KR" altLang="en-US" dirty="0"/>
              <a:t>테스트에서는 없앰 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F81F1A-1D41-AFDD-ACA8-B1AF56FE2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71" y="3008094"/>
            <a:ext cx="4574029" cy="6463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6D673F2-A80D-7F1E-9614-6EA2C1953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0" y="928339"/>
            <a:ext cx="5763429" cy="50013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987565B-3991-2642-FA9C-FBFF90CC28E6}"/>
              </a:ext>
            </a:extLst>
          </p:cNvPr>
          <p:cNvSpPr txBox="1"/>
          <p:nvPr/>
        </p:nvSpPr>
        <p:spPr>
          <a:xfrm>
            <a:off x="10869498" y="2210398"/>
            <a:ext cx="97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1000</a:t>
            </a:r>
            <a:r>
              <a:rPr lang="ko-KR" altLang="en-US" dirty="0">
                <a:solidFill>
                  <a:srgbClr val="FF0000"/>
                </a:solidFill>
              </a:rPr>
              <a:t>개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54DCC01-AE8C-B3BF-E6C8-64FBBBC0C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84" y="3836400"/>
            <a:ext cx="4960505" cy="28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31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C3F50-63AC-2244-3438-E490986E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456C16-2DAB-30ED-8955-17A37BE6332C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68C11-44F8-61F8-949B-9CDFFA3DCC2D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E5C2943-4A4A-A855-4CC8-206C483799F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074B6B0-CED1-23CF-7649-3662A7E62B9C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5F5311A-FB4A-C1FD-1A1E-0975BD971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40" y="908229"/>
            <a:ext cx="9577075" cy="5546597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5FB99AA-00E0-6C4E-69C9-72956DCBC9A7}"/>
              </a:ext>
            </a:extLst>
          </p:cNvPr>
          <p:cNvSpPr/>
          <p:nvPr/>
        </p:nvSpPr>
        <p:spPr>
          <a:xfrm>
            <a:off x="4781550" y="1819275"/>
            <a:ext cx="523875" cy="2381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5B725E-2D90-213C-F90B-73012F4E6B1D}"/>
              </a:ext>
            </a:extLst>
          </p:cNvPr>
          <p:cNvSpPr txBox="1"/>
          <p:nvPr/>
        </p:nvSpPr>
        <p:spPr>
          <a:xfrm>
            <a:off x="5257800" y="1789926"/>
            <a:ext cx="1334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2</a:t>
            </a:r>
            <a:r>
              <a:rPr lang="ko-KR" altLang="en-US" sz="1200" b="1" dirty="0">
                <a:solidFill>
                  <a:srgbClr val="FF0000"/>
                </a:solidFill>
              </a:rPr>
              <a:t>개 연속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6B9220-452E-AF51-B1C0-E0BFD993A76F}"/>
              </a:ext>
            </a:extLst>
          </p:cNvPr>
          <p:cNvSpPr txBox="1"/>
          <p:nvPr/>
        </p:nvSpPr>
        <p:spPr>
          <a:xfrm>
            <a:off x="5801199" y="504641"/>
            <a:ext cx="1704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3x3</a:t>
            </a:r>
            <a:r>
              <a:rPr lang="ko-KR" altLang="en-US" sz="1200" b="1" dirty="0">
                <a:solidFill>
                  <a:srgbClr val="FF0000"/>
                </a:solidFill>
              </a:rPr>
              <a:t> 들어가기 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1x1</a:t>
            </a:r>
            <a:r>
              <a:rPr lang="ko-KR" altLang="en-US" sz="1200" b="1" dirty="0">
                <a:solidFill>
                  <a:srgbClr val="FF0000"/>
                </a:solidFill>
              </a:rPr>
              <a:t>의 필터의 개수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79D3293-BB29-885F-702D-F88D8BEB26A4}"/>
              </a:ext>
            </a:extLst>
          </p:cNvPr>
          <p:cNvSpPr/>
          <p:nvPr/>
        </p:nvSpPr>
        <p:spPr>
          <a:xfrm>
            <a:off x="6206486" y="930588"/>
            <a:ext cx="523875" cy="4241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80F45F-5F6D-46CE-90A5-1D4A5F545294}"/>
              </a:ext>
            </a:extLst>
          </p:cNvPr>
          <p:cNvSpPr txBox="1"/>
          <p:nvPr/>
        </p:nvSpPr>
        <p:spPr>
          <a:xfrm>
            <a:off x="8653022" y="471902"/>
            <a:ext cx="1704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Pooling </a:t>
            </a:r>
            <a:r>
              <a:rPr lang="ko-KR" altLang="en-US" sz="1200" b="1" dirty="0">
                <a:solidFill>
                  <a:srgbClr val="FF0000"/>
                </a:solidFill>
              </a:rPr>
              <a:t>뒤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1x1</a:t>
            </a:r>
            <a:r>
              <a:rPr lang="ko-KR" altLang="en-US" sz="1200" b="1" dirty="0">
                <a:solidFill>
                  <a:srgbClr val="FF0000"/>
                </a:solidFill>
              </a:rPr>
              <a:t>의 개수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A9CC3A2-607D-8D97-231F-137AC758B38B}"/>
              </a:ext>
            </a:extLst>
          </p:cNvPr>
          <p:cNvSpPr/>
          <p:nvPr/>
        </p:nvSpPr>
        <p:spPr>
          <a:xfrm>
            <a:off x="9058309" y="897849"/>
            <a:ext cx="523875" cy="4241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615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8CF4-9C46-A045-B66C-8D7B81D14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22D210-4F3A-4C62-DB1A-A6332433D75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F84E78-52C2-B6E0-62CC-26C716CF4F1C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9E0C699-DF26-DF62-B527-FE7E7837B77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468AA6B-22B9-BC80-A6F4-594496E905F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944E60A-FFFD-56F8-A293-A80B4401F9DD}"/>
              </a:ext>
            </a:extLst>
          </p:cNvPr>
          <p:cNvSpPr txBox="1"/>
          <p:nvPr/>
        </p:nvSpPr>
        <p:spPr>
          <a:xfrm>
            <a:off x="811645" y="1394183"/>
            <a:ext cx="84657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하나의 이미지를 </a:t>
            </a:r>
            <a:r>
              <a:rPr lang="en-US" altLang="ko-KR" b="1" dirty="0"/>
              <a:t>144</a:t>
            </a:r>
            <a:r>
              <a:rPr lang="ko-KR" altLang="en-US" b="1" dirty="0"/>
              <a:t>개로 만들어 사용</a:t>
            </a:r>
            <a:endParaRPr lang="en-US" altLang="ko-KR" b="1" dirty="0"/>
          </a:p>
          <a:p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4</a:t>
            </a:r>
            <a:r>
              <a:rPr lang="ko-KR" altLang="en-US" b="1" dirty="0"/>
              <a:t>가지로 </a:t>
            </a:r>
            <a:r>
              <a:rPr lang="en-US" altLang="ko-KR" b="1" dirty="0"/>
              <a:t>resize (</a:t>
            </a:r>
            <a:r>
              <a:rPr lang="ko-KR" altLang="en-US" b="1" dirty="0"/>
              <a:t>행 또는 열</a:t>
            </a:r>
            <a:r>
              <a:rPr lang="en-US" altLang="ko-KR" b="1" dirty="0"/>
              <a:t>, </a:t>
            </a:r>
            <a:r>
              <a:rPr lang="ko-KR" altLang="en-US" b="1" dirty="0"/>
              <a:t>둘 중 짧은 쪽이 </a:t>
            </a:r>
            <a:r>
              <a:rPr lang="en-US" altLang="ko-KR" b="1" dirty="0"/>
              <a:t>256, 288, 320, 352 </a:t>
            </a:r>
            <a:r>
              <a:rPr lang="ko-KR" altLang="en-US" b="1" dirty="0"/>
              <a:t>되도록</a:t>
            </a:r>
            <a:r>
              <a:rPr lang="en-US" altLang="ko-KR" b="1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3</a:t>
            </a:r>
            <a:r>
              <a:rPr lang="ko-KR" altLang="en-US" b="1" dirty="0"/>
              <a:t>가지로 </a:t>
            </a:r>
            <a:r>
              <a:rPr lang="en-US" altLang="ko-KR" b="1" dirty="0"/>
              <a:t>crop (</a:t>
            </a:r>
            <a:r>
              <a:rPr lang="ko-KR" altLang="en-US" b="1" dirty="0"/>
              <a:t>가로가 긴 이미지면 왼</a:t>
            </a:r>
            <a:r>
              <a:rPr lang="en-US" altLang="ko-KR" b="1" dirty="0"/>
              <a:t>, </a:t>
            </a:r>
            <a:r>
              <a:rPr lang="ko-KR" altLang="en-US" b="1" dirty="0"/>
              <a:t>중</a:t>
            </a:r>
            <a:r>
              <a:rPr lang="en-US" altLang="ko-KR" b="1" dirty="0"/>
              <a:t>, </a:t>
            </a:r>
            <a:r>
              <a:rPr lang="ko-KR" altLang="en-US" b="1" dirty="0"/>
              <a:t>오</a:t>
            </a:r>
            <a:r>
              <a:rPr lang="en-US" altLang="ko-KR" b="1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2</a:t>
            </a:r>
            <a:r>
              <a:rPr lang="ko-KR" altLang="en-US" b="1" dirty="0"/>
              <a:t>가지로 좌우 뒤집어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5+1</a:t>
            </a:r>
            <a:r>
              <a:rPr lang="ko-KR" altLang="en-US" b="1" dirty="0"/>
              <a:t>가지 </a:t>
            </a:r>
            <a:r>
              <a:rPr lang="en-US" altLang="ko-KR" b="1" dirty="0"/>
              <a:t>(224x224</a:t>
            </a:r>
            <a:r>
              <a:rPr lang="ko-KR" altLang="en-US" b="1" dirty="0"/>
              <a:t>로 </a:t>
            </a:r>
            <a:r>
              <a:rPr lang="ko-KR" altLang="en-US" b="1" dirty="0" err="1"/>
              <a:t>좌상단</a:t>
            </a:r>
            <a:r>
              <a:rPr lang="en-US" altLang="ko-KR" b="1" dirty="0"/>
              <a:t>, </a:t>
            </a:r>
            <a:r>
              <a:rPr lang="ko-KR" altLang="en-US" b="1" dirty="0" err="1"/>
              <a:t>우상단</a:t>
            </a:r>
            <a:r>
              <a:rPr lang="en-US" altLang="ko-KR" b="1" dirty="0"/>
              <a:t>, </a:t>
            </a:r>
            <a:r>
              <a:rPr lang="ko-KR" altLang="en-US" b="1" dirty="0" err="1"/>
              <a:t>좌하단</a:t>
            </a:r>
            <a:r>
              <a:rPr lang="en-US" altLang="ko-KR" b="1" dirty="0"/>
              <a:t>, </a:t>
            </a:r>
            <a:r>
              <a:rPr lang="ko-KR" altLang="en-US" b="1" dirty="0" err="1"/>
              <a:t>우하단</a:t>
            </a:r>
            <a:r>
              <a:rPr lang="en-US" altLang="ko-KR" b="1" dirty="0"/>
              <a:t>, </a:t>
            </a:r>
            <a:r>
              <a:rPr lang="ko-KR" altLang="en-US" b="1" dirty="0"/>
              <a:t>중심 </a:t>
            </a:r>
            <a:r>
              <a:rPr lang="en-US" altLang="ko-KR" b="1" dirty="0"/>
              <a:t>+ 224</a:t>
            </a:r>
            <a:r>
              <a:rPr lang="ko-KR" altLang="en-US" b="1" dirty="0"/>
              <a:t>로 </a:t>
            </a:r>
            <a:r>
              <a:rPr lang="en-US" altLang="ko-KR" b="1" dirty="0"/>
              <a:t>resize)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4x3x2x6 = 144</a:t>
            </a:r>
            <a:r>
              <a:rPr lang="ko-KR" altLang="en-US" b="1" dirty="0"/>
              <a:t>대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177597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C541-22E4-0B5B-3B9A-753905DB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80930E-659D-A974-9169-B6D8982EE02B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B76D5-9B25-412E-A5C1-F76D52F3074A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8BD565A-9A59-336D-A722-DADDD78313BC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D8C918D-E353-F9DE-30A0-C22A89505CB6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34D143F-208A-554C-EF88-0DE5F881E2F6}"/>
              </a:ext>
            </a:extLst>
          </p:cNvPr>
          <p:cNvSpPr txBox="1"/>
          <p:nvPr/>
        </p:nvSpPr>
        <p:spPr>
          <a:xfrm>
            <a:off x="811645" y="1394183"/>
            <a:ext cx="84657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결론</a:t>
            </a:r>
            <a:endParaRPr lang="en-US" altLang="ko-KR" b="1" dirty="0"/>
          </a:p>
          <a:p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/>
              <a:t>여러가지의 필터 결과를 </a:t>
            </a:r>
            <a:r>
              <a:rPr lang="en-US" altLang="ko-KR" b="1" dirty="0" err="1"/>
              <a:t>concat</a:t>
            </a:r>
            <a:r>
              <a:rPr lang="ko-KR" altLang="en-US" b="1" dirty="0"/>
              <a:t>해서 사용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1x1 conv</a:t>
            </a:r>
            <a:r>
              <a:rPr lang="ko-KR" altLang="en-US" b="1" dirty="0"/>
              <a:t>로 채널 수 감소시켜서 파라미터 수 줄임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/>
              <a:t>보조 분류기 이용하여 </a:t>
            </a:r>
            <a:r>
              <a:rPr lang="en-US" altLang="ko-KR" b="1" dirty="0"/>
              <a:t>vanishing gradient </a:t>
            </a:r>
            <a:r>
              <a:rPr lang="ko-KR" altLang="en-US" b="1" dirty="0"/>
              <a:t>완화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 err="1"/>
              <a:t>GoogLeNet</a:t>
            </a:r>
            <a:r>
              <a:rPr lang="ko-KR" altLang="en-US" b="1" dirty="0"/>
              <a:t>이라고도 불림</a:t>
            </a:r>
            <a:r>
              <a:rPr lang="en-US" altLang="ko-KR" b="1" dirty="0"/>
              <a:t>(LeNet </a:t>
            </a:r>
            <a:r>
              <a:rPr lang="ko-KR" altLang="en-US" b="1" dirty="0" err="1"/>
              <a:t>만든사람이</a:t>
            </a:r>
            <a:r>
              <a:rPr lang="ko-KR" altLang="en-US" b="1" dirty="0"/>
              <a:t> 구글 다닐 때 </a:t>
            </a:r>
            <a:r>
              <a:rPr lang="ko-KR" altLang="en-US" b="1" dirty="0" err="1"/>
              <a:t>만든거임</a:t>
            </a:r>
            <a:r>
              <a:rPr lang="en-US" altLang="ko-K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222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FF10F-9355-2456-06D5-0B7887250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0E372C-363C-4223-8165-4DFE5D744F3A}"/>
              </a:ext>
            </a:extLst>
          </p:cNvPr>
          <p:cNvSpPr txBox="1"/>
          <p:nvPr/>
        </p:nvSpPr>
        <p:spPr>
          <a:xfrm>
            <a:off x="2490281" y="2613392"/>
            <a:ext cx="7034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rgbClr val="00B0F0"/>
                </a:solidFill>
              </a:rPr>
              <a:t>Weight Initialization</a:t>
            </a:r>
            <a:endParaRPr lang="en-US" altLang="ko-KR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729024F-29B3-E3E3-79FF-9F729D35DEE9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7E78CBE-DDD2-87A9-01EB-CFAB6464213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51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C416-FBB8-48B5-AEFC-E811B9D8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A5538B-F6EC-1C58-C089-8EAE4F147EAD}"/>
              </a:ext>
            </a:extLst>
          </p:cNvPr>
          <p:cNvSpPr txBox="1"/>
          <p:nvPr/>
        </p:nvSpPr>
        <p:spPr>
          <a:xfrm>
            <a:off x="5472971" y="2923766"/>
            <a:ext cx="14028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dirty="0">
                <a:solidFill>
                  <a:srgbClr val="00B0F0"/>
                </a:solidFill>
              </a:rPr>
              <a:t>끝</a:t>
            </a:r>
            <a:r>
              <a:rPr lang="en-US" altLang="ko-KR" sz="5000" b="1" dirty="0">
                <a:solidFill>
                  <a:srgbClr val="00B0F0"/>
                </a:solidFill>
              </a:rPr>
              <a:t>!</a:t>
            </a:r>
            <a:endParaRPr lang="ko-KR" altLang="en-US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C5F9B1F-D657-FFB2-916C-A7F2B02705E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98CA780-CFC4-00A2-3938-2FCFE5340356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85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1134</TotalTime>
  <Words>429</Words>
  <Application>Microsoft Office PowerPoint</Application>
  <PresentationFormat>와이드스크린</PresentationFormat>
  <Paragraphs>89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GoogLeNet (Inception Net v1)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양재우</dc:creator>
  <cp:lastModifiedBy>양재우</cp:lastModifiedBy>
  <cp:revision>130</cp:revision>
  <dcterms:created xsi:type="dcterms:W3CDTF">2026-01-29T12:22:12Z</dcterms:created>
  <dcterms:modified xsi:type="dcterms:W3CDTF">2026-03-06T08:58:43Z</dcterms:modified>
</cp:coreProperties>
</file>