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8"/>
  </p:notesMasterIdLst>
  <p:sldIdLst>
    <p:sldId id="256" r:id="rId2"/>
    <p:sldId id="257" r:id="rId3"/>
    <p:sldId id="277" r:id="rId4"/>
    <p:sldId id="282" r:id="rId5"/>
    <p:sldId id="281" r:id="rId6"/>
    <p:sldId id="276" r:id="rId7"/>
    <p:sldId id="278" r:id="rId8"/>
    <p:sldId id="279" r:id="rId9"/>
    <p:sldId id="280" r:id="rId10"/>
    <p:sldId id="284" r:id="rId11"/>
    <p:sldId id="283" r:id="rId12"/>
    <p:sldId id="287" r:id="rId13"/>
    <p:sldId id="273" r:id="rId14"/>
    <p:sldId id="285" r:id="rId15"/>
    <p:sldId id="286" r:id="rId16"/>
    <p:sldId id="275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9" d="100"/>
          <a:sy n="99" d="100"/>
        </p:scale>
        <p:origin x="3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2:35:38.0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370 1 24575,'-2'30'0,"-2"-1"0,0 1 0,-2-1 0,-1 1 0,-18 45 0,9-26 0,-23 71 0,21-23 0,10-46 0,-2 0 0,-2-1 0,-38 97 0,31-80 0,17-56 0,-1 1 0,0-1 0,-1 0 0,0 0 0,-7 14 0,0-4 0,-15 43 0,17-41 0,-20 41 0,22-50 0,-13 25 0,20-39 0,0 1 0,0-1 0,0 0 0,-1 1 0,1-1 0,0 0 0,0 1 0,-1-1 0,1 0 0,0 0 0,-1 0 0,1 1 0,0-1 0,-1 0 0,1 0 0,0 0 0,-1 0 0,1 1 0,0-1 0,-1 0 0,1 0 0,0 0 0,-1 0 0,1 0 0,-1 0 0,1 0 0,0 0 0,-1 0 0,1 0 0,0 0 0,-1-1 0,-8-18 0,8 15-136,1 1-1,0-1 1,0 0-1,0 0 1,0 0-1,1 0 1,-1 0-1,1 0 0,1-3 1,2-5-6690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2:35:41.1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73 154 24538,'-1'0'0,"0"0"0,-1 1 0,1-1 0,-1 1 0,-1 0 0,1 0 0,-1 0 0,1 1 0,-1 0 0,0 0 0,0 0 0,-1 1 0,1 0 0,0 0 0,0 1 0,0 0 0,0 0 0,0 0 0,0 1 0,0-1 0,1 1 0,0 1 0,0-1 0,1 0 0,-1 1 0,2-1 0,-1 1 0,1 0 0,0-1 0,1 1 0,0-1 0,1 0 0,-1 0 0,2 0 0,0 0 0,0-1 0,0 0 0,1 0 0,1-1 0,-1 0 0,1 0 0,1-1 0,0 0 0,0-1 0,0 0 0,0-1 0,1 0 0,0-1 0,0 0 0,0 0 0,1-1 0,-1-1 0,1 1 0,-1-2 0,1 1 0,-1-1 0,0 0 0,1-1 0,-1 0 0,0 0 0,0 0 0,0-1 0,0 1 0,-1-1 0,0 0 0,0 0 0,0 0 0,-1 0 0,1 0 0,-1 1 0,-1-1 0,1 1 0,-1-1 0,0 1 0,0 0 0,-1 1 0,1 0 0,-1-1 0,-1 2 0,1-1 0,-1 1 0,0 0 0,0 0 0,0 1 0,0 0 0,-1 0 0,0 1 0,0-1 0,0 1 0,0 1 0,0-1 0,0 0 0,0 1 0,-2 0 0,1-1 0,-1 1 0,0-1 0,0 1 0,0-1 0,0 0 0,-1-1 0,1 1 0,-1-1 0,0 0 0,0-1 0,-1 0 0,1 0 0,-1 0 0,0 0 0,-1-1 0,1 0 0,-1 0 0,0-1 0,-1 1 0,0-1 0,0 0 0,0 0 0,-1 0 0,1-1 0,-1 1 0,-1 0 0,1 0 0,-1-1 0,0 1 0,0 0 0,-1 1 0,1-1 0,-1 1 0,1-1 0,-1 2 0,0-1 0,0 1 0,0 0 0,1 1 0,-1 0 0,0 0 0,1 1 0,-1 0 0,1 1 0,0 0 0,1 1 0,-1 0 0,1 0 0,0 1 0,1 0 0,-1 1 0,2 0 0,-1 0 0,1 1 0,1 0 0,0 1 0,0-1 0,1 1 0,0 0 0,0 0 0,1 1 0,1-1 0,0 1 0,0-1 0,1 1 0,0-1 0,0 1 0,1-1 0,0 1 0,0-1 0,1 0 0,0-1 0,0 1 0,0-1 0,0 0 0,1 0 0,-1-1 0,1 1 0,-1-2 0,1 1 0,-1-1 0,1 1 0,-1-2 0,0 1 0,0-1 0,0 0 0,-1 0 0,0 0 0,0-1 0,0 1 0,0-1 0,-1 0 0,0 0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4:16:45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24575,'1'3'0,"0"0"0,0 0 0,0 0 0,0-1 0,0 1 0,1 0 0,-1 0 0,1-1 0,0 1 0,0-1 0,0 0 0,0 0 0,4 4 0,32 25 0,24 11 0,-43-31 0,-1 1 0,0 1 0,0 0 0,-1 2 0,-1-1 0,0 2 0,20 27 0,-22-25 0,0 0 0,0-2 0,2 1 0,30 23 0,-26-23 0,0 1 0,31 38 0,17 27 0,-41-52 0,-1 2 0,27 43 0,-32-42 0,33 41 0,-28-36 0,-1 0 0,-3 1 0,25 60 0,-11-22 0,-20-40 0,15 50 0,13 32 0,-32-90 0,-1 1 0,-1 0 0,-2 0 0,5 38 0,-2-4 0,-3-19 0,-1 1 0,-1 52 0,-7 590 0,-1-662 0,-2 0 0,-1 0 0,0-1 0,-2 0 0,-15 36 0,-16 11 0,12-27 0,18-31 0,-1-1 0,-1-1 0,0 0 0,-1 0 0,-12 11 0,7-8 0,2 0 0,-15 21 0,16-18 0,-2 0 0,0-1 0,0-1 0,-35 28 0,-78 48 0,111-82 0,-155 84 0,144-79 33,-2-1-1,-39 14 1,-3 0-1496,55-21-5363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4:17:06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F5988-13AF-4EC3-B98A-C84C5E618CE2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C6D70-10E5-4550-AC90-6AEB447778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174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Linear operation</a:t>
            </a:r>
            <a:r>
              <a:rPr lang="ko-KR" altLang="en-US" dirty="0"/>
              <a:t>하면 무언가 나옴</a:t>
            </a:r>
            <a:endParaRPr lang="en-US" altLang="ko-KR" dirty="0"/>
          </a:p>
          <a:p>
            <a:r>
              <a:rPr lang="ko-KR" altLang="en-US" dirty="0"/>
              <a:t>이걸 다시 </a:t>
            </a:r>
            <a:r>
              <a:rPr lang="en-US" altLang="ko-KR" dirty="0"/>
              <a:t>average pooling</a:t>
            </a:r>
            <a:r>
              <a:rPr lang="ko-KR" altLang="en-US" dirty="0"/>
              <a:t>함</a:t>
            </a:r>
            <a:endParaRPr lang="en-US" altLang="ko-KR" dirty="0"/>
          </a:p>
          <a:p>
            <a:r>
              <a:rPr lang="ko-KR" altLang="en-US" dirty="0" err="1"/>
              <a:t>이렇게만하면</a:t>
            </a:r>
            <a:r>
              <a:rPr lang="ko-KR" altLang="en-US" dirty="0"/>
              <a:t> </a:t>
            </a:r>
            <a:r>
              <a:rPr lang="en-US" altLang="ko-KR" dirty="0"/>
              <a:t>linear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Combination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되기 때문에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시그모이드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함수 추가함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C6D70-10E5-4550-AC90-6AEB4477788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672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3EAD5-FFDD-20F1-EB5A-A2D7F6DB1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A93722-E595-1A56-5F43-007DC3624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37BEBA-EAA9-574D-A023-2221444B3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Linear operation</a:t>
            </a:r>
            <a:r>
              <a:rPr lang="ko-KR" altLang="en-US" dirty="0"/>
              <a:t>하면 무언가 나옴</a:t>
            </a:r>
            <a:endParaRPr lang="en-US" altLang="ko-KR" dirty="0"/>
          </a:p>
          <a:p>
            <a:r>
              <a:rPr lang="ko-KR" altLang="en-US" dirty="0"/>
              <a:t>이걸 다시 </a:t>
            </a:r>
            <a:r>
              <a:rPr lang="en-US" altLang="ko-KR" dirty="0"/>
              <a:t>average pooling</a:t>
            </a:r>
            <a:r>
              <a:rPr lang="ko-KR" altLang="en-US" dirty="0"/>
              <a:t>함</a:t>
            </a:r>
            <a:endParaRPr lang="en-US" altLang="ko-KR" dirty="0"/>
          </a:p>
          <a:p>
            <a:r>
              <a:rPr lang="ko-KR" altLang="en-US" dirty="0" err="1"/>
              <a:t>이렇게만하면</a:t>
            </a:r>
            <a:r>
              <a:rPr lang="ko-KR" altLang="en-US" dirty="0"/>
              <a:t> </a:t>
            </a:r>
            <a:r>
              <a:rPr lang="en-US" altLang="ko-KR" dirty="0"/>
              <a:t>linear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Combination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되기 때문에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시그모이드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함수 추가함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2F2265-CDCA-8DE5-F70E-479EAFEAA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C6D70-10E5-4550-AC90-6AEB4477788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632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7945F9-AABC-9C65-E32E-7DC6F4DC4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11F617-8054-B418-FC0A-964ABF689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421B83-EE31-A83C-B685-6EAEEBA3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4E7DC4-B8AA-856D-5721-BDAA73DB2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CD27CC-3813-EE36-C7F8-914BFF439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111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07138-FA98-2AB7-8629-10464DFF2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A09BF1-9866-C7FB-8187-5984390AE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BD2D0B-3720-1367-6E4B-7BDED4E4D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F6C8A2-DCEB-E016-D6AE-F3B0B68E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6390BA-4D7E-3122-1F7C-1B4CED48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94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E1EB0-5361-539B-1487-056C6CA7A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5BF9D0-37F3-CAFE-C020-53FA213F5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1B59A2-CBC0-7F9C-CA48-F53F6D660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FD218-C794-DA8F-6ECF-21D625D29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0A8F59-A765-B2FA-FB87-D4799CAD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19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E2FDB-BFE8-D505-C08B-349088641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CED678-8B0C-DB88-F535-8C3D092E7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C9AE1F-3006-E35B-5B29-E656F1299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D2A83-8FFF-064B-42C5-C747E38ED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9DF2DC-23CE-033E-EB1E-F21159319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9BA7A6-8AAB-2208-7455-180F157DB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532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A3F96-F88C-2D88-2135-0F3147DFC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43EBA4-24D4-11F2-13F5-7A6F2FA26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9FD5AF-A2A8-43FE-E3DC-D57F057D3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3B11BF-9991-5F88-4B19-38B8C115A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601185-94AD-F148-0979-CE9D691B1A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6D847EE-D711-E30C-D9D4-EC4821CB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5A5D1D-80D7-7E82-FC04-26AA80548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F4C5FD-3854-F426-1038-4A54564B5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800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86F072-2AD8-CEFF-E084-3E3F69962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694FF3-EDBA-FDC8-5A91-FB138A7C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F59B27-3B03-58D5-C82A-D07C16084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F7513F-0ECA-24B6-86E6-480DC8961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088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E33E78-1119-2DD1-81CB-2116AC780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89B68D-3253-A4DC-D7D8-6F0479C6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BCEAE9-51CC-451F-C7FC-7DF43359F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69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59C0E2-99E5-9BD5-7DF6-5B325424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FD1D88-67B0-38B1-72C3-AEEE81035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7D50B8-2AEC-054F-8AA0-9D9AFEF0A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B05D71-43D7-A80D-A519-6C3248A89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195C05-EA1A-235E-5FD3-1E6CD8560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AEDF3E-7B0D-F53F-DEEA-161065FC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30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346A15-C5B6-A114-2E29-472AD902A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2CE56-0AC1-5501-F11D-922D2BAA78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8EAC10-74DA-1504-3BDE-5AF8A1226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67C23C-670F-2000-D053-4A2AC3B0B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627DCF-96FF-724E-AACC-50257417E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F118B2-D390-D3C9-14D8-EB02F15E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696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B9EFC3-22DB-323D-3917-A068C963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DA345F-62F3-F7D5-ED06-FE769207A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F6EBFA-6C49-1AFF-63A2-A10252DC4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6C5061-598F-4A83-3874-968F81EC3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A2B8F5-7672-41C0-7BEE-59F64D3E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146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7ECB5A-475F-EFD8-F291-9EBB7270B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EF4E86-9A7C-B062-6CF2-41A0C002E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B6D393-098F-34F5-8BDF-4401A7CFD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B88A78-B2E6-BE76-7F32-5E14E860F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05E81B-7276-0CAB-99FA-DE081090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913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405E34-265E-29A0-791E-52F8F3EC2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9327B4-7F9D-7B88-CFF9-4BDFB0749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D0C84C-48DF-BB7F-6AE3-7C2A85580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90772-3C17-48BD-9462-1080E2FAA39E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8F1F67-B553-9533-E74B-9D2431DC7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C1070C-3585-745F-2560-881E18F9E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51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1.xml"/><Relationship Id="rId4" Type="http://schemas.openxmlformats.org/officeDocument/2006/relationships/hyperlink" Target="https://www.youtube.com/watch?v=c2nlBRiBrHg&amp;t=34s" TargetMode="External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28SQ9wJ74vU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28SQ9wJ74vU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28SQ9wJ74vU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customXml" Target="../ink/ink4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3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FCED6-5F2E-3EA7-B2A2-B861E550B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782" y="1041400"/>
            <a:ext cx="10880436" cy="2387600"/>
          </a:xfrm>
        </p:spPr>
        <p:txBody>
          <a:bodyPr>
            <a:normAutofit/>
          </a:bodyPr>
          <a:lstStyle/>
          <a:p>
            <a:r>
              <a:rPr lang="en-US" altLang="ko-KR" b="1" dirty="0"/>
              <a:t>LeNet5,</a:t>
            </a:r>
            <a:r>
              <a:rPr lang="ko-KR" altLang="en-US" b="1" dirty="0"/>
              <a:t> </a:t>
            </a:r>
            <a:r>
              <a:rPr lang="en-US" altLang="ko-KR" b="1" dirty="0" err="1"/>
              <a:t>AlexNet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2D9F64-AEBF-88D8-A196-96E0A00901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스터디</a:t>
            </a:r>
          </a:p>
        </p:txBody>
      </p:sp>
    </p:spTree>
    <p:extLst>
      <p:ext uri="{BB962C8B-B14F-4D97-AF65-F5344CB8AC3E}">
        <p14:creationId xmlns:p14="http://schemas.microsoft.com/office/powerpoint/2010/main" val="435726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B307B8-22CC-6EDB-5FEE-2C593948E8C0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F0A9A2-B08F-C4CF-F622-D37CB0255281}"/>
              </a:ext>
            </a:extLst>
          </p:cNvPr>
          <p:cNvSpPr txBox="1"/>
          <p:nvPr/>
        </p:nvSpPr>
        <p:spPr>
          <a:xfrm>
            <a:off x="1163052" y="272716"/>
            <a:ext cx="2334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Lenet5 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B77E5FD-4523-FC80-965A-FFF2DDED91D5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BC424E4-6EC8-93D9-3788-386EDA02B354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52BB282-F298-9117-6A94-3176D9387208}"/>
              </a:ext>
            </a:extLst>
          </p:cNvPr>
          <p:cNvSpPr txBox="1"/>
          <p:nvPr/>
        </p:nvSpPr>
        <p:spPr>
          <a:xfrm>
            <a:off x="1163052" y="1331443"/>
            <a:ext cx="97432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LeNet5</a:t>
            </a:r>
          </a:p>
          <a:p>
            <a:r>
              <a:rPr lang="en-US" altLang="ko-KR" dirty="0"/>
              <a:t>LeNet</a:t>
            </a:r>
            <a:r>
              <a:rPr lang="ko-KR" altLang="en-US" dirty="0"/>
              <a:t>은 </a:t>
            </a:r>
            <a:r>
              <a:rPr lang="en-US" altLang="ko-KR" dirty="0"/>
              <a:t>CNN</a:t>
            </a:r>
            <a:r>
              <a:rPr lang="ko-KR" altLang="en-US" dirty="0"/>
              <a:t>을 처음으로 개발한 얀 </a:t>
            </a:r>
            <a:r>
              <a:rPr lang="ko-KR" altLang="en-US" dirty="0" err="1"/>
              <a:t>르쿤</a:t>
            </a:r>
            <a:r>
              <a:rPr lang="en-US" altLang="ko-KR" dirty="0"/>
              <a:t>(Yann </a:t>
            </a:r>
            <a:r>
              <a:rPr lang="en-US" altLang="ko-KR" dirty="0" err="1"/>
              <a:t>Lecun</a:t>
            </a:r>
            <a:r>
              <a:rPr lang="en-US" altLang="ko-KR" dirty="0"/>
              <a:t>) </a:t>
            </a:r>
            <a:r>
              <a:rPr lang="ko-KR" altLang="en-US" dirty="0"/>
              <a:t>연구팀이 </a:t>
            </a:r>
            <a:r>
              <a:rPr lang="en-US" altLang="ko-KR" dirty="0"/>
              <a:t>1998</a:t>
            </a:r>
            <a:r>
              <a:rPr lang="ko-KR" altLang="en-US" dirty="0"/>
              <a:t>년에 개발한 </a:t>
            </a:r>
            <a:r>
              <a:rPr lang="en-US" altLang="ko-KR" dirty="0"/>
              <a:t>CNN </a:t>
            </a:r>
            <a:r>
              <a:rPr lang="ko-KR" altLang="en-US" dirty="0"/>
              <a:t>알고리즘의 이름이다</a:t>
            </a:r>
            <a:r>
              <a:rPr lang="en-US" altLang="ko-KR" dirty="0"/>
              <a:t> (CNN</a:t>
            </a:r>
            <a:r>
              <a:rPr lang="ko-KR" altLang="en-US" dirty="0"/>
              <a:t>을 </a:t>
            </a:r>
            <a:r>
              <a:rPr lang="en-US" altLang="ko-KR" dirty="0"/>
              <a:t>"</a:t>
            </a:r>
            <a:r>
              <a:rPr lang="ko-KR" altLang="en-US" dirty="0"/>
              <a:t>실제로 쓸 수 있게 만든 최초의 성공 모델</a:t>
            </a:r>
            <a:r>
              <a:rPr lang="en-US" altLang="ko-KR" dirty="0"/>
              <a:t>“)</a:t>
            </a:r>
          </a:p>
          <a:p>
            <a:endParaRPr lang="en-US" altLang="ko-KR" dirty="0"/>
          </a:p>
        </p:txBody>
      </p:sp>
      <p:pic>
        <p:nvPicPr>
          <p:cNvPr id="18" name="그림 17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D7C3C6-99F3-84AC-8F8F-A6AB29DAA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895" y="2808615"/>
            <a:ext cx="8598946" cy="253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94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D2065-17A8-F443-D8D1-F7B8C8625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DBF9B2C-D7F9-7F71-43D0-306A3C7BA670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6A747C-F254-15B2-A8CC-7CD4011251C7}"/>
              </a:ext>
            </a:extLst>
          </p:cNvPr>
          <p:cNvSpPr txBox="1"/>
          <p:nvPr/>
        </p:nvSpPr>
        <p:spPr>
          <a:xfrm>
            <a:off x="1163052" y="272716"/>
            <a:ext cx="2334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Lenet5 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DFD4646-5F70-1DF0-C5EA-4110E046F6C5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B9D40F9-0AC7-E6D7-CCF1-F9E9778189FB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" name="그림 2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5447F9-3058-87B8-C42A-D7BC1477D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671" y="1574134"/>
            <a:ext cx="8598946" cy="25317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A25B58-0971-140F-2BBA-C86004064F92}"/>
              </a:ext>
            </a:extLst>
          </p:cNvPr>
          <p:cNvSpPr txBox="1"/>
          <p:nvPr/>
        </p:nvSpPr>
        <p:spPr>
          <a:xfrm>
            <a:off x="2610173" y="1387264"/>
            <a:ext cx="1270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-apple-system"/>
              </a:rPr>
              <a:t>입력 영상</a:t>
            </a:r>
            <a:endParaRPr lang="en-US" altLang="ko-KR" b="0" i="0" dirty="0">
              <a:solidFill>
                <a:srgbClr val="FF0000"/>
              </a:solidFill>
              <a:effectLst/>
              <a:latin typeface="-apple-system"/>
            </a:endParaRPr>
          </a:p>
          <a:p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(</a:t>
            </a:r>
            <a:r>
              <a:rPr lang="ko-KR" altLang="en-US" b="0" i="0" dirty="0">
                <a:solidFill>
                  <a:srgbClr val="FF0000"/>
                </a:solidFill>
                <a:effectLst/>
                <a:latin typeface="-apple-system"/>
              </a:rPr>
              <a:t>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32 x 32)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161C0E-EF23-460D-CD66-2AF16602B021}"/>
              </a:ext>
            </a:extLst>
          </p:cNvPr>
          <p:cNvSpPr txBox="1"/>
          <p:nvPr/>
        </p:nvSpPr>
        <p:spPr>
          <a:xfrm>
            <a:off x="3168429" y="4105835"/>
            <a:ext cx="1474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i="0" dirty="0">
                <a:solidFill>
                  <a:srgbClr val="FF0000"/>
                </a:solidFill>
                <a:effectLst/>
                <a:latin typeface="-apple-system"/>
              </a:rPr>
              <a:t>5x5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-apple-system"/>
              </a:rPr>
              <a:t>필터 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-apple-system"/>
              </a:rPr>
              <a:t>6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-apple-system"/>
              </a:rPr>
              <a:t>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BC0F65-7AB6-FBC9-578C-3CDFDAAF14CE}"/>
              </a:ext>
            </a:extLst>
          </p:cNvPr>
          <p:cNvSpPr txBox="1"/>
          <p:nvPr/>
        </p:nvSpPr>
        <p:spPr>
          <a:xfrm>
            <a:off x="3880686" y="1389468"/>
            <a:ext cx="1291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 err="1">
                <a:solidFill>
                  <a:srgbClr val="FF0000"/>
                </a:solidFill>
                <a:effectLst/>
                <a:latin typeface="-apple-system"/>
              </a:rPr>
              <a:t>특성맵</a:t>
            </a:r>
            <a:r>
              <a:rPr lang="en-US" altLang="ko-KR" dirty="0">
                <a:solidFill>
                  <a:srgbClr val="FF0000"/>
                </a:solidFill>
                <a:latin typeface="-apple-system"/>
              </a:rPr>
              <a:t> 6</a:t>
            </a:r>
            <a:r>
              <a:rPr lang="ko-KR" altLang="en-US" dirty="0">
                <a:solidFill>
                  <a:srgbClr val="FF0000"/>
                </a:solidFill>
                <a:latin typeface="-apple-system"/>
              </a:rPr>
              <a:t>장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F785BC-03FA-A73F-C064-CB31D7273885}"/>
              </a:ext>
            </a:extLst>
          </p:cNvPr>
          <p:cNvSpPr txBox="1"/>
          <p:nvPr/>
        </p:nvSpPr>
        <p:spPr>
          <a:xfrm>
            <a:off x="4731839" y="4008328"/>
            <a:ext cx="13691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 err="1">
                <a:solidFill>
                  <a:srgbClr val="FF0000"/>
                </a:solidFill>
                <a:effectLst/>
                <a:latin typeface="-apple-system"/>
              </a:rPr>
              <a:t>서브샘플링</a:t>
            </a:r>
            <a:endParaRPr lang="en-US" altLang="ko-KR" b="0" i="0" dirty="0">
              <a:solidFill>
                <a:srgbClr val="FF0000"/>
              </a:solidFill>
              <a:effectLst/>
              <a:latin typeface="-apple-system"/>
            </a:endParaRPr>
          </a:p>
          <a:p>
            <a:r>
              <a:rPr lang="en-US" altLang="ko-KR" dirty="0">
                <a:solidFill>
                  <a:srgbClr val="FF0000"/>
                </a:solidFill>
                <a:latin typeface="-apple-system"/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평균 </a:t>
            </a:r>
            <a:r>
              <a:rPr lang="ko-KR" altLang="en-US" dirty="0" err="1">
                <a:solidFill>
                  <a:srgbClr val="FF0000"/>
                </a:solidFill>
              </a:rPr>
              <a:t>풀링</a:t>
            </a:r>
            <a:r>
              <a:rPr lang="en-US" altLang="ko-KR" dirty="0">
                <a:solidFill>
                  <a:srgbClr val="FF0000"/>
                </a:solidFill>
                <a:latin typeface="-apple-system"/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C85664-E975-6FAE-21AF-F89067254DA7}"/>
              </a:ext>
            </a:extLst>
          </p:cNvPr>
          <p:cNvSpPr txBox="1"/>
          <p:nvPr/>
        </p:nvSpPr>
        <p:spPr>
          <a:xfrm>
            <a:off x="6031194" y="4002169"/>
            <a:ext cx="1752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i="0" dirty="0">
                <a:solidFill>
                  <a:srgbClr val="FF0000"/>
                </a:solidFill>
                <a:effectLst/>
                <a:latin typeface="-apple-system"/>
              </a:rPr>
              <a:t>5x5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-apple-system"/>
              </a:rPr>
              <a:t>필터 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-apple-system"/>
              </a:rPr>
              <a:t>16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-apple-system"/>
              </a:rPr>
              <a:t>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17D38D-FEAF-8B01-D81E-715BAC10E37D}"/>
              </a:ext>
            </a:extLst>
          </p:cNvPr>
          <p:cNvSpPr txBox="1"/>
          <p:nvPr/>
        </p:nvSpPr>
        <p:spPr>
          <a:xfrm>
            <a:off x="5236584" y="1353168"/>
            <a:ext cx="1536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 err="1">
                <a:solidFill>
                  <a:srgbClr val="FF0000"/>
                </a:solidFill>
                <a:effectLst/>
                <a:latin typeface="-apple-system"/>
              </a:rPr>
              <a:t>특성맵</a:t>
            </a:r>
            <a:r>
              <a:rPr lang="en-US" altLang="ko-KR" dirty="0">
                <a:solidFill>
                  <a:srgbClr val="FF0000"/>
                </a:solidFill>
                <a:latin typeface="-apple-system"/>
              </a:rPr>
              <a:t> 16</a:t>
            </a:r>
            <a:r>
              <a:rPr lang="ko-KR" altLang="en-US" dirty="0">
                <a:solidFill>
                  <a:srgbClr val="FF0000"/>
                </a:solidFill>
                <a:latin typeface="-apple-system"/>
              </a:rPr>
              <a:t>장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06C4E4-CBCF-2909-B924-37F4BB06E0B7}"/>
              </a:ext>
            </a:extLst>
          </p:cNvPr>
          <p:cNvSpPr txBox="1"/>
          <p:nvPr/>
        </p:nvSpPr>
        <p:spPr>
          <a:xfrm>
            <a:off x="4186695" y="4960700"/>
            <a:ext cx="38286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Max</a:t>
            </a:r>
            <a:r>
              <a:rPr lang="ko-KR" altLang="en-US" dirty="0"/>
              <a:t> </a:t>
            </a:r>
            <a:r>
              <a:rPr lang="ko-KR" altLang="en-US" dirty="0" err="1"/>
              <a:t>pooling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ko-KR" altLang="en-US" dirty="0" err="1"/>
              <a:t>noise</a:t>
            </a:r>
            <a:r>
              <a:rPr lang="ko-KR" altLang="en-US" dirty="0"/>
              <a:t> 민감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평균내서 부드럽게 특징 유지</a:t>
            </a:r>
          </a:p>
        </p:txBody>
      </p:sp>
    </p:spTree>
    <p:extLst>
      <p:ext uri="{BB962C8B-B14F-4D97-AF65-F5344CB8AC3E}">
        <p14:creationId xmlns:p14="http://schemas.microsoft.com/office/powerpoint/2010/main" val="2588718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CF7E3-45BC-C0B6-AA87-D8FE4516C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53283C0-DA7C-C80E-5BB0-CFE66BDDECB8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490A5A-A17F-3324-F2FE-9766D5FCD558}"/>
              </a:ext>
            </a:extLst>
          </p:cNvPr>
          <p:cNvSpPr txBox="1"/>
          <p:nvPr/>
        </p:nvSpPr>
        <p:spPr>
          <a:xfrm>
            <a:off x="1163052" y="272716"/>
            <a:ext cx="2334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Lenet5 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6A37E9D-AF68-EF85-1F40-0CEAD48F4B8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5AC3CB8-4B81-3202-BB3F-138469B2A917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C4E0BD-8D4F-F09B-238F-1259A701BE0F}"/>
              </a:ext>
            </a:extLst>
          </p:cNvPr>
          <p:cNvSpPr/>
          <p:nvPr/>
        </p:nvSpPr>
        <p:spPr>
          <a:xfrm>
            <a:off x="919922" y="1955434"/>
            <a:ext cx="678872" cy="295695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C</a:t>
            </a:r>
            <a:endParaRPr lang="ko-KR" altLang="en-US" sz="3200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7D4D8E9-BD1A-B66E-30DB-161177A7A082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598794" y="3424702"/>
            <a:ext cx="1137056" cy="921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5F38037-DC76-D92D-E6B9-526B837D580F}"/>
              </a:ext>
            </a:extLst>
          </p:cNvPr>
          <p:cNvSpPr txBox="1"/>
          <p:nvPr/>
        </p:nvSpPr>
        <p:spPr>
          <a:xfrm>
            <a:off x="1641815" y="3018554"/>
            <a:ext cx="1128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6x28x28</a:t>
            </a:r>
            <a:endParaRPr lang="ko-KR" altLang="en-US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87799D3-511B-F7AD-3184-32C1255199A5}"/>
              </a:ext>
            </a:extLst>
          </p:cNvPr>
          <p:cNvCxnSpPr/>
          <p:nvPr/>
        </p:nvCxnSpPr>
        <p:spPr>
          <a:xfrm flipV="1">
            <a:off x="3448731" y="3412215"/>
            <a:ext cx="1102316" cy="8904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6898FFE-6757-EF25-534B-3BD50E65F9A0}"/>
              </a:ext>
            </a:extLst>
          </p:cNvPr>
          <p:cNvSpPr txBox="1"/>
          <p:nvPr/>
        </p:nvSpPr>
        <p:spPr>
          <a:xfrm>
            <a:off x="3517506" y="3012709"/>
            <a:ext cx="1128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6</a:t>
            </a:r>
            <a:r>
              <a:rPr lang="en-US" altLang="ko-KR" dirty="0"/>
              <a:t>x14x14</a:t>
            </a:r>
            <a:endParaRPr lang="ko-KR" altLang="en-US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D78FA4D-7B7C-F537-5852-A2A13C6B8CBC}"/>
              </a:ext>
            </a:extLst>
          </p:cNvPr>
          <p:cNvCxnSpPr/>
          <p:nvPr/>
        </p:nvCxnSpPr>
        <p:spPr>
          <a:xfrm flipV="1">
            <a:off x="5303126" y="3433300"/>
            <a:ext cx="1102316" cy="8904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0804F6F-D777-367F-13F8-B00732DA356F}"/>
              </a:ext>
            </a:extLst>
          </p:cNvPr>
          <p:cNvSpPr txBox="1"/>
          <p:nvPr/>
        </p:nvSpPr>
        <p:spPr>
          <a:xfrm>
            <a:off x="5237539" y="3033794"/>
            <a:ext cx="131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16</a:t>
            </a:r>
            <a:r>
              <a:rPr lang="en-US" altLang="ko-KR" dirty="0"/>
              <a:t>x10x10</a:t>
            </a:r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6C65DC5-65C2-1960-9793-2DD5C36D6F15}"/>
              </a:ext>
            </a:extLst>
          </p:cNvPr>
          <p:cNvSpPr/>
          <p:nvPr/>
        </p:nvSpPr>
        <p:spPr>
          <a:xfrm>
            <a:off x="2769859" y="1955434"/>
            <a:ext cx="678872" cy="2956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P</a:t>
            </a:r>
            <a:endParaRPr lang="ko-KR" altLang="en-US" sz="32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C0E64DC-C8AE-57D3-B3A8-A78D5C26AE0D}"/>
              </a:ext>
            </a:extLst>
          </p:cNvPr>
          <p:cNvSpPr/>
          <p:nvPr/>
        </p:nvSpPr>
        <p:spPr>
          <a:xfrm>
            <a:off x="4586154" y="1941772"/>
            <a:ext cx="678872" cy="29569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C</a:t>
            </a:r>
            <a:endParaRPr lang="ko-KR" altLang="en-US" sz="32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5B3E90B-FAA8-2826-2352-3D058672D685}"/>
              </a:ext>
            </a:extLst>
          </p:cNvPr>
          <p:cNvSpPr/>
          <p:nvPr/>
        </p:nvSpPr>
        <p:spPr>
          <a:xfrm>
            <a:off x="6400454" y="1959274"/>
            <a:ext cx="678872" cy="2956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P</a:t>
            </a:r>
            <a:endParaRPr lang="ko-KR" altLang="en-US" sz="3200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CF4CB3A1-5296-9B6B-C2EB-3992790BA706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7081321" y="3425877"/>
            <a:ext cx="905151" cy="13042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46DFDDF-F7CB-E45F-1ED7-78D07B745248}"/>
              </a:ext>
            </a:extLst>
          </p:cNvPr>
          <p:cNvSpPr txBox="1"/>
          <p:nvPr/>
        </p:nvSpPr>
        <p:spPr>
          <a:xfrm>
            <a:off x="7046214" y="3059975"/>
            <a:ext cx="999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16x5x5</a:t>
            </a:r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A25485F-B296-6703-3C71-DCFDBBDB1EFE}"/>
              </a:ext>
            </a:extLst>
          </p:cNvPr>
          <p:cNvSpPr/>
          <p:nvPr/>
        </p:nvSpPr>
        <p:spPr>
          <a:xfrm>
            <a:off x="7986472" y="1947399"/>
            <a:ext cx="678872" cy="29569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C</a:t>
            </a:r>
            <a:endParaRPr lang="ko-KR" altLang="en-US" sz="3200" dirty="0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9143865A-8D7C-787B-0B52-A0D0D8F29E85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8667821" y="3437067"/>
            <a:ext cx="887660" cy="685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C70683C-0150-926E-17B8-9A1DC358EF42}"/>
              </a:ext>
            </a:extLst>
          </p:cNvPr>
          <p:cNvSpPr txBox="1"/>
          <p:nvPr/>
        </p:nvSpPr>
        <p:spPr>
          <a:xfrm>
            <a:off x="8594614" y="3042883"/>
            <a:ext cx="1206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120x1x1</a:t>
            </a:r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18589F8-3AE1-FFA8-8D86-9EBFF13B53E7}"/>
              </a:ext>
            </a:extLst>
          </p:cNvPr>
          <p:cNvSpPr/>
          <p:nvPr/>
        </p:nvSpPr>
        <p:spPr>
          <a:xfrm>
            <a:off x="9555481" y="1959274"/>
            <a:ext cx="678872" cy="29569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FC</a:t>
            </a:r>
            <a:endParaRPr lang="ko-KR" altLang="en-US" sz="32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2F900F7-FA84-DAE1-2C50-65C4711C0C6A}"/>
              </a:ext>
            </a:extLst>
          </p:cNvPr>
          <p:cNvSpPr/>
          <p:nvPr/>
        </p:nvSpPr>
        <p:spPr>
          <a:xfrm>
            <a:off x="10802063" y="1952907"/>
            <a:ext cx="678872" cy="29569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FC</a:t>
            </a:r>
            <a:endParaRPr lang="ko-KR" altLang="en-US" sz="3200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FA4AAF5A-0F58-5A9A-9459-D6B8F6913BE0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 flipV="1">
            <a:off x="10234353" y="3431385"/>
            <a:ext cx="567710" cy="636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64B722B-2CC2-0A58-5248-0354D16238DC}"/>
              </a:ext>
            </a:extLst>
          </p:cNvPr>
          <p:cNvSpPr txBox="1"/>
          <p:nvPr/>
        </p:nvSpPr>
        <p:spPr>
          <a:xfrm>
            <a:off x="10274777" y="3039453"/>
            <a:ext cx="63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84</a:t>
            </a:r>
            <a:endParaRPr lang="ko-KR" altLang="en-US" dirty="0"/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1E3FA7AB-7F2A-EA13-04C8-419845CFFE5A}"/>
              </a:ext>
            </a:extLst>
          </p:cNvPr>
          <p:cNvCxnSpPr>
            <a:cxnSpLocks/>
          </p:cNvCxnSpPr>
          <p:nvPr/>
        </p:nvCxnSpPr>
        <p:spPr>
          <a:xfrm flipV="1">
            <a:off x="11445192" y="3443719"/>
            <a:ext cx="567710" cy="636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4071F3E-EEEB-56A3-DE04-DB65B0FA975F}"/>
              </a:ext>
            </a:extLst>
          </p:cNvPr>
          <p:cNvSpPr txBox="1"/>
          <p:nvPr/>
        </p:nvSpPr>
        <p:spPr>
          <a:xfrm>
            <a:off x="11485616" y="3051787"/>
            <a:ext cx="63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3A522EDA-F231-9D46-91C0-A890905FDE8A}"/>
              </a:ext>
            </a:extLst>
          </p:cNvPr>
          <p:cNvCxnSpPr>
            <a:cxnSpLocks/>
          </p:cNvCxnSpPr>
          <p:nvPr/>
        </p:nvCxnSpPr>
        <p:spPr>
          <a:xfrm flipV="1">
            <a:off x="329843" y="3472686"/>
            <a:ext cx="567710" cy="636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86D3F230-C5D9-32B0-992C-D88CA2D32C96}"/>
              </a:ext>
            </a:extLst>
          </p:cNvPr>
          <p:cNvSpPr txBox="1"/>
          <p:nvPr/>
        </p:nvSpPr>
        <p:spPr>
          <a:xfrm>
            <a:off x="181908" y="3080754"/>
            <a:ext cx="903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32x32</a:t>
            </a:r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F7755F-3566-B769-539D-32FE629C9C20}"/>
              </a:ext>
            </a:extLst>
          </p:cNvPr>
          <p:cNvSpPr txBox="1"/>
          <p:nvPr/>
        </p:nvSpPr>
        <p:spPr>
          <a:xfrm>
            <a:off x="881375" y="4963280"/>
            <a:ext cx="11370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stride:1</a:t>
            </a:r>
          </a:p>
          <a:p>
            <a:r>
              <a:rPr lang="en-US" altLang="ko-KR" dirty="0"/>
              <a:t>size:5</a:t>
            </a:r>
          </a:p>
          <a:p>
            <a:r>
              <a:rPr lang="en-US" altLang="ko-KR" dirty="0"/>
              <a:t>k:6</a:t>
            </a:r>
          </a:p>
          <a:p>
            <a:r>
              <a:rPr lang="en-US" altLang="ko-KR" dirty="0"/>
              <a:t>tanh</a:t>
            </a:r>
          </a:p>
          <a:p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24375E1-8528-3862-B4C5-1C75D256684D}"/>
              </a:ext>
            </a:extLst>
          </p:cNvPr>
          <p:cNvSpPr txBox="1"/>
          <p:nvPr/>
        </p:nvSpPr>
        <p:spPr>
          <a:xfrm>
            <a:off x="4586154" y="4963280"/>
            <a:ext cx="11370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stride:1</a:t>
            </a:r>
          </a:p>
          <a:p>
            <a:r>
              <a:rPr lang="en-US" altLang="ko-KR" dirty="0"/>
              <a:t>size:5</a:t>
            </a:r>
          </a:p>
          <a:p>
            <a:r>
              <a:rPr lang="en-US" altLang="ko-KR" dirty="0"/>
              <a:t>k:16</a:t>
            </a:r>
          </a:p>
          <a:p>
            <a:r>
              <a:rPr lang="en-US" altLang="ko-KR" dirty="0"/>
              <a:t>tanh</a:t>
            </a:r>
          </a:p>
          <a:p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CE8AEB1-144E-B117-0CD5-BE2D93691DBC}"/>
              </a:ext>
            </a:extLst>
          </p:cNvPr>
          <p:cNvSpPr txBox="1"/>
          <p:nvPr/>
        </p:nvSpPr>
        <p:spPr>
          <a:xfrm>
            <a:off x="7986472" y="4963280"/>
            <a:ext cx="11370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stride:1</a:t>
            </a:r>
          </a:p>
          <a:p>
            <a:r>
              <a:rPr lang="en-US" altLang="ko-KR" dirty="0"/>
              <a:t>size:5</a:t>
            </a:r>
          </a:p>
          <a:p>
            <a:r>
              <a:rPr lang="en-US" altLang="ko-KR" dirty="0"/>
              <a:t>k:120</a:t>
            </a:r>
          </a:p>
          <a:p>
            <a:r>
              <a:rPr lang="en-US" altLang="ko-KR" dirty="0"/>
              <a:t>tanh</a:t>
            </a:r>
          </a:p>
          <a:p>
            <a:endParaRPr lang="ko-KR" alt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195EB16-7D09-97DD-0B04-6505960D64D4}"/>
              </a:ext>
            </a:extLst>
          </p:cNvPr>
          <p:cNvSpPr txBox="1"/>
          <p:nvPr/>
        </p:nvSpPr>
        <p:spPr>
          <a:xfrm>
            <a:off x="2733764" y="4963280"/>
            <a:ext cx="1137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stride:2</a:t>
            </a:r>
          </a:p>
          <a:p>
            <a:r>
              <a:rPr lang="en-US" altLang="ko-KR" dirty="0"/>
              <a:t>size:2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E091A4-3661-FBFC-57AC-EE5C00EFF35C}"/>
              </a:ext>
            </a:extLst>
          </p:cNvPr>
          <p:cNvSpPr txBox="1"/>
          <p:nvPr/>
        </p:nvSpPr>
        <p:spPr>
          <a:xfrm>
            <a:off x="6396840" y="4963280"/>
            <a:ext cx="1137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stride:2</a:t>
            </a:r>
          </a:p>
          <a:p>
            <a:r>
              <a:rPr lang="en-US" altLang="ko-KR" dirty="0"/>
              <a:t>size:2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76634C0-352C-FEF6-273B-9B7CED832FB9}"/>
              </a:ext>
            </a:extLst>
          </p:cNvPr>
          <p:cNvSpPr txBox="1"/>
          <p:nvPr/>
        </p:nvSpPr>
        <p:spPr>
          <a:xfrm>
            <a:off x="1074487" y="1514780"/>
            <a:ext cx="73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C1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42A1DA5-4074-BD53-CA8B-6FEA6D161803}"/>
              </a:ext>
            </a:extLst>
          </p:cNvPr>
          <p:cNvSpPr txBox="1"/>
          <p:nvPr/>
        </p:nvSpPr>
        <p:spPr>
          <a:xfrm>
            <a:off x="2865187" y="1469756"/>
            <a:ext cx="73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430D25E-5DC7-BA04-9EC0-2FB2B58E1080}"/>
              </a:ext>
            </a:extLst>
          </p:cNvPr>
          <p:cNvSpPr txBox="1"/>
          <p:nvPr/>
        </p:nvSpPr>
        <p:spPr>
          <a:xfrm>
            <a:off x="4655887" y="1440222"/>
            <a:ext cx="73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C3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0AB038F-790D-C303-BBA8-653038CD0AEB}"/>
              </a:ext>
            </a:extLst>
          </p:cNvPr>
          <p:cNvSpPr txBox="1"/>
          <p:nvPr/>
        </p:nvSpPr>
        <p:spPr>
          <a:xfrm>
            <a:off x="6539828" y="1461457"/>
            <a:ext cx="73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P4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BAA9EA-2EA6-C5C5-FAEB-63AE63F94DC2}"/>
              </a:ext>
            </a:extLst>
          </p:cNvPr>
          <p:cNvSpPr txBox="1"/>
          <p:nvPr/>
        </p:nvSpPr>
        <p:spPr>
          <a:xfrm>
            <a:off x="8130607" y="1446127"/>
            <a:ext cx="73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C5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AF30648-2181-29FF-AFF4-9A5674218ACC}"/>
              </a:ext>
            </a:extLst>
          </p:cNvPr>
          <p:cNvSpPr txBox="1"/>
          <p:nvPr/>
        </p:nvSpPr>
        <p:spPr>
          <a:xfrm>
            <a:off x="9668046" y="1452791"/>
            <a:ext cx="73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F6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75A01C-52A7-F5C1-D2FB-22F7A9E8B07A}"/>
              </a:ext>
            </a:extLst>
          </p:cNvPr>
          <p:cNvSpPr txBox="1"/>
          <p:nvPr/>
        </p:nvSpPr>
        <p:spPr>
          <a:xfrm>
            <a:off x="10660380" y="1423543"/>
            <a:ext cx="96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Output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541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99D9C-B744-5EC5-8125-DB79B634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095D47-0FA9-C6E4-6DC6-CDA6FBDEC578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9A5787-0554-F3AD-BF9F-5E9C9E2135F6}"/>
              </a:ext>
            </a:extLst>
          </p:cNvPr>
          <p:cNvSpPr txBox="1"/>
          <p:nvPr/>
        </p:nvSpPr>
        <p:spPr>
          <a:xfrm>
            <a:off x="1163052" y="272716"/>
            <a:ext cx="2334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Lenet5 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1C2C20D-E852-4DAD-C4B3-DFBE3B5882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739221D-AFA3-81DF-D660-E4532E4E3D5E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EC218B4C-77B7-8D07-BAE9-B90519B46216}"/>
              </a:ext>
            </a:extLst>
          </p:cNvPr>
          <p:cNvGrpSpPr/>
          <p:nvPr/>
        </p:nvGrpSpPr>
        <p:grpSpPr>
          <a:xfrm>
            <a:off x="1888224" y="1320783"/>
            <a:ext cx="7897327" cy="2901983"/>
            <a:chOff x="1802499" y="1978009"/>
            <a:chExt cx="7897327" cy="2901983"/>
          </a:xfrm>
        </p:grpSpPr>
        <p:pic>
          <p:nvPicPr>
            <p:cNvPr id="10" name="그림 9" descr="텍스트, 폰트, 라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5FC1839-5DA7-3DD2-C4E6-9BDEB848D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2499" y="2052446"/>
              <a:ext cx="7897327" cy="2753109"/>
            </a:xfrm>
            <a:prstGeom prst="rect">
              <a:avLst/>
            </a:prstGeom>
          </p:spPr>
        </p:pic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9C208FD8-8376-16D4-AB8C-0BBC981ACEAF}"/>
                </a:ext>
              </a:extLst>
            </p:cNvPr>
            <p:cNvGrpSpPr/>
            <p:nvPr/>
          </p:nvGrpSpPr>
          <p:grpSpPr>
            <a:xfrm>
              <a:off x="2560320" y="1978009"/>
              <a:ext cx="7047520" cy="2901983"/>
              <a:chOff x="2560320" y="1978009"/>
              <a:chExt cx="7047520" cy="2901983"/>
            </a:xfrm>
          </p:grpSpPr>
          <p:sp>
            <p:nvSpPr>
              <p:cNvPr id="2" name="사각형: 둥근 모서리 1">
                <a:extLst>
                  <a:ext uri="{FF2B5EF4-FFF2-40B4-BE49-F238E27FC236}">
                    <a16:creationId xmlns:a16="http://schemas.microsoft.com/office/drawing/2014/main" id="{D143F39B-332F-3226-5BA5-A2084A0BFAE2}"/>
                  </a:ext>
                </a:extLst>
              </p:cNvPr>
              <p:cNvSpPr/>
              <p:nvPr/>
            </p:nvSpPr>
            <p:spPr>
              <a:xfrm>
                <a:off x="2560320" y="2052446"/>
                <a:ext cx="2618072" cy="2827546"/>
              </a:xfrm>
              <a:prstGeom prst="round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E061C347-C877-AA91-E350-2B48B61931A1}"/>
                  </a:ext>
                </a:extLst>
              </p:cNvPr>
              <p:cNvSpPr/>
              <p:nvPr/>
            </p:nvSpPr>
            <p:spPr>
              <a:xfrm>
                <a:off x="5253792" y="1987634"/>
                <a:ext cx="2618072" cy="2827546"/>
              </a:xfrm>
              <a:prstGeom prst="round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F8B966BD-9CEF-CA45-CAEA-FB5489114FD7}"/>
                  </a:ext>
                </a:extLst>
              </p:cNvPr>
              <p:cNvSpPr/>
              <p:nvPr/>
            </p:nvSpPr>
            <p:spPr>
              <a:xfrm>
                <a:off x="7966059" y="1978009"/>
                <a:ext cx="1206816" cy="2827546"/>
              </a:xfrm>
              <a:prstGeom prst="round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8FD15FC3-AF55-DB45-8536-0D9DA67D8052}"/>
                  </a:ext>
                </a:extLst>
              </p:cNvPr>
              <p:cNvSpPr/>
              <p:nvPr/>
            </p:nvSpPr>
            <p:spPr>
              <a:xfrm>
                <a:off x="9264861" y="1978009"/>
                <a:ext cx="342979" cy="2827546"/>
              </a:xfrm>
              <a:prstGeom prst="roundRect">
                <a:avLst/>
              </a:prstGeom>
              <a:noFill/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D67620F-25BB-6D0A-1F3C-533950DB142A}"/>
              </a:ext>
            </a:extLst>
          </p:cNvPr>
          <p:cNvSpPr txBox="1"/>
          <p:nvPr/>
        </p:nvSpPr>
        <p:spPr>
          <a:xfrm>
            <a:off x="2548605" y="4689102"/>
            <a:ext cx="709091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1. CPU </a:t>
            </a:r>
            <a:r>
              <a:rPr lang="ko-KR" altLang="en-US" b="1" dirty="0" err="1"/>
              <a:t>연산량</a:t>
            </a:r>
            <a:r>
              <a:rPr lang="ko-KR" altLang="en-US" b="1" dirty="0"/>
              <a:t> 줄이기</a:t>
            </a:r>
            <a:endParaRPr lang="ko-KR" altLang="en-US" dirty="0"/>
          </a:p>
          <a:p>
            <a:pPr>
              <a:buNone/>
            </a:pPr>
            <a:r>
              <a:rPr lang="en-US" altLang="ko-KR" b="1" dirty="0"/>
              <a:t>2.</a:t>
            </a:r>
            <a:r>
              <a:rPr lang="ko-KR" altLang="en-US" b="1" dirty="0"/>
              <a:t> 특징 다양성</a:t>
            </a:r>
            <a:r>
              <a:rPr lang="en-US" altLang="ko-KR" b="1" dirty="0"/>
              <a:t>(feature diversity)</a:t>
            </a:r>
            <a:r>
              <a:rPr lang="ko-KR" altLang="en-US" b="1" dirty="0"/>
              <a:t>을 만들려고 일부 채널만 연결</a:t>
            </a:r>
            <a:endParaRPr lang="en-US" altLang="ko-KR" b="1" dirty="0"/>
          </a:p>
          <a:p>
            <a:pPr>
              <a:buNone/>
            </a:pPr>
            <a:r>
              <a:rPr lang="en-US" altLang="ko-KR" b="1" dirty="0"/>
              <a:t>  - </a:t>
            </a:r>
            <a:r>
              <a:rPr lang="ko-KR" altLang="en-US" b="1" dirty="0"/>
              <a:t>서로 다른 필터들이 서로 다른 특징을 배우게 하자</a:t>
            </a:r>
            <a:r>
              <a:rPr lang="en-US" altLang="ko-KR" b="1" dirty="0"/>
              <a:t>(</a:t>
            </a:r>
            <a:r>
              <a:rPr lang="ko-KR" altLang="en-US" b="1" dirty="0"/>
              <a:t>표현력 증가</a:t>
            </a:r>
            <a:r>
              <a:rPr lang="en-US" altLang="ko-KR" b="1" dirty="0"/>
              <a:t>)</a:t>
            </a:r>
          </a:p>
          <a:p>
            <a:pPr>
              <a:buNone/>
            </a:pPr>
            <a:r>
              <a:rPr lang="en-US" altLang="ko-KR" b="1" dirty="0"/>
              <a:t>  - </a:t>
            </a:r>
            <a:r>
              <a:rPr lang="ko-KR" altLang="en-US" b="1" dirty="0"/>
              <a:t>전체 연결할 경우 필터들이 비슷하게 학습되기 쉬움</a:t>
            </a:r>
            <a:endParaRPr lang="en-US" altLang="ko-KR" b="1" dirty="0"/>
          </a:p>
          <a:p>
            <a:pPr>
              <a:buNone/>
            </a:pPr>
            <a:r>
              <a:rPr lang="en-US" altLang="ko-KR" b="1" dirty="0"/>
              <a:t>  - </a:t>
            </a:r>
            <a:r>
              <a:rPr lang="en-US" altLang="ko-KR" b="1" dirty="0" err="1"/>
              <a:t>ReLu</a:t>
            </a:r>
            <a:r>
              <a:rPr lang="ko-KR" altLang="en-US" b="1" dirty="0"/>
              <a:t>같은 정규화 기술 부족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75828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C57E0-1BCC-1107-61C0-802C15DF8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7D98E9-AA3B-4B3C-CFC6-2C077E8E666E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71B689-7D3C-9656-2517-A4D420DF8A3D}"/>
              </a:ext>
            </a:extLst>
          </p:cNvPr>
          <p:cNvSpPr txBox="1"/>
          <p:nvPr/>
        </p:nvSpPr>
        <p:spPr>
          <a:xfrm>
            <a:off x="1163052" y="272716"/>
            <a:ext cx="2334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Lenet5 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754481D-F4E0-B0B1-4B14-8E49331AA967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C553E1F-919D-26DC-488D-775DE84E055F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8" name="그림 17" descr="가전용품, 스크린샷, 에어컨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EBC105-33E5-9DBA-9DAF-43A42A834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975" y="1149014"/>
            <a:ext cx="10482178" cy="2562310"/>
          </a:xfrm>
          <a:prstGeom prst="rect">
            <a:avLst/>
          </a:prstGeom>
        </p:spPr>
      </p:pic>
      <p:pic>
        <p:nvPicPr>
          <p:cNvPr id="20" name="그림 19" descr="스크린샷, 가전용품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4B4145-D949-0714-0C73-7D6084AB3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75" y="3819024"/>
            <a:ext cx="10482178" cy="245995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16D5B86-916F-848B-4972-2CF8C63CC851}"/>
              </a:ext>
            </a:extLst>
          </p:cNvPr>
          <p:cNvSpPr txBox="1"/>
          <p:nvPr/>
        </p:nvSpPr>
        <p:spPr>
          <a:xfrm>
            <a:off x="10528300" y="6089610"/>
            <a:ext cx="1206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4"/>
              </a:rPr>
              <a:t>참고 링크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112BFF-1FAF-F8C9-90D7-50F4BDFE7CCF}"/>
              </a:ext>
            </a:extLst>
          </p:cNvPr>
          <p:cNvSpPr txBox="1"/>
          <p:nvPr/>
        </p:nvSpPr>
        <p:spPr>
          <a:xfrm>
            <a:off x="6324601" y="2298700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3</a:t>
            </a:r>
            <a:r>
              <a:rPr lang="ko-KR" altLang="en-US" dirty="0">
                <a:solidFill>
                  <a:srgbClr val="FF0000"/>
                </a:solidFill>
              </a:rPr>
              <a:t>개 채널 이용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9467E6-C452-89B0-04C0-2D7854ADA689}"/>
              </a:ext>
            </a:extLst>
          </p:cNvPr>
          <p:cNvSpPr txBox="1"/>
          <p:nvPr/>
        </p:nvSpPr>
        <p:spPr>
          <a:xfrm>
            <a:off x="7302501" y="4425950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4</a:t>
            </a:r>
            <a:r>
              <a:rPr lang="ko-KR" altLang="en-US" dirty="0">
                <a:solidFill>
                  <a:srgbClr val="FF0000"/>
                </a:solidFill>
              </a:rPr>
              <a:t>개 채널 이용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99490079-B23D-E868-E38C-C433A15DBF91}"/>
                  </a:ext>
                </a:extLst>
              </p14:cNvPr>
              <p14:cNvContentPartPr/>
              <p14:nvPr/>
            </p14:nvContentPartPr>
            <p14:xfrm>
              <a:off x="10122210" y="3936810"/>
              <a:ext cx="133200" cy="42012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99490079-B23D-E868-E38C-C433A15DBF9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16090" y="3930690"/>
                <a:ext cx="145440" cy="43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871ECACC-0F95-8358-70D5-3231DDBFCB4E}"/>
                  </a:ext>
                </a:extLst>
              </p14:cNvPr>
              <p14:cNvContentPartPr/>
              <p14:nvPr/>
            </p14:nvContentPartPr>
            <p14:xfrm>
              <a:off x="10144530" y="4267290"/>
              <a:ext cx="105120" cy="11124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871ECACC-0F95-8358-70D5-3231DDBFCB4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138410" y="4261170"/>
                <a:ext cx="117360" cy="12348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E9DA3C0B-7B3D-9259-9F7B-007EFF78AEEA}"/>
              </a:ext>
            </a:extLst>
          </p:cNvPr>
          <p:cNvSpPr txBox="1"/>
          <p:nvPr/>
        </p:nvSpPr>
        <p:spPr>
          <a:xfrm>
            <a:off x="9848850" y="3727326"/>
            <a:ext cx="971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7</a:t>
            </a:r>
            <a:r>
              <a:rPr lang="ko-KR" altLang="en-US" sz="1200" dirty="0" err="1">
                <a:solidFill>
                  <a:srgbClr val="FF0000"/>
                </a:solidFill>
              </a:rPr>
              <a:t>번째부터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68A60FE-3470-7B44-89ED-A9FCCB6A219F}"/>
              </a:ext>
            </a:extLst>
          </p:cNvPr>
          <p:cNvGrpSpPr/>
          <p:nvPr/>
        </p:nvGrpSpPr>
        <p:grpSpPr>
          <a:xfrm>
            <a:off x="8152004" y="319583"/>
            <a:ext cx="3582796" cy="1240262"/>
            <a:chOff x="1802499" y="1978009"/>
            <a:chExt cx="7897327" cy="2901983"/>
          </a:xfrm>
        </p:grpSpPr>
        <p:pic>
          <p:nvPicPr>
            <p:cNvPr id="42" name="그림 41" descr="텍스트, 폰트, 라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481D60D-D6D9-6B55-1112-4E42AC569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02499" y="2052446"/>
              <a:ext cx="7897327" cy="2753109"/>
            </a:xfrm>
            <a:prstGeom prst="rect">
              <a:avLst/>
            </a:prstGeom>
          </p:spPr>
        </p:pic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0068363F-A560-C53B-F378-928A8F9EFC01}"/>
                </a:ext>
              </a:extLst>
            </p:cNvPr>
            <p:cNvGrpSpPr/>
            <p:nvPr/>
          </p:nvGrpSpPr>
          <p:grpSpPr>
            <a:xfrm>
              <a:off x="2560320" y="1978009"/>
              <a:ext cx="7047520" cy="2901983"/>
              <a:chOff x="2560320" y="1978009"/>
              <a:chExt cx="7047520" cy="2901983"/>
            </a:xfrm>
          </p:grpSpPr>
          <p:sp>
            <p:nvSpPr>
              <p:cNvPr id="44" name="사각형: 둥근 모서리 43">
                <a:extLst>
                  <a:ext uri="{FF2B5EF4-FFF2-40B4-BE49-F238E27FC236}">
                    <a16:creationId xmlns:a16="http://schemas.microsoft.com/office/drawing/2014/main" id="{3DE2F522-C531-061F-143B-A0EEFADCC77E}"/>
                  </a:ext>
                </a:extLst>
              </p:cNvPr>
              <p:cNvSpPr/>
              <p:nvPr/>
            </p:nvSpPr>
            <p:spPr>
              <a:xfrm>
                <a:off x="2560320" y="2052446"/>
                <a:ext cx="2618072" cy="2827546"/>
              </a:xfrm>
              <a:prstGeom prst="round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F6528D97-D112-CAC8-6EA2-40BD863F6DAB}"/>
                  </a:ext>
                </a:extLst>
              </p:cNvPr>
              <p:cNvSpPr/>
              <p:nvPr/>
            </p:nvSpPr>
            <p:spPr>
              <a:xfrm>
                <a:off x="5253792" y="1987634"/>
                <a:ext cx="2618072" cy="2827546"/>
              </a:xfrm>
              <a:prstGeom prst="round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사각형: 둥근 모서리 45">
                <a:extLst>
                  <a:ext uri="{FF2B5EF4-FFF2-40B4-BE49-F238E27FC236}">
                    <a16:creationId xmlns:a16="http://schemas.microsoft.com/office/drawing/2014/main" id="{3A5CB258-48FB-91ED-62A7-F9AE9D50E3E3}"/>
                  </a:ext>
                </a:extLst>
              </p:cNvPr>
              <p:cNvSpPr/>
              <p:nvPr/>
            </p:nvSpPr>
            <p:spPr>
              <a:xfrm>
                <a:off x="7966059" y="1978009"/>
                <a:ext cx="1206816" cy="2827546"/>
              </a:xfrm>
              <a:prstGeom prst="round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4B0C6110-F8B7-2622-F918-CDD2189397AF}"/>
                  </a:ext>
                </a:extLst>
              </p:cNvPr>
              <p:cNvSpPr/>
              <p:nvPr/>
            </p:nvSpPr>
            <p:spPr>
              <a:xfrm>
                <a:off x="9264861" y="1978009"/>
                <a:ext cx="342979" cy="2827546"/>
              </a:xfrm>
              <a:prstGeom prst="roundRect">
                <a:avLst/>
              </a:prstGeom>
              <a:noFill/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78121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33D70-89BA-3787-A2BC-CC33749DC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129BACD-A742-C5EF-A86A-3254811B8A86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C633C7-A37E-9381-B71C-40A46C638D89}"/>
              </a:ext>
            </a:extLst>
          </p:cNvPr>
          <p:cNvSpPr txBox="1"/>
          <p:nvPr/>
        </p:nvSpPr>
        <p:spPr>
          <a:xfrm>
            <a:off x="1163052" y="272716"/>
            <a:ext cx="2334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Lenet5 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34A4AC8-59B5-2C74-62E8-264C723D6128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CF8AA4F-3195-FCA6-C811-3B3EF277A970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6" name="그림 15" descr="스크린샷, 도표, 텍스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C16A84-9CC3-8442-EE12-6A76996C3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677" y="795936"/>
            <a:ext cx="8104471" cy="5663006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108E295-2D1B-8436-0BEF-374E097FD68B}"/>
              </a:ext>
            </a:extLst>
          </p:cNvPr>
          <p:cNvSpPr/>
          <p:nvPr/>
        </p:nvSpPr>
        <p:spPr>
          <a:xfrm>
            <a:off x="2216352" y="876478"/>
            <a:ext cx="329998" cy="144762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EF3F17-4E1C-397D-BABA-E391AF729BAA}"/>
              </a:ext>
            </a:extLst>
          </p:cNvPr>
          <p:cNvSpPr txBox="1"/>
          <p:nvPr/>
        </p:nvSpPr>
        <p:spPr>
          <a:xfrm>
            <a:off x="10528300" y="6089610"/>
            <a:ext cx="1206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참고 링크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8666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F9AA5-ED43-62D0-FB95-862D2BA87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B2384C-3D9D-9735-2F69-5E8CDF9661E1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C018A9-F48F-CB36-B4EA-D827B8DA2F0B}"/>
              </a:ext>
            </a:extLst>
          </p:cNvPr>
          <p:cNvSpPr txBox="1"/>
          <p:nvPr/>
        </p:nvSpPr>
        <p:spPr>
          <a:xfrm>
            <a:off x="1163052" y="272716"/>
            <a:ext cx="2334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Lenet5 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6273697-2452-D727-A30A-FCF10F43E82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7735361-931A-583A-CE45-29A0F15D4B2F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" name="그림 2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BAC3DB-07DC-C456-0B23-CF1BF509D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301" y="860692"/>
            <a:ext cx="8013213" cy="5587465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78F0098-BBEF-A708-E706-2A6E5A7264FD}"/>
              </a:ext>
            </a:extLst>
          </p:cNvPr>
          <p:cNvCxnSpPr>
            <a:cxnSpLocks/>
          </p:cNvCxnSpPr>
          <p:nvPr/>
        </p:nvCxnSpPr>
        <p:spPr>
          <a:xfrm flipV="1">
            <a:off x="4070350" y="2749550"/>
            <a:ext cx="2641600" cy="635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841D08-F97E-50CC-3F19-09154B0A0075}"/>
              </a:ext>
            </a:extLst>
          </p:cNvPr>
          <p:cNvCxnSpPr>
            <a:cxnSpLocks/>
          </p:cNvCxnSpPr>
          <p:nvPr/>
        </p:nvCxnSpPr>
        <p:spPr>
          <a:xfrm flipV="1">
            <a:off x="4070350" y="2749550"/>
            <a:ext cx="2590800" cy="13017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0BFD809-57D4-CB3E-147A-EBF6A3B67048}"/>
              </a:ext>
            </a:extLst>
          </p:cNvPr>
          <p:cNvCxnSpPr>
            <a:cxnSpLocks/>
          </p:cNvCxnSpPr>
          <p:nvPr/>
        </p:nvCxnSpPr>
        <p:spPr>
          <a:xfrm flipV="1">
            <a:off x="4019550" y="2749550"/>
            <a:ext cx="2692400" cy="20173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F2A5AAD-11EC-B7F5-9B22-CE80B8A3A7DB}"/>
              </a:ext>
            </a:extLst>
          </p:cNvPr>
          <p:cNvSpPr/>
          <p:nvPr/>
        </p:nvSpPr>
        <p:spPr>
          <a:xfrm>
            <a:off x="2394152" y="908229"/>
            <a:ext cx="329998" cy="144762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FBBEBF-6BD1-10E5-058B-034C77069906}"/>
              </a:ext>
            </a:extLst>
          </p:cNvPr>
          <p:cNvSpPr txBox="1"/>
          <p:nvPr/>
        </p:nvSpPr>
        <p:spPr>
          <a:xfrm>
            <a:off x="10528300" y="6089610"/>
            <a:ext cx="1206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참고 링크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9362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07A27-95D8-12FA-1DE1-7B9A94A92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DC3C5B4-77F9-ADA6-91D0-A96855291DFE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1ADDFB-5E9D-EF4B-71C8-B1599E08451D}"/>
              </a:ext>
            </a:extLst>
          </p:cNvPr>
          <p:cNvSpPr txBox="1"/>
          <p:nvPr/>
        </p:nvSpPr>
        <p:spPr>
          <a:xfrm>
            <a:off x="1163052" y="272716"/>
            <a:ext cx="2334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Lenet5 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7095CEA-3298-298C-A1BF-1EE03E89CEFE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29A1D4F-1585-18F3-5DCE-747D2FF7E3F7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9" name="그림 18" descr="텍스트, 도표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55FC80-8563-E881-2869-1B6160C17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198" y="881786"/>
            <a:ext cx="8033541" cy="55452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183ED5-0466-578C-61CD-E93A1680C717}"/>
              </a:ext>
            </a:extLst>
          </p:cNvPr>
          <p:cNvSpPr txBox="1"/>
          <p:nvPr/>
        </p:nvSpPr>
        <p:spPr>
          <a:xfrm>
            <a:off x="10528300" y="6089610"/>
            <a:ext cx="1206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참고 링크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0004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9BEF5-3D33-608A-3B60-36C57B95F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86DA711-D394-7DAD-2AB4-07809FED815D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91E00F-549F-DE14-77EF-59A0CFEC4677}"/>
              </a:ext>
            </a:extLst>
          </p:cNvPr>
          <p:cNvSpPr txBox="1"/>
          <p:nvPr/>
        </p:nvSpPr>
        <p:spPr>
          <a:xfrm>
            <a:off x="1163052" y="272716"/>
            <a:ext cx="2334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Lenet5 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4BFDE44-BF03-D3C4-FE2F-1909D5571174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41CD644-879A-81FC-820B-DEDE4A7F66A7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6FBA1D40-55F3-4872-B59B-3C9174805ABA}"/>
              </a:ext>
            </a:extLst>
          </p:cNvPr>
          <p:cNvCxnSpPr>
            <a:cxnSpLocks/>
          </p:cNvCxnSpPr>
          <p:nvPr/>
        </p:nvCxnSpPr>
        <p:spPr>
          <a:xfrm flipV="1">
            <a:off x="1986844" y="2524013"/>
            <a:ext cx="1137056" cy="921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132ED55-BEAD-99B2-DCC0-87D0D9FDBD9A}"/>
              </a:ext>
            </a:extLst>
          </p:cNvPr>
          <p:cNvSpPr txBox="1"/>
          <p:nvPr/>
        </p:nvSpPr>
        <p:spPr>
          <a:xfrm>
            <a:off x="2029865" y="2117865"/>
            <a:ext cx="1128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6x28x28</a:t>
            </a:r>
            <a:endParaRPr lang="ko-KR" altLang="en-US" dirty="0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ECB045A7-AECC-A1F1-3C6E-EBACC7A48353}"/>
              </a:ext>
            </a:extLst>
          </p:cNvPr>
          <p:cNvCxnSpPr/>
          <p:nvPr/>
        </p:nvCxnSpPr>
        <p:spPr>
          <a:xfrm flipV="1">
            <a:off x="3836781" y="2511526"/>
            <a:ext cx="1102316" cy="8904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223B2FC-C4F8-A68F-2757-08FE965564B0}"/>
              </a:ext>
            </a:extLst>
          </p:cNvPr>
          <p:cNvSpPr txBox="1"/>
          <p:nvPr/>
        </p:nvSpPr>
        <p:spPr>
          <a:xfrm>
            <a:off x="3905556" y="2112020"/>
            <a:ext cx="1128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6x14x14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A60D24F-F0EA-7176-D592-D5FFBDA375E5}"/>
              </a:ext>
            </a:extLst>
          </p:cNvPr>
          <p:cNvSpPr/>
          <p:nvPr/>
        </p:nvSpPr>
        <p:spPr>
          <a:xfrm>
            <a:off x="3157909" y="1054745"/>
            <a:ext cx="678872" cy="2956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P</a:t>
            </a:r>
            <a:endParaRPr lang="ko-KR" altLang="en-US" sz="3200" dirty="0"/>
          </a:p>
        </p:txBody>
      </p:sp>
      <p:pic>
        <p:nvPicPr>
          <p:cNvPr id="13" name="그림 12" descr="텍스트, 폰트, 영수증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B3D88B-2928-A86E-932C-FA8305C13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07" y="1318375"/>
            <a:ext cx="4734586" cy="2076740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25BF195-605D-6437-EF2B-50CDEA1AE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441342"/>
              </p:ext>
            </p:extLst>
          </p:nvPr>
        </p:nvGraphicFramePr>
        <p:xfrm>
          <a:off x="1512777" y="4220511"/>
          <a:ext cx="1435814" cy="13656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7907">
                  <a:extLst>
                    <a:ext uri="{9D8B030D-6E8A-4147-A177-3AD203B41FA5}">
                      <a16:colId xmlns:a16="http://schemas.microsoft.com/office/drawing/2014/main" val="4043600959"/>
                    </a:ext>
                  </a:extLst>
                </a:gridCol>
                <a:gridCol w="717907">
                  <a:extLst>
                    <a:ext uri="{9D8B030D-6E8A-4147-A177-3AD203B41FA5}">
                      <a16:colId xmlns:a16="http://schemas.microsoft.com/office/drawing/2014/main" val="3972360419"/>
                    </a:ext>
                  </a:extLst>
                </a:gridCol>
              </a:tblGrid>
              <a:tr h="6828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5</a:t>
                      </a:r>
                      <a:endParaRPr lang="ko-KR" altLang="en-US" sz="3300" dirty="0"/>
                    </a:p>
                  </a:txBody>
                  <a:tcPr marL="168369" marR="168369" marT="84185" marB="8418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6</a:t>
                      </a:r>
                      <a:endParaRPr lang="ko-KR" altLang="en-US" sz="3300" dirty="0"/>
                    </a:p>
                  </a:txBody>
                  <a:tcPr marL="168369" marR="168369" marT="84185" marB="84185"/>
                </a:tc>
                <a:extLst>
                  <a:ext uri="{0D108BD9-81ED-4DB2-BD59-A6C34878D82A}">
                    <a16:rowId xmlns:a16="http://schemas.microsoft.com/office/drawing/2014/main" val="1448545995"/>
                  </a:ext>
                </a:extLst>
              </a:tr>
              <a:tr h="6828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0</a:t>
                      </a:r>
                      <a:endParaRPr lang="ko-KR" altLang="en-US" sz="3300" dirty="0"/>
                    </a:p>
                  </a:txBody>
                  <a:tcPr marL="168369" marR="168369" marT="84185" marB="8418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1</a:t>
                      </a:r>
                      <a:endParaRPr lang="ko-KR" altLang="en-US" sz="3300" dirty="0"/>
                    </a:p>
                  </a:txBody>
                  <a:tcPr marL="168369" marR="168369" marT="84185" marB="84185"/>
                </a:tc>
                <a:extLst>
                  <a:ext uri="{0D108BD9-81ED-4DB2-BD59-A6C34878D82A}">
                    <a16:rowId xmlns:a16="http://schemas.microsoft.com/office/drawing/2014/main" val="4063691972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53F3592-E787-57F9-EAFB-7CC13C938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589598"/>
              </p:ext>
            </p:extLst>
          </p:nvPr>
        </p:nvGraphicFramePr>
        <p:xfrm>
          <a:off x="4315693" y="4220511"/>
          <a:ext cx="1435814" cy="13656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7907">
                  <a:extLst>
                    <a:ext uri="{9D8B030D-6E8A-4147-A177-3AD203B41FA5}">
                      <a16:colId xmlns:a16="http://schemas.microsoft.com/office/drawing/2014/main" val="4043600959"/>
                    </a:ext>
                  </a:extLst>
                </a:gridCol>
                <a:gridCol w="717907">
                  <a:extLst>
                    <a:ext uri="{9D8B030D-6E8A-4147-A177-3AD203B41FA5}">
                      <a16:colId xmlns:a16="http://schemas.microsoft.com/office/drawing/2014/main" val="3972360419"/>
                    </a:ext>
                  </a:extLst>
                </a:gridCol>
              </a:tblGrid>
              <a:tr h="6828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?</a:t>
                      </a:r>
                      <a:endParaRPr lang="ko-KR" altLang="en-US" sz="3300" dirty="0"/>
                    </a:p>
                  </a:txBody>
                  <a:tcPr marL="168369" marR="168369" marT="84185" marB="8418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?</a:t>
                      </a:r>
                      <a:endParaRPr lang="ko-KR" altLang="en-US" sz="3300" dirty="0"/>
                    </a:p>
                  </a:txBody>
                  <a:tcPr marL="168369" marR="168369" marT="84185" marB="84185"/>
                </a:tc>
                <a:extLst>
                  <a:ext uri="{0D108BD9-81ED-4DB2-BD59-A6C34878D82A}">
                    <a16:rowId xmlns:a16="http://schemas.microsoft.com/office/drawing/2014/main" val="1448545995"/>
                  </a:ext>
                </a:extLst>
              </a:tr>
              <a:tr h="6828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?</a:t>
                      </a:r>
                      <a:endParaRPr lang="ko-KR" altLang="en-US" sz="3300" dirty="0"/>
                    </a:p>
                  </a:txBody>
                  <a:tcPr marL="168369" marR="168369" marT="84185" marB="8418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300" dirty="0"/>
                        <a:t>?</a:t>
                      </a:r>
                      <a:endParaRPr lang="ko-KR" altLang="en-US" sz="3300" dirty="0"/>
                    </a:p>
                  </a:txBody>
                  <a:tcPr marL="168369" marR="168369" marT="84185" marB="84185"/>
                </a:tc>
                <a:extLst>
                  <a:ext uri="{0D108BD9-81ED-4DB2-BD59-A6C34878D82A}">
                    <a16:rowId xmlns:a16="http://schemas.microsoft.com/office/drawing/2014/main" val="4063691972"/>
                  </a:ext>
                </a:extLst>
              </a:tr>
            </a:tbl>
          </a:graphicData>
        </a:graphic>
      </p:graphicFrame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C0F3C25-D3A0-18A0-AB5A-DDB2771F79DC}"/>
              </a:ext>
            </a:extLst>
          </p:cNvPr>
          <p:cNvCxnSpPr>
            <a:cxnSpLocks/>
          </p:cNvCxnSpPr>
          <p:nvPr/>
        </p:nvCxnSpPr>
        <p:spPr>
          <a:xfrm>
            <a:off x="3157909" y="4903341"/>
            <a:ext cx="88831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3B42689-B26D-57B1-4668-29494E0252FA}"/>
              </a:ext>
            </a:extLst>
          </p:cNvPr>
          <p:cNvSpPr txBox="1"/>
          <p:nvPr/>
        </p:nvSpPr>
        <p:spPr>
          <a:xfrm>
            <a:off x="3057494" y="4405108"/>
            <a:ext cx="1137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w₁x</a:t>
            </a:r>
            <a:r>
              <a:rPr lang="ko-KR" altLang="en-US" dirty="0"/>
              <a:t> + </a:t>
            </a:r>
            <a:r>
              <a:rPr lang="ko-KR" altLang="en-US" dirty="0" err="1"/>
              <a:t>w</a:t>
            </a:r>
            <a:r>
              <a:rPr lang="ko-KR" altLang="en-US" dirty="0"/>
              <a:t>₀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A596D76-EE29-887E-5FA3-CA10CE2F16AF}"/>
              </a:ext>
            </a:extLst>
          </p:cNvPr>
          <p:cNvCxnSpPr>
            <a:cxnSpLocks/>
          </p:cNvCxnSpPr>
          <p:nvPr/>
        </p:nvCxnSpPr>
        <p:spPr>
          <a:xfrm>
            <a:off x="5992549" y="4903341"/>
            <a:ext cx="88831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CF15B32-83C7-D5EA-7663-E022C34A8E4A}"/>
              </a:ext>
            </a:extLst>
          </p:cNvPr>
          <p:cNvSpPr txBox="1"/>
          <p:nvPr/>
        </p:nvSpPr>
        <p:spPr>
          <a:xfrm>
            <a:off x="5914300" y="4405108"/>
            <a:ext cx="1137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Average</a:t>
            </a:r>
            <a:endParaRPr lang="ko-KR" altLang="en-US" dirty="0"/>
          </a:p>
        </p:txBody>
      </p:sp>
      <p:sp>
        <p:nvSpPr>
          <p:cNvPr id="26" name="순서도: 연결자 25">
            <a:extLst>
              <a:ext uri="{FF2B5EF4-FFF2-40B4-BE49-F238E27FC236}">
                <a16:creationId xmlns:a16="http://schemas.microsoft.com/office/drawing/2014/main" id="{612C6F37-51CA-5A24-0A87-406C7D1B1F75}"/>
              </a:ext>
            </a:extLst>
          </p:cNvPr>
          <p:cNvSpPr/>
          <p:nvPr/>
        </p:nvSpPr>
        <p:spPr>
          <a:xfrm>
            <a:off x="7118609" y="4522341"/>
            <a:ext cx="762000" cy="762000"/>
          </a:xfrm>
          <a:prstGeom prst="flowChartConnector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z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B58F7C0-11A8-4535-13BF-6A364EF463F2}"/>
              </a:ext>
            </a:extLst>
          </p:cNvPr>
          <p:cNvCxnSpPr>
            <a:cxnSpLocks/>
          </p:cNvCxnSpPr>
          <p:nvPr/>
        </p:nvCxnSpPr>
        <p:spPr>
          <a:xfrm>
            <a:off x="8196524" y="4903341"/>
            <a:ext cx="88831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E9685A4-699F-9672-152A-3B24D05DA588}"/>
              </a:ext>
            </a:extLst>
          </p:cNvPr>
          <p:cNvSpPr txBox="1"/>
          <p:nvPr/>
        </p:nvSpPr>
        <p:spPr>
          <a:xfrm>
            <a:off x="8118275" y="4405108"/>
            <a:ext cx="1137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sigmoid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921D43-3F22-A846-8F94-4003935AE400}"/>
              </a:ext>
            </a:extLst>
          </p:cNvPr>
          <p:cNvSpPr txBox="1"/>
          <p:nvPr/>
        </p:nvSpPr>
        <p:spPr>
          <a:xfrm>
            <a:off x="9285576" y="4718675"/>
            <a:ext cx="590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f(z)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4E7672-181D-1DAA-B0CE-DD0448AEFF0C}"/>
              </a:ext>
            </a:extLst>
          </p:cNvPr>
          <p:cNvSpPr txBox="1"/>
          <p:nvPr/>
        </p:nvSpPr>
        <p:spPr>
          <a:xfrm>
            <a:off x="1459230" y="5749417"/>
            <a:ext cx="74409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Linear operation</a:t>
            </a:r>
            <a:r>
              <a:rPr lang="ko-KR" altLang="en-US" dirty="0"/>
              <a:t>으로 가중치를 </a:t>
            </a:r>
            <a:r>
              <a:rPr lang="en-US" altLang="ko-KR" dirty="0"/>
              <a:t>AI</a:t>
            </a:r>
            <a:r>
              <a:rPr lang="ko-KR" altLang="en-US" dirty="0"/>
              <a:t>가 학습</a:t>
            </a:r>
            <a:r>
              <a:rPr lang="en-US" altLang="ko-KR" dirty="0"/>
              <a:t>(</a:t>
            </a:r>
            <a:r>
              <a:rPr lang="ko-KR" altLang="en-US" dirty="0"/>
              <a:t>업데이트</a:t>
            </a:r>
            <a:r>
              <a:rPr lang="en-US" altLang="ko-KR" dirty="0"/>
              <a:t>) </a:t>
            </a:r>
            <a:r>
              <a:rPr lang="ko-KR" altLang="en-US" dirty="0"/>
              <a:t>가능하게 만들고</a:t>
            </a:r>
            <a:br>
              <a:rPr lang="ko-KR" altLang="en-US" dirty="0"/>
            </a:br>
            <a:r>
              <a:rPr lang="en-US" altLang="ko-KR" dirty="0"/>
              <a:t>Sigmoid</a:t>
            </a:r>
            <a:r>
              <a:rPr lang="ko-KR" altLang="en-US" dirty="0"/>
              <a:t>로 비선형성을 추가해서 표현력을 높였다</a:t>
            </a:r>
          </a:p>
        </p:txBody>
      </p:sp>
    </p:spTree>
    <p:extLst>
      <p:ext uri="{BB962C8B-B14F-4D97-AF65-F5344CB8AC3E}">
        <p14:creationId xmlns:p14="http://schemas.microsoft.com/office/powerpoint/2010/main" val="2976187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AF4EE-7FBC-B2AA-A51F-F2A68E182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5C0A62-AFF7-6D2B-F617-DDC83DC442AD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E10CA-0B77-473B-D7B9-C269E73804B8}"/>
              </a:ext>
            </a:extLst>
          </p:cNvPr>
          <p:cNvSpPr txBox="1"/>
          <p:nvPr/>
        </p:nvSpPr>
        <p:spPr>
          <a:xfrm>
            <a:off x="1163052" y="272716"/>
            <a:ext cx="2334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Lenet5 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3BC1A9E-E24A-34F2-BF18-A36669FAD895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15F1673-18B7-F3A0-22D7-92E6717766B7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97B335-DB46-1B03-5AE4-0267E78AED33}"/>
              </a:ext>
            </a:extLst>
          </p:cNvPr>
          <p:cNvSpPr/>
          <p:nvPr/>
        </p:nvSpPr>
        <p:spPr>
          <a:xfrm>
            <a:off x="919922" y="1955434"/>
            <a:ext cx="678872" cy="295695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C</a:t>
            </a:r>
            <a:endParaRPr lang="ko-KR" altLang="en-US" sz="3200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4B52666-734A-12BD-F8BD-1F3D675C86DE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598794" y="3424702"/>
            <a:ext cx="1137056" cy="921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6282A25-6FF4-DB50-63B7-335B4A8277F3}"/>
              </a:ext>
            </a:extLst>
          </p:cNvPr>
          <p:cNvSpPr txBox="1"/>
          <p:nvPr/>
        </p:nvSpPr>
        <p:spPr>
          <a:xfrm>
            <a:off x="1641815" y="3064274"/>
            <a:ext cx="1128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6x28x28</a:t>
            </a:r>
            <a:endParaRPr lang="ko-KR" altLang="en-US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ADA7684-849B-F229-6D35-D398BB9F6D2A}"/>
              </a:ext>
            </a:extLst>
          </p:cNvPr>
          <p:cNvCxnSpPr/>
          <p:nvPr/>
        </p:nvCxnSpPr>
        <p:spPr>
          <a:xfrm flipV="1">
            <a:off x="3448731" y="3412215"/>
            <a:ext cx="1102316" cy="8904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4069B6-D371-3AEC-0DBF-799B6DDC4A14}"/>
              </a:ext>
            </a:extLst>
          </p:cNvPr>
          <p:cNvSpPr txBox="1"/>
          <p:nvPr/>
        </p:nvSpPr>
        <p:spPr>
          <a:xfrm>
            <a:off x="3555606" y="3043189"/>
            <a:ext cx="1128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6x14x14</a:t>
            </a:r>
            <a:endParaRPr lang="ko-KR" altLang="en-US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EB14900-177C-EBC9-650E-B980113AEAF3}"/>
              </a:ext>
            </a:extLst>
          </p:cNvPr>
          <p:cNvCxnSpPr/>
          <p:nvPr/>
        </p:nvCxnSpPr>
        <p:spPr>
          <a:xfrm flipV="1">
            <a:off x="5303126" y="3433300"/>
            <a:ext cx="1102316" cy="8904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6673959-3530-EB68-42F1-2BAD12D325EB}"/>
              </a:ext>
            </a:extLst>
          </p:cNvPr>
          <p:cNvSpPr txBox="1"/>
          <p:nvPr/>
        </p:nvSpPr>
        <p:spPr>
          <a:xfrm>
            <a:off x="5237539" y="3033794"/>
            <a:ext cx="131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16</a:t>
            </a:r>
            <a:r>
              <a:rPr lang="en-US" altLang="ko-KR" dirty="0"/>
              <a:t>x10x10</a:t>
            </a:r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B1974F3-6A47-431B-F297-645A8203D47C}"/>
              </a:ext>
            </a:extLst>
          </p:cNvPr>
          <p:cNvSpPr/>
          <p:nvPr/>
        </p:nvSpPr>
        <p:spPr>
          <a:xfrm>
            <a:off x="2769859" y="1955434"/>
            <a:ext cx="678872" cy="2956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P</a:t>
            </a:r>
            <a:endParaRPr lang="ko-KR" altLang="en-US" sz="32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952AA77-D6BF-102F-0B5F-1CA3DAA8D258}"/>
              </a:ext>
            </a:extLst>
          </p:cNvPr>
          <p:cNvSpPr/>
          <p:nvPr/>
        </p:nvSpPr>
        <p:spPr>
          <a:xfrm>
            <a:off x="4586154" y="1941772"/>
            <a:ext cx="678872" cy="29569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C</a:t>
            </a:r>
            <a:endParaRPr lang="ko-KR" altLang="en-US" sz="32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24F3CCF-FCA5-7550-67C4-E1216F58A8A0}"/>
              </a:ext>
            </a:extLst>
          </p:cNvPr>
          <p:cNvSpPr/>
          <p:nvPr/>
        </p:nvSpPr>
        <p:spPr>
          <a:xfrm>
            <a:off x="6400454" y="1959274"/>
            <a:ext cx="678872" cy="2956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P</a:t>
            </a:r>
            <a:endParaRPr lang="ko-KR" altLang="en-US" sz="3200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ACB7EA46-DC8B-CFF4-CD9D-7558EFEBE370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7081321" y="3425877"/>
            <a:ext cx="905151" cy="13042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E2B18A7-0D0A-A212-DCB1-8297E1101ECF}"/>
              </a:ext>
            </a:extLst>
          </p:cNvPr>
          <p:cNvSpPr txBox="1"/>
          <p:nvPr/>
        </p:nvSpPr>
        <p:spPr>
          <a:xfrm>
            <a:off x="7046214" y="3059975"/>
            <a:ext cx="999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16x5x5</a:t>
            </a:r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6857F35-4E40-2E9A-86F7-C74A6A64C9A0}"/>
              </a:ext>
            </a:extLst>
          </p:cNvPr>
          <p:cNvSpPr/>
          <p:nvPr/>
        </p:nvSpPr>
        <p:spPr>
          <a:xfrm>
            <a:off x="7986472" y="1947399"/>
            <a:ext cx="678872" cy="29569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C</a:t>
            </a:r>
            <a:endParaRPr lang="ko-KR" altLang="en-US" sz="3200" dirty="0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540E9ADF-D03C-F1C5-760D-B7BDB0DC9024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8667821" y="3437067"/>
            <a:ext cx="887660" cy="685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CD2133A-1D0F-316A-9F41-D0B8F4060A7F}"/>
              </a:ext>
            </a:extLst>
          </p:cNvPr>
          <p:cNvSpPr txBox="1"/>
          <p:nvPr/>
        </p:nvSpPr>
        <p:spPr>
          <a:xfrm>
            <a:off x="8594614" y="3042883"/>
            <a:ext cx="1206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120x1x1</a:t>
            </a:r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0D9618D-AB7F-AC4C-55ED-521C8A9FECD7}"/>
              </a:ext>
            </a:extLst>
          </p:cNvPr>
          <p:cNvSpPr/>
          <p:nvPr/>
        </p:nvSpPr>
        <p:spPr>
          <a:xfrm>
            <a:off x="9555481" y="1959274"/>
            <a:ext cx="678872" cy="29569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FC</a:t>
            </a:r>
            <a:endParaRPr lang="ko-KR" altLang="en-US" sz="32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DABD539-6418-A841-705E-767F74BAB133}"/>
              </a:ext>
            </a:extLst>
          </p:cNvPr>
          <p:cNvSpPr/>
          <p:nvPr/>
        </p:nvSpPr>
        <p:spPr>
          <a:xfrm>
            <a:off x="10802063" y="1952907"/>
            <a:ext cx="678872" cy="29569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FC</a:t>
            </a:r>
            <a:endParaRPr lang="ko-KR" altLang="en-US" sz="3200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DE62D836-36D6-E131-C0D3-E27F64013059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 flipV="1">
            <a:off x="10234353" y="3431385"/>
            <a:ext cx="567710" cy="636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4E8DC27-9197-4667-F31A-CA26AF434045}"/>
              </a:ext>
            </a:extLst>
          </p:cNvPr>
          <p:cNvSpPr txBox="1"/>
          <p:nvPr/>
        </p:nvSpPr>
        <p:spPr>
          <a:xfrm>
            <a:off x="10274777" y="3039453"/>
            <a:ext cx="63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84</a:t>
            </a:r>
            <a:endParaRPr lang="ko-KR" altLang="en-US" dirty="0"/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0EF67D05-39EE-008B-F6D2-D7E0560C10E2}"/>
              </a:ext>
            </a:extLst>
          </p:cNvPr>
          <p:cNvCxnSpPr>
            <a:cxnSpLocks/>
          </p:cNvCxnSpPr>
          <p:nvPr/>
        </p:nvCxnSpPr>
        <p:spPr>
          <a:xfrm flipV="1">
            <a:off x="11445192" y="3443719"/>
            <a:ext cx="567710" cy="636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F584827-FA62-2867-14B3-A10D565FF174}"/>
              </a:ext>
            </a:extLst>
          </p:cNvPr>
          <p:cNvSpPr txBox="1"/>
          <p:nvPr/>
        </p:nvSpPr>
        <p:spPr>
          <a:xfrm>
            <a:off x="11485616" y="3051787"/>
            <a:ext cx="63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45C83C36-0083-395F-FC91-D64279C42F64}"/>
              </a:ext>
            </a:extLst>
          </p:cNvPr>
          <p:cNvCxnSpPr>
            <a:cxnSpLocks/>
          </p:cNvCxnSpPr>
          <p:nvPr/>
        </p:nvCxnSpPr>
        <p:spPr>
          <a:xfrm flipV="1">
            <a:off x="329843" y="3472686"/>
            <a:ext cx="567710" cy="636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0581BC6-EF10-DF60-609B-EEE45A2A2C1F}"/>
              </a:ext>
            </a:extLst>
          </p:cNvPr>
          <p:cNvSpPr txBox="1"/>
          <p:nvPr/>
        </p:nvSpPr>
        <p:spPr>
          <a:xfrm>
            <a:off x="181908" y="3080754"/>
            <a:ext cx="903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32x32</a:t>
            </a:r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B1C805D-EF0C-8F1C-DFD0-A78893150C0B}"/>
              </a:ext>
            </a:extLst>
          </p:cNvPr>
          <p:cNvSpPr txBox="1"/>
          <p:nvPr/>
        </p:nvSpPr>
        <p:spPr>
          <a:xfrm>
            <a:off x="881375" y="4963280"/>
            <a:ext cx="11370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stride:1</a:t>
            </a:r>
          </a:p>
          <a:p>
            <a:r>
              <a:rPr lang="en-US" altLang="ko-KR" dirty="0"/>
              <a:t>size:5</a:t>
            </a:r>
          </a:p>
          <a:p>
            <a:r>
              <a:rPr lang="en-US" altLang="ko-KR" dirty="0"/>
              <a:t>k:6</a:t>
            </a:r>
          </a:p>
          <a:p>
            <a:r>
              <a:rPr lang="en-US" altLang="ko-KR" dirty="0"/>
              <a:t>tanh</a:t>
            </a:r>
          </a:p>
          <a:p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85C46E-579D-7E4F-2A3A-9992ED4A4986}"/>
              </a:ext>
            </a:extLst>
          </p:cNvPr>
          <p:cNvSpPr txBox="1"/>
          <p:nvPr/>
        </p:nvSpPr>
        <p:spPr>
          <a:xfrm>
            <a:off x="4586154" y="4963280"/>
            <a:ext cx="11370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stride:1</a:t>
            </a:r>
          </a:p>
          <a:p>
            <a:r>
              <a:rPr lang="en-US" altLang="ko-KR" dirty="0"/>
              <a:t>size:5</a:t>
            </a:r>
          </a:p>
          <a:p>
            <a:r>
              <a:rPr lang="en-US" altLang="ko-KR" dirty="0"/>
              <a:t>k:16</a:t>
            </a:r>
          </a:p>
          <a:p>
            <a:r>
              <a:rPr lang="en-US" altLang="ko-KR" dirty="0"/>
              <a:t>tanh</a:t>
            </a:r>
          </a:p>
          <a:p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847159-5185-6F3E-72FC-84A655EF62EA}"/>
              </a:ext>
            </a:extLst>
          </p:cNvPr>
          <p:cNvSpPr txBox="1"/>
          <p:nvPr/>
        </p:nvSpPr>
        <p:spPr>
          <a:xfrm>
            <a:off x="7986472" y="4963280"/>
            <a:ext cx="11370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stride:1</a:t>
            </a:r>
          </a:p>
          <a:p>
            <a:r>
              <a:rPr lang="en-US" altLang="ko-KR" dirty="0"/>
              <a:t>size:5</a:t>
            </a:r>
          </a:p>
          <a:p>
            <a:r>
              <a:rPr lang="en-US" altLang="ko-KR" dirty="0"/>
              <a:t>k:120</a:t>
            </a:r>
          </a:p>
          <a:p>
            <a:r>
              <a:rPr lang="en-US" altLang="ko-KR" dirty="0"/>
              <a:t>tanh</a:t>
            </a:r>
          </a:p>
          <a:p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039CD8-56EF-2DDF-F5AC-4BF9C3E92067}"/>
              </a:ext>
            </a:extLst>
          </p:cNvPr>
          <p:cNvSpPr txBox="1"/>
          <p:nvPr/>
        </p:nvSpPr>
        <p:spPr>
          <a:xfrm>
            <a:off x="690829" y="1304321"/>
            <a:ext cx="1415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1025×120 = 123,000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716165-A49F-C51C-9A59-7D2A12AFC274}"/>
              </a:ext>
            </a:extLst>
          </p:cNvPr>
          <p:cNvSpPr txBox="1"/>
          <p:nvPr/>
        </p:nvSpPr>
        <p:spPr>
          <a:xfrm>
            <a:off x="2733764" y="4963280"/>
            <a:ext cx="1137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stride:2</a:t>
            </a:r>
          </a:p>
          <a:p>
            <a:r>
              <a:rPr lang="en-US" altLang="ko-KR" dirty="0"/>
              <a:t>size:2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36811-D9A8-38F1-9E46-7A878A37DE8B}"/>
              </a:ext>
            </a:extLst>
          </p:cNvPr>
          <p:cNvSpPr txBox="1"/>
          <p:nvPr/>
        </p:nvSpPr>
        <p:spPr>
          <a:xfrm>
            <a:off x="6396840" y="4963280"/>
            <a:ext cx="1137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stride:2</a:t>
            </a:r>
          </a:p>
          <a:p>
            <a:r>
              <a:rPr lang="en-US" altLang="ko-KR" dirty="0"/>
              <a:t>size:2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EBAC10-E552-49BE-C5F6-4DCA3850B4F5}"/>
              </a:ext>
            </a:extLst>
          </p:cNvPr>
          <p:cNvSpPr txBox="1"/>
          <p:nvPr/>
        </p:nvSpPr>
        <p:spPr>
          <a:xfrm>
            <a:off x="2638492" y="1330094"/>
            <a:ext cx="1137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6x2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=12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2E1CB3-805E-593A-A486-B8C30E260526}"/>
              </a:ext>
            </a:extLst>
          </p:cNvPr>
          <p:cNvSpPr txBox="1"/>
          <p:nvPr/>
        </p:nvSpPr>
        <p:spPr>
          <a:xfrm>
            <a:off x="4451486" y="447872"/>
            <a:ext cx="16270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(5x3x3+1)x6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+(5x5x4+1)x6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+(5x5x4+1)x3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+(5x5x6+1)x1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=1516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0A1524-62A4-4D48-15AD-2B94132A4F4A}"/>
              </a:ext>
            </a:extLst>
          </p:cNvPr>
          <p:cNvSpPr txBox="1"/>
          <p:nvPr/>
        </p:nvSpPr>
        <p:spPr>
          <a:xfrm>
            <a:off x="4164468" y="2154829"/>
            <a:ext cx="1627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FC:1,883,200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1193CF-B5D3-AB1E-9A96-AD97D8F8E49B}"/>
              </a:ext>
            </a:extLst>
          </p:cNvPr>
          <p:cNvSpPr txBox="1"/>
          <p:nvPr/>
        </p:nvSpPr>
        <p:spPr>
          <a:xfrm>
            <a:off x="6387268" y="1289417"/>
            <a:ext cx="1137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6x2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=12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E77913-A8A5-B55B-E7F5-8B626C5B1B41}"/>
              </a:ext>
            </a:extLst>
          </p:cNvPr>
          <p:cNvSpPr txBox="1"/>
          <p:nvPr/>
        </p:nvSpPr>
        <p:spPr>
          <a:xfrm>
            <a:off x="7623827" y="1270207"/>
            <a:ext cx="2025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(5x5x16+1)x120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=48120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F9681B-B22B-C8B1-91ED-AFAFE501AAFF}"/>
              </a:ext>
            </a:extLst>
          </p:cNvPr>
          <p:cNvSpPr txBox="1"/>
          <p:nvPr/>
        </p:nvSpPr>
        <p:spPr>
          <a:xfrm>
            <a:off x="9419308" y="1278869"/>
            <a:ext cx="1382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(120+1)x84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=10164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2A9BB3-D1D6-3C54-7A53-8FDCE4B929A9}"/>
              </a:ext>
            </a:extLst>
          </p:cNvPr>
          <p:cNvSpPr txBox="1"/>
          <p:nvPr/>
        </p:nvSpPr>
        <p:spPr>
          <a:xfrm>
            <a:off x="10753814" y="1268845"/>
            <a:ext cx="1382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(84+1)x10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=850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31DA74-240F-D271-C79A-726F871B4680}"/>
              </a:ext>
            </a:extLst>
          </p:cNvPr>
          <p:cNvSpPr txBox="1"/>
          <p:nvPr/>
        </p:nvSpPr>
        <p:spPr>
          <a:xfrm>
            <a:off x="9649711" y="5776083"/>
            <a:ext cx="2256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Lenet5: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60,850</a:t>
            </a:r>
            <a:r>
              <a:rPr lang="ko-KR" altLang="en-US" dirty="0">
                <a:solidFill>
                  <a:srgbClr val="FF0000"/>
                </a:solidFill>
              </a:rPr>
              <a:t>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77A4BA-DFBE-EC20-6264-3D540DBA1007}"/>
              </a:ext>
            </a:extLst>
          </p:cNvPr>
          <p:cNvSpPr txBox="1"/>
          <p:nvPr/>
        </p:nvSpPr>
        <p:spPr>
          <a:xfrm>
            <a:off x="595597" y="2203929"/>
            <a:ext cx="1627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FC:4,821,600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C66285-C40A-2C5E-227D-BAC4FD10B240}"/>
              </a:ext>
            </a:extLst>
          </p:cNvPr>
          <p:cNvSpPr txBox="1"/>
          <p:nvPr/>
        </p:nvSpPr>
        <p:spPr>
          <a:xfrm>
            <a:off x="2273746" y="2194456"/>
            <a:ext cx="1627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FC:5,533,080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018DAE-63F0-0695-0416-D1078CECBBCA}"/>
              </a:ext>
            </a:extLst>
          </p:cNvPr>
          <p:cNvSpPr txBox="1"/>
          <p:nvPr/>
        </p:nvSpPr>
        <p:spPr>
          <a:xfrm>
            <a:off x="5883158" y="2164836"/>
            <a:ext cx="1627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FC:640,400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F6D835-9DFF-F6B0-6675-2691DD23DE13}"/>
              </a:ext>
            </a:extLst>
          </p:cNvPr>
          <p:cNvSpPr txBox="1"/>
          <p:nvPr/>
        </p:nvSpPr>
        <p:spPr>
          <a:xfrm>
            <a:off x="7646814" y="2192546"/>
            <a:ext cx="1627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FC:48,120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11D57F-B402-D05B-4CF5-1E54BB900DA3}"/>
              </a:ext>
            </a:extLst>
          </p:cNvPr>
          <p:cNvSpPr txBox="1"/>
          <p:nvPr/>
        </p:nvSpPr>
        <p:spPr>
          <a:xfrm>
            <a:off x="9312051" y="2164836"/>
            <a:ext cx="1627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FC:10,164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298DB0-0EA9-4A09-B379-B6C1247A670E}"/>
              </a:ext>
            </a:extLst>
          </p:cNvPr>
          <p:cNvSpPr txBox="1"/>
          <p:nvPr/>
        </p:nvSpPr>
        <p:spPr>
          <a:xfrm>
            <a:off x="10629869" y="2174738"/>
            <a:ext cx="1627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FC:850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954267-DC21-8D80-672C-8C4A29A6A99D}"/>
              </a:ext>
            </a:extLst>
          </p:cNvPr>
          <p:cNvSpPr txBox="1"/>
          <p:nvPr/>
        </p:nvSpPr>
        <p:spPr>
          <a:xfrm>
            <a:off x="9704668" y="6071276"/>
            <a:ext cx="18491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FC: 12,937,414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606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96A4A-143C-29A3-673E-C44714233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FD27BA-C5A7-92D9-DCEC-4293DE78BF4F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168C0C-9B03-8110-F950-0B7B85ECA5BF}"/>
              </a:ext>
            </a:extLst>
          </p:cNvPr>
          <p:cNvSpPr txBox="1"/>
          <p:nvPr/>
        </p:nvSpPr>
        <p:spPr>
          <a:xfrm>
            <a:off x="1163052" y="272716"/>
            <a:ext cx="2334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Lenet5 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AF5A7EA-08CC-E38A-EB7E-CC7E1A993242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6B325D2-C453-3EC8-29E9-01306858B921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9622A1C-6649-F17F-BF1A-D4BA5977483C}"/>
              </a:ext>
            </a:extLst>
          </p:cNvPr>
          <p:cNvSpPr txBox="1"/>
          <p:nvPr/>
        </p:nvSpPr>
        <p:spPr>
          <a:xfrm>
            <a:off x="1276350" y="1900098"/>
            <a:ext cx="744093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한계점</a:t>
            </a:r>
            <a:endParaRPr lang="en-US" altLang="ko-K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고해상도 이미지 </a:t>
            </a:r>
            <a:r>
              <a:rPr lang="ko-KR" altLang="en-US" dirty="0" err="1"/>
              <a:t>정답률</a:t>
            </a:r>
            <a:r>
              <a:rPr lang="ko-KR" altLang="en-US" dirty="0"/>
              <a:t> 떨어짐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깊은 신경망 모델 필요함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깊은신경망은</a:t>
            </a:r>
            <a:r>
              <a:rPr lang="ko-KR" altLang="en-US" dirty="0"/>
              <a:t> 성능 떨어짐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기울기 소실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시그모이드</a:t>
            </a:r>
            <a:r>
              <a:rPr lang="ko-KR" altLang="en-US" dirty="0"/>
              <a:t> 함수 한계</a:t>
            </a:r>
          </a:p>
        </p:txBody>
      </p:sp>
    </p:spTree>
    <p:extLst>
      <p:ext uri="{BB962C8B-B14F-4D97-AF65-F5344CB8AC3E}">
        <p14:creationId xmlns:p14="http://schemas.microsoft.com/office/powerpoint/2010/main" val="2092482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7B00A-DFD2-C575-2E19-DBA214226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048F5FB-D7CB-5ABF-B4B5-3E1C787647F0}"/>
              </a:ext>
            </a:extLst>
          </p:cNvPr>
          <p:cNvSpPr txBox="1"/>
          <p:nvPr/>
        </p:nvSpPr>
        <p:spPr>
          <a:xfrm>
            <a:off x="4693187" y="2945031"/>
            <a:ext cx="296238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b="1" dirty="0" err="1">
                <a:solidFill>
                  <a:srgbClr val="00B0F0"/>
                </a:solidFill>
              </a:rPr>
              <a:t>AlextNet</a:t>
            </a:r>
            <a:endParaRPr lang="ko-KR" altLang="en-US" sz="50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1F06F46-60CE-83FA-CF28-FEA08011EBB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366B451-EA3C-17B0-7056-A50D941F5A60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825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EC51B-7CC7-FD89-076E-91E88F4F5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EE8E1B-4BBF-5BA4-9558-5212798322FB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AB3A6-028F-0DD3-B36A-9D516B7EDBFD}"/>
              </a:ext>
            </a:extLst>
          </p:cNvPr>
          <p:cNvSpPr txBox="1"/>
          <p:nvPr/>
        </p:nvSpPr>
        <p:spPr>
          <a:xfrm>
            <a:off x="1163052" y="272716"/>
            <a:ext cx="2555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AlexNet</a:t>
            </a:r>
            <a:r>
              <a:rPr lang="en-US" altLang="ko-KR" sz="2800" b="1" dirty="0">
                <a:solidFill>
                  <a:srgbClr val="00B0F0"/>
                </a:solidFill>
              </a:rPr>
              <a:t> 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E1EBA25-EFC1-A9CE-E558-EE07D27FFD0A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05A07EA-D76D-AA09-5F23-A5C4CEF20B13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70AD58D-C7C5-B9C5-893C-490DE23E8A28}"/>
              </a:ext>
            </a:extLst>
          </p:cNvPr>
          <p:cNvSpPr txBox="1"/>
          <p:nvPr/>
        </p:nvSpPr>
        <p:spPr>
          <a:xfrm>
            <a:off x="1163052" y="1331443"/>
            <a:ext cx="97432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AlextNet</a:t>
            </a:r>
            <a:endParaRPr lang="en-US" altLang="ko-KR" b="1" dirty="0"/>
          </a:p>
          <a:p>
            <a:r>
              <a:rPr lang="en-US" altLang="ko-KR" dirty="0"/>
              <a:t>GPU</a:t>
            </a:r>
            <a:r>
              <a:rPr lang="ko-KR" altLang="en-US" dirty="0"/>
              <a:t>를 이용한 대규모 이미지 학습을 통해 </a:t>
            </a:r>
            <a:r>
              <a:rPr lang="en-US" altLang="ko-KR" dirty="0"/>
              <a:t>ImageNet </a:t>
            </a:r>
            <a:r>
              <a:rPr lang="ko-KR" altLang="en-US" dirty="0"/>
              <a:t>이미지 분류 대회에서 압도적인 성능을 보여 현대 딥러닝 시대를 연 모델이다</a:t>
            </a:r>
            <a:r>
              <a:rPr lang="en-US" altLang="ko-KR" dirty="0"/>
              <a:t>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7A718D9-57D4-3010-B208-6006F0A92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162" y="2461042"/>
            <a:ext cx="7511074" cy="3739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7786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A86BB-8BA4-DDE0-E5EB-064E82844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308012-8585-12A6-51AD-586AEA30496F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22890B-144F-4314-0EBD-D0F820B44E1F}"/>
              </a:ext>
            </a:extLst>
          </p:cNvPr>
          <p:cNvSpPr txBox="1"/>
          <p:nvPr/>
        </p:nvSpPr>
        <p:spPr>
          <a:xfrm>
            <a:off x="1163052" y="272716"/>
            <a:ext cx="2555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rgbClr val="00B0F0"/>
                </a:solidFill>
              </a:rPr>
              <a:t>AlexNet</a:t>
            </a:r>
            <a:r>
              <a:rPr lang="en-US" altLang="ko-KR" sz="2800" b="1" dirty="0">
                <a:solidFill>
                  <a:srgbClr val="00B0F0"/>
                </a:solidFill>
              </a:rPr>
              <a:t> </a:t>
            </a:r>
            <a:r>
              <a:rPr lang="ko-KR" altLang="en-US" sz="2800" b="1" dirty="0">
                <a:solidFill>
                  <a:srgbClr val="00B0F0"/>
                </a:solidFill>
              </a:rPr>
              <a:t>이란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52F460F-050B-36A4-3E90-ED1423835984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D571416-2B9B-6697-C2D9-15A8B2E9E667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A44B5B6-7355-4399-3771-7B90EAED4B09}"/>
              </a:ext>
            </a:extLst>
          </p:cNvPr>
          <p:cNvSpPr txBox="1"/>
          <p:nvPr/>
        </p:nvSpPr>
        <p:spPr>
          <a:xfrm>
            <a:off x="4548688" y="596421"/>
            <a:ext cx="2713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LetNet-5 vs </a:t>
            </a:r>
            <a:r>
              <a:rPr lang="en-US" altLang="ko-KR" b="1" dirty="0" err="1"/>
              <a:t>AlexNet</a:t>
            </a:r>
            <a:endParaRPr lang="en-US" altLang="ko-KR" dirty="0"/>
          </a:p>
        </p:txBody>
      </p:sp>
      <p:pic>
        <p:nvPicPr>
          <p:cNvPr id="8" name="그림 7" descr="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32D950-C977-02B9-5EDB-88D5AD99C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543" y="611270"/>
            <a:ext cx="752580" cy="5934903"/>
          </a:xfrm>
          <a:prstGeom prst="rect">
            <a:avLst/>
          </a:prstGeom>
        </p:spPr>
      </p:pic>
      <p:pic>
        <p:nvPicPr>
          <p:cNvPr id="14" name="그림 13" descr="텍스트, 폰트, 스크린샷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560C23-799B-2F4E-82CE-6CE0F368A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374" y="1095412"/>
            <a:ext cx="1124107" cy="3772426"/>
          </a:xfrm>
          <a:prstGeom prst="rect">
            <a:avLst/>
          </a:prstGeom>
        </p:spPr>
      </p:pic>
      <p:pic>
        <p:nvPicPr>
          <p:cNvPr id="16" name="그림 15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D1BB4D-4B7D-5B0B-B534-FD86F147D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363" y="1291895"/>
            <a:ext cx="5001323" cy="472505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71357C51-5D23-D33E-3ACF-7CA560807369}"/>
                  </a:ext>
                </a:extLst>
              </p14:cNvPr>
              <p14:cNvContentPartPr/>
              <p14:nvPr/>
            </p14:nvContentPartPr>
            <p14:xfrm>
              <a:off x="10057935" y="3238155"/>
              <a:ext cx="381960" cy="120672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71357C51-5D23-D33E-3ACF-7CA56080736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51815" y="3232035"/>
                <a:ext cx="394200" cy="12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68E109A8-548F-8F41-570D-176EF9C0D2E9}"/>
                  </a:ext>
                </a:extLst>
              </p14:cNvPr>
              <p14:cNvContentPartPr/>
              <p14:nvPr/>
            </p14:nvContentPartPr>
            <p14:xfrm>
              <a:off x="11439255" y="3466755"/>
              <a:ext cx="360" cy="36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68E109A8-548F-8F41-570D-176EF9C0D2E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433135" y="3460635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22ACCEE6-9859-9AF3-8902-CD94F5A1DD99}"/>
              </a:ext>
            </a:extLst>
          </p:cNvPr>
          <p:cNvSpPr txBox="1"/>
          <p:nvPr/>
        </p:nvSpPr>
        <p:spPr>
          <a:xfrm>
            <a:off x="10479827" y="3778062"/>
            <a:ext cx="1254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정보 유지</a:t>
            </a:r>
          </a:p>
        </p:txBody>
      </p:sp>
    </p:spTree>
    <p:extLst>
      <p:ext uri="{BB962C8B-B14F-4D97-AF65-F5344CB8AC3E}">
        <p14:creationId xmlns:p14="http://schemas.microsoft.com/office/powerpoint/2010/main" val="4232836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6C416-FBB8-48B5-AEFC-E811B9D87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A5538B-F6EC-1C58-C089-8EAE4F147EAD}"/>
              </a:ext>
            </a:extLst>
          </p:cNvPr>
          <p:cNvSpPr txBox="1"/>
          <p:nvPr/>
        </p:nvSpPr>
        <p:spPr>
          <a:xfrm>
            <a:off x="5472971" y="2923766"/>
            <a:ext cx="14028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b="1" dirty="0">
                <a:solidFill>
                  <a:srgbClr val="00B0F0"/>
                </a:solidFill>
              </a:rPr>
              <a:t>끝</a:t>
            </a:r>
            <a:r>
              <a:rPr lang="en-US" altLang="ko-KR" sz="5000" b="1" dirty="0">
                <a:solidFill>
                  <a:srgbClr val="00B0F0"/>
                </a:solidFill>
              </a:rPr>
              <a:t>!</a:t>
            </a:r>
            <a:endParaRPr lang="ko-KR" altLang="en-US" sz="50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C5F9B1F-D657-FFB2-916C-A7F2B02705E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98CA780-CFC4-00A2-3938-2FCFE5340356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855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1449</TotalTime>
  <Words>529</Words>
  <Application>Microsoft Office PowerPoint</Application>
  <PresentationFormat>와이드스크린</PresentationFormat>
  <Paragraphs>186</Paragraphs>
  <Slides>16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-apple-system</vt:lpstr>
      <vt:lpstr>맑은 고딕</vt:lpstr>
      <vt:lpstr>Arial</vt:lpstr>
      <vt:lpstr>Office 테마</vt:lpstr>
      <vt:lpstr>LeNet5, AlexNet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양재우</dc:creator>
  <cp:lastModifiedBy>양재우</cp:lastModifiedBy>
  <cp:revision>105</cp:revision>
  <dcterms:created xsi:type="dcterms:W3CDTF">2026-01-29T12:22:12Z</dcterms:created>
  <dcterms:modified xsi:type="dcterms:W3CDTF">2026-02-20T00:15:58Z</dcterms:modified>
</cp:coreProperties>
</file>