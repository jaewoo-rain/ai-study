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6" r:id="rId2"/>
    <p:sldId id="257" r:id="rId3"/>
    <p:sldId id="276" r:id="rId4"/>
    <p:sldId id="308" r:id="rId5"/>
    <p:sldId id="309" r:id="rId6"/>
    <p:sldId id="310" r:id="rId7"/>
    <p:sldId id="311" r:id="rId8"/>
    <p:sldId id="312" r:id="rId9"/>
    <p:sldId id="300" r:id="rId10"/>
    <p:sldId id="304" r:id="rId11"/>
    <p:sldId id="303" r:id="rId12"/>
    <p:sldId id="299" r:id="rId13"/>
    <p:sldId id="305" r:id="rId14"/>
    <p:sldId id="306" r:id="rId15"/>
    <p:sldId id="307" r:id="rId16"/>
    <p:sldId id="298" r:id="rId17"/>
    <p:sldId id="275" r:id="rId1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6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378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C7945F9-AABC-9C65-E32E-7DC6F4DC490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C111F617-8054-B418-FC0A-964ABF689A0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2421B83-EE31-A83C-B685-6EAEEBA3EA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90772-3C17-48BD-9462-1080E2FAA39E}" type="datetimeFigureOut">
              <a:rPr lang="ko-KR" altLang="en-US" smtClean="0"/>
              <a:t>2026-03-16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94E7DC4-B8AA-856D-5721-BDAA73DB29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8CD27CC-3813-EE36-C7F8-914BFF4394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7A95E4-48EB-4B0E-9710-5106B909299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721112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1507138-FA98-2AB7-8629-10464DFF2A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5A09BF1-9866-C7FB-8187-5984390AE4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FBD2D0B-3720-1367-6E4B-7BDED4E4D3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90772-3C17-48BD-9462-1080E2FAA39E}" type="datetimeFigureOut">
              <a:rPr lang="ko-KR" altLang="en-US" smtClean="0"/>
              <a:t>2026-03-16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4F6C8A2-DCEB-E016-D6AE-F3B0B68EE6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66390BA-4D7E-3122-1F7C-1B4CED483F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7A95E4-48EB-4B0E-9710-5106B909299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139407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13E1EB0-5361-539B-1487-056C6CA7AC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E5BF9D0-37F3-CAFE-C020-53FA213F5F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D1B59A2-CBC0-7F9C-CA48-F53F6D6607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90772-3C17-48BD-9462-1080E2FAA39E}" type="datetimeFigureOut">
              <a:rPr lang="ko-KR" altLang="en-US" smtClean="0"/>
              <a:t>2026-03-16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63FD218-C794-DA8F-6ECF-21D625D291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30A8F59-A765-B2FA-FB87-D4799CAD56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7A95E4-48EB-4B0E-9710-5106B909299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87192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CCE2FDB-BFE8-D505-C08B-349088641A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9CED678-8B0C-DB88-F535-8C3D092E790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2C9AE1F-3006-E35B-5B29-E656F12992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F9D2A83-8FFF-064B-42C5-C747E38ED0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90772-3C17-48BD-9462-1080E2FAA39E}" type="datetimeFigureOut">
              <a:rPr lang="ko-KR" altLang="en-US" smtClean="0"/>
              <a:t>2026-03-16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69DF2DC-23CE-033E-EB1E-F211593190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59BA7A6-8AAB-2208-7455-180F157DB9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7A95E4-48EB-4B0E-9710-5106B909299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355323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1EA3F96-F88C-2D88-2135-0F3147DFC9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343EBA4-24D4-11F2-13F5-7A6F2FA26C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49FD5AF-A2A8-43FE-E3DC-D57F057D37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503B11BF-9991-5F88-4B19-38B8C115AFA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E2601185-94AD-F148-0979-CE9D691B1A6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96D847EE-D711-E30C-D9D4-EC4821CB6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90772-3C17-48BD-9462-1080E2FAA39E}" type="datetimeFigureOut">
              <a:rPr lang="ko-KR" altLang="en-US" smtClean="0"/>
              <a:t>2026-03-16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275A5D1D-80D7-7E82-FC04-26AA80548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20F4C5FD-3854-F426-1038-4A54564B5A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7A95E4-48EB-4B0E-9710-5106B909299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108007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A86F072-2AD8-CEFF-E084-3E3F699625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9E694FF3-EDBA-FDC8-5A91-FB138A7CA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90772-3C17-48BD-9462-1080E2FAA39E}" type="datetimeFigureOut">
              <a:rPr lang="ko-KR" altLang="en-US" smtClean="0"/>
              <a:t>2026-03-16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D3F59B27-3B03-58D5-C82A-D07C160841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DF7513F-0ECA-24B6-86E6-480DC89617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7A95E4-48EB-4B0E-9710-5106B909299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820886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02E33E78-1119-2DD1-81CB-2116AC7806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90772-3C17-48BD-9462-1080E2FAA39E}" type="datetimeFigureOut">
              <a:rPr lang="ko-KR" altLang="en-US" smtClean="0"/>
              <a:t>2026-03-16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7489B68D-3253-A4DC-D7D8-6F0479C6B1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9BCEAE9-51CC-451F-C7FC-7DF43359FF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7A95E4-48EB-4B0E-9710-5106B909299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356939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459C0E2-99E5-9BD5-7DF6-5B32542467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1FD1D88-67B0-38B1-72C3-AEEE810353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27D50B8-2AEC-054F-8AA0-9D9AFEF0A4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0B05D71-43D7-A80D-A519-6C3248A896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90772-3C17-48BD-9462-1080E2FAA39E}" type="datetimeFigureOut">
              <a:rPr lang="ko-KR" altLang="en-US" smtClean="0"/>
              <a:t>2026-03-16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1195C05-EA1A-235E-5FD3-1E6CD85609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AAEDF3E-7B0D-F53F-DEEA-161065FC61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7A95E4-48EB-4B0E-9710-5106B909299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463074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3346A15-C5B6-A114-2E29-472AD902A3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EB42CE56-0AC1-5501-F11D-922D2BAA780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18EAC10-74DA-1504-3BDE-5AF8A12266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167C23C-670F-2000-D053-4A2AC3B0B2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90772-3C17-48BD-9462-1080E2FAA39E}" type="datetimeFigureOut">
              <a:rPr lang="ko-KR" altLang="en-US" smtClean="0"/>
              <a:t>2026-03-16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D627DCF-96FF-724E-AACC-50257417E6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1F118B2-D390-D3C9-14D8-EB02F15E54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7A95E4-48EB-4B0E-9710-5106B909299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986969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2B9EFC3-22DB-323D-3917-A068C96310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29DA345F-62F3-F7D5-ED06-FE769207A09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FF6EBFA-6C49-1AFF-63A2-A10252DC4B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90772-3C17-48BD-9462-1080E2FAA39E}" type="datetimeFigureOut">
              <a:rPr lang="ko-KR" altLang="en-US" smtClean="0"/>
              <a:t>2026-03-16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36C5061-598F-4A83-3874-968F81EC3E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9A2B8F5-7672-41C0-7BEE-59F64D3EAA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7A95E4-48EB-4B0E-9710-5106B909299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861462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AB7ECB5A-475F-EFD8-F291-9EBB7270B41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8EF4E86-9A7C-B062-6CF2-41A0C002EA6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8B6D393-098F-34F5-8BDF-4401A7CFD3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90772-3C17-48BD-9462-1080E2FAA39E}" type="datetimeFigureOut">
              <a:rPr lang="ko-KR" altLang="en-US" smtClean="0"/>
              <a:t>2026-03-16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DB88A78-B2E6-BE76-7F32-5E14E860F5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605E81B-7276-0CAB-99FA-DE081090E0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7A95E4-48EB-4B0E-9710-5106B909299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869132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1C405E34-265E-29A0-791E-52F8F3EC23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29327B4-7F9D-7B88-CFF9-4BDFB07495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AD0C84C-48DF-BB7F-6AE3-7C2A8558042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5E90772-3C17-48BD-9462-1080E2FAA39E}" type="datetimeFigureOut">
              <a:rPr lang="ko-KR" altLang="en-US" smtClean="0"/>
              <a:t>2026-03-16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D8F1F67-B553-9533-E74B-9D2431DC7C2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9C1070C-3585-745F-2560-881E18F9E6E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47A95E4-48EB-4B0E-9710-5106B909299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46512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5AFCED6-5F2E-3EA7-B2A2-B861E550B60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ko-KR" dirty="0" err="1"/>
              <a:t>ResNet</a:t>
            </a:r>
            <a:br>
              <a:rPr lang="en-US" altLang="ko-KR" dirty="0"/>
            </a:br>
            <a:r>
              <a:rPr lang="en-US" altLang="ko-KR" dirty="0"/>
              <a:t>Yolo(V1)</a:t>
            </a: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CB2D9F64-AEBF-88D8-A196-96E0A009018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dirty="0"/>
              <a:t>AI </a:t>
            </a:r>
            <a:r>
              <a:rPr lang="ko-KR" altLang="en-US" dirty="0"/>
              <a:t>스터디</a:t>
            </a:r>
          </a:p>
        </p:txBody>
      </p:sp>
    </p:spTree>
    <p:extLst>
      <p:ext uri="{BB962C8B-B14F-4D97-AF65-F5344CB8AC3E}">
        <p14:creationId xmlns:p14="http://schemas.microsoft.com/office/powerpoint/2010/main" val="4357265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59B307B8-22CC-6EDB-5FEE-2C593948E8C0}"/>
              </a:ext>
            </a:extLst>
          </p:cNvPr>
          <p:cNvSpPr txBox="1"/>
          <p:nvPr/>
        </p:nvSpPr>
        <p:spPr>
          <a:xfrm>
            <a:off x="144378" y="272716"/>
            <a:ext cx="73699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solidFill>
                  <a:srgbClr val="00B0F0"/>
                </a:solidFill>
              </a:rPr>
              <a:t>Part 0</a:t>
            </a:r>
            <a:endParaRPr lang="ko-KR" altLang="en-US" sz="1600" dirty="0">
              <a:solidFill>
                <a:srgbClr val="00B0F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2F0A9A2-B08F-C4CF-F622-D37CB0255281}"/>
              </a:ext>
            </a:extLst>
          </p:cNvPr>
          <p:cNvSpPr txBox="1"/>
          <p:nvPr/>
        </p:nvSpPr>
        <p:spPr>
          <a:xfrm>
            <a:off x="1163052" y="272716"/>
            <a:ext cx="299793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b="1" dirty="0" err="1">
                <a:solidFill>
                  <a:srgbClr val="00B0F0"/>
                </a:solidFill>
              </a:rPr>
              <a:t>GoogLeNet</a:t>
            </a:r>
            <a:r>
              <a:rPr lang="ko-KR" altLang="en-US" sz="2800" b="1" dirty="0">
                <a:solidFill>
                  <a:srgbClr val="00B0F0"/>
                </a:solidFill>
              </a:rPr>
              <a:t>이란</a:t>
            </a:r>
            <a:r>
              <a:rPr lang="en-US" altLang="ko-KR" sz="2800" b="1" dirty="0">
                <a:solidFill>
                  <a:srgbClr val="00B0F0"/>
                </a:solidFill>
              </a:rPr>
              <a:t>?</a:t>
            </a:r>
            <a:endParaRPr lang="ko-KR" altLang="en-US" sz="2800" b="1" dirty="0">
              <a:solidFill>
                <a:srgbClr val="00B0F0"/>
              </a:solidFill>
            </a:endParaRPr>
          </a:p>
        </p:txBody>
      </p: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BB77E5FD-4523-FC80-965A-FFF2DDED91D5}"/>
              </a:ext>
            </a:extLst>
          </p:cNvPr>
          <p:cNvCxnSpPr/>
          <p:nvPr/>
        </p:nvCxnSpPr>
        <p:spPr>
          <a:xfrm>
            <a:off x="144378" y="160422"/>
            <a:ext cx="12060000" cy="0"/>
          </a:xfrm>
          <a:prstGeom prst="line">
            <a:avLst/>
          </a:prstGeom>
          <a:ln w="57150"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CBC424E4-6EC8-93D9-3788-386EDA02B354}"/>
              </a:ext>
            </a:extLst>
          </p:cNvPr>
          <p:cNvCxnSpPr/>
          <p:nvPr/>
        </p:nvCxnSpPr>
        <p:spPr>
          <a:xfrm>
            <a:off x="64064" y="6697578"/>
            <a:ext cx="12060000" cy="0"/>
          </a:xfrm>
          <a:prstGeom prst="line">
            <a:avLst/>
          </a:prstGeom>
          <a:ln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52BB282-F298-9117-6A94-3176D9387208}"/>
              </a:ext>
            </a:extLst>
          </p:cNvPr>
          <p:cNvSpPr txBox="1"/>
          <p:nvPr/>
        </p:nvSpPr>
        <p:spPr>
          <a:xfrm>
            <a:off x="2322695" y="908229"/>
            <a:ext cx="7542738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/>
              <a:t>YOLO v1</a:t>
            </a:r>
          </a:p>
          <a:p>
            <a:pPr marL="342900" indent="-342900">
              <a:buAutoNum type="arabicPeriod"/>
            </a:pPr>
            <a:r>
              <a:rPr lang="ko-KR" altLang="en-US" dirty="0"/>
              <a:t>빠르다</a:t>
            </a:r>
            <a:endParaRPr lang="en-US" altLang="ko-KR" dirty="0"/>
          </a:p>
          <a:p>
            <a:pPr marL="342900" indent="-342900">
              <a:buAutoNum type="arabicPeriod"/>
            </a:pPr>
            <a:r>
              <a:rPr lang="ko-KR" altLang="en-US" dirty="0"/>
              <a:t>추론 시 이미지를 </a:t>
            </a:r>
            <a:r>
              <a:rPr lang="en-US" altLang="ko-KR" dirty="0"/>
              <a:t>1</a:t>
            </a:r>
            <a:r>
              <a:rPr lang="ko-KR" altLang="en-US" dirty="0"/>
              <a:t>회 분석한다</a:t>
            </a:r>
            <a:endParaRPr lang="en-US" altLang="ko-KR" dirty="0"/>
          </a:p>
          <a:p>
            <a:pPr marL="342900" indent="-342900">
              <a:buAutoNum type="arabicPeriod"/>
            </a:pPr>
            <a:endParaRPr lang="ko-KR" altLang="en-US" dirty="0"/>
          </a:p>
        </p:txBody>
      </p:sp>
      <p:pic>
        <p:nvPicPr>
          <p:cNvPr id="1026" name="Picture 2" descr="딥러닝] GoogLeNet(Inception) 모델의 개요 및 특징">
            <a:extLst>
              <a:ext uri="{FF2B5EF4-FFF2-40B4-BE49-F238E27FC236}">
                <a16:creationId xmlns:a16="http://schemas.microsoft.com/office/drawing/2014/main" id="{AFAEDF7D-25C0-3476-F74B-62C22ACAE0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936" y="3788762"/>
            <a:ext cx="12192000" cy="2724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007947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F4ED34-E5F0-ACF9-5930-5C141406E5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D8B1C88E-6154-F83B-23AD-24AB856136D4}"/>
              </a:ext>
            </a:extLst>
          </p:cNvPr>
          <p:cNvSpPr txBox="1"/>
          <p:nvPr/>
        </p:nvSpPr>
        <p:spPr>
          <a:xfrm>
            <a:off x="144378" y="272716"/>
            <a:ext cx="73699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solidFill>
                  <a:srgbClr val="00B0F0"/>
                </a:solidFill>
              </a:rPr>
              <a:t>Part 0</a:t>
            </a:r>
            <a:endParaRPr lang="ko-KR" altLang="en-US" sz="1600" dirty="0">
              <a:solidFill>
                <a:srgbClr val="00B0F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2807524-A20D-EAD2-AD8C-A878DFF29E17}"/>
              </a:ext>
            </a:extLst>
          </p:cNvPr>
          <p:cNvSpPr txBox="1"/>
          <p:nvPr/>
        </p:nvSpPr>
        <p:spPr>
          <a:xfrm>
            <a:off x="1163052" y="272716"/>
            <a:ext cx="299793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b="1" dirty="0" err="1">
                <a:solidFill>
                  <a:srgbClr val="00B0F0"/>
                </a:solidFill>
              </a:rPr>
              <a:t>GoogLeNet</a:t>
            </a:r>
            <a:r>
              <a:rPr lang="ko-KR" altLang="en-US" sz="2800" b="1" dirty="0">
                <a:solidFill>
                  <a:srgbClr val="00B0F0"/>
                </a:solidFill>
              </a:rPr>
              <a:t>이란</a:t>
            </a:r>
            <a:r>
              <a:rPr lang="en-US" altLang="ko-KR" sz="2800" b="1" dirty="0">
                <a:solidFill>
                  <a:srgbClr val="00B0F0"/>
                </a:solidFill>
              </a:rPr>
              <a:t>?</a:t>
            </a:r>
            <a:endParaRPr lang="ko-KR" altLang="en-US" sz="2800" b="1" dirty="0">
              <a:solidFill>
                <a:srgbClr val="00B0F0"/>
              </a:solidFill>
            </a:endParaRPr>
          </a:p>
        </p:txBody>
      </p: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AF464462-13B1-6E97-6D26-976C7F3AE987}"/>
              </a:ext>
            </a:extLst>
          </p:cNvPr>
          <p:cNvCxnSpPr/>
          <p:nvPr/>
        </p:nvCxnSpPr>
        <p:spPr>
          <a:xfrm>
            <a:off x="144378" y="160422"/>
            <a:ext cx="12060000" cy="0"/>
          </a:xfrm>
          <a:prstGeom prst="line">
            <a:avLst/>
          </a:prstGeom>
          <a:ln w="57150"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60C90AE4-3815-66E4-1E09-B07453068853}"/>
              </a:ext>
            </a:extLst>
          </p:cNvPr>
          <p:cNvCxnSpPr/>
          <p:nvPr/>
        </p:nvCxnSpPr>
        <p:spPr>
          <a:xfrm>
            <a:off x="64064" y="6697578"/>
            <a:ext cx="12060000" cy="0"/>
          </a:xfrm>
          <a:prstGeom prst="line">
            <a:avLst/>
          </a:prstGeom>
          <a:ln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4F319B0A-5640-E405-9B69-6E896A0B88AE}"/>
              </a:ext>
            </a:extLst>
          </p:cNvPr>
          <p:cNvSpPr txBox="1"/>
          <p:nvPr/>
        </p:nvSpPr>
        <p:spPr>
          <a:xfrm>
            <a:off x="3149958" y="836693"/>
            <a:ext cx="531776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200" b="1" dirty="0"/>
              <a:t>1 or 2 stage detector</a:t>
            </a:r>
            <a:endParaRPr lang="ko-KR" altLang="en-US" sz="3200" b="1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97ACFD7-79CF-E524-B7A0-F24F64CB3CA7}"/>
              </a:ext>
            </a:extLst>
          </p:cNvPr>
          <p:cNvSpPr txBox="1"/>
          <p:nvPr/>
        </p:nvSpPr>
        <p:spPr>
          <a:xfrm>
            <a:off x="1283796" y="1591378"/>
            <a:ext cx="856505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dirty="0"/>
              <a:t>1-stage</a:t>
            </a:r>
            <a:r>
              <a:rPr lang="ko-KR" altLang="en-US" dirty="0"/>
              <a:t>는 빠르지만 정확도가 낮음</a:t>
            </a:r>
            <a:endParaRPr lang="en-US" altLang="ko-KR" dirty="0"/>
          </a:p>
          <a:p>
            <a:pPr algn="ctr"/>
            <a:r>
              <a:rPr lang="en-US" altLang="ko-KR" dirty="0"/>
              <a:t>2-stage</a:t>
            </a:r>
            <a:r>
              <a:rPr lang="ko-KR" altLang="en-US" dirty="0"/>
              <a:t>는 느리지만 정확도가 높음</a:t>
            </a: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B90A7AC5-8669-CA0A-6E77-7714E98F99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8809" y="2407620"/>
            <a:ext cx="7440063" cy="38391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5149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083F35-D6CD-FDEA-BC09-62D0C8F96D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1C046143-08B5-54B9-A0A9-25D8A34DCF86}"/>
              </a:ext>
            </a:extLst>
          </p:cNvPr>
          <p:cNvSpPr txBox="1"/>
          <p:nvPr/>
        </p:nvSpPr>
        <p:spPr>
          <a:xfrm>
            <a:off x="144378" y="272716"/>
            <a:ext cx="73699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solidFill>
                  <a:srgbClr val="00B0F0"/>
                </a:solidFill>
              </a:rPr>
              <a:t>Part 0</a:t>
            </a:r>
            <a:endParaRPr lang="ko-KR" altLang="en-US" sz="1600" dirty="0">
              <a:solidFill>
                <a:srgbClr val="00B0F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46149EA-3664-E762-A81B-5A1684E9F71F}"/>
              </a:ext>
            </a:extLst>
          </p:cNvPr>
          <p:cNvSpPr txBox="1"/>
          <p:nvPr/>
        </p:nvSpPr>
        <p:spPr>
          <a:xfrm>
            <a:off x="1163052" y="272716"/>
            <a:ext cx="299793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b="1" dirty="0" err="1">
                <a:solidFill>
                  <a:srgbClr val="00B0F0"/>
                </a:solidFill>
              </a:rPr>
              <a:t>GoogLeNet</a:t>
            </a:r>
            <a:r>
              <a:rPr lang="ko-KR" altLang="en-US" sz="2800" b="1" dirty="0">
                <a:solidFill>
                  <a:srgbClr val="00B0F0"/>
                </a:solidFill>
              </a:rPr>
              <a:t>이란</a:t>
            </a:r>
            <a:r>
              <a:rPr lang="en-US" altLang="ko-KR" sz="2800" b="1" dirty="0">
                <a:solidFill>
                  <a:srgbClr val="00B0F0"/>
                </a:solidFill>
              </a:rPr>
              <a:t>?</a:t>
            </a:r>
            <a:endParaRPr lang="ko-KR" altLang="en-US" sz="2800" b="1" dirty="0">
              <a:solidFill>
                <a:srgbClr val="00B0F0"/>
              </a:solidFill>
            </a:endParaRPr>
          </a:p>
        </p:txBody>
      </p: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3ACD0190-2106-448A-1298-64B608FFC833}"/>
              </a:ext>
            </a:extLst>
          </p:cNvPr>
          <p:cNvCxnSpPr/>
          <p:nvPr/>
        </p:nvCxnSpPr>
        <p:spPr>
          <a:xfrm>
            <a:off x="144378" y="160422"/>
            <a:ext cx="12060000" cy="0"/>
          </a:xfrm>
          <a:prstGeom prst="line">
            <a:avLst/>
          </a:prstGeom>
          <a:ln w="57150"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10FB5288-F71F-951E-5192-996B5FAF5B3D}"/>
              </a:ext>
            </a:extLst>
          </p:cNvPr>
          <p:cNvCxnSpPr/>
          <p:nvPr/>
        </p:nvCxnSpPr>
        <p:spPr>
          <a:xfrm>
            <a:off x="64064" y="6697578"/>
            <a:ext cx="12060000" cy="0"/>
          </a:xfrm>
          <a:prstGeom prst="line">
            <a:avLst/>
          </a:prstGeom>
          <a:ln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22EA575E-C916-BE81-E31C-3DEF720442D1}"/>
              </a:ext>
            </a:extLst>
          </p:cNvPr>
          <p:cNvSpPr txBox="1"/>
          <p:nvPr/>
        </p:nvSpPr>
        <p:spPr>
          <a:xfrm>
            <a:off x="3149958" y="836693"/>
            <a:ext cx="531776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200" b="1" dirty="0"/>
              <a:t>2 stage detector</a:t>
            </a:r>
            <a:endParaRPr lang="ko-KR" altLang="en-US" sz="3200" b="1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7341419-DEC0-83C4-49EC-889729C06504}"/>
              </a:ext>
            </a:extLst>
          </p:cNvPr>
          <p:cNvSpPr txBox="1"/>
          <p:nvPr/>
        </p:nvSpPr>
        <p:spPr>
          <a:xfrm>
            <a:off x="1283795" y="1591378"/>
            <a:ext cx="10212879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AutoNum type="arabicPeriod"/>
            </a:pPr>
            <a:r>
              <a:rPr lang="ko-KR" altLang="en-US" dirty="0"/>
              <a:t>이미지 안에서 객체가 있을 것 같은 영역</a:t>
            </a:r>
            <a:r>
              <a:rPr lang="en-US" altLang="ko-KR" dirty="0"/>
              <a:t>(ROI)</a:t>
            </a:r>
            <a:r>
              <a:rPr lang="ko-KR" altLang="en-US" dirty="0"/>
              <a:t>을 </a:t>
            </a:r>
            <a:r>
              <a:rPr lang="en-US" altLang="ko-KR" dirty="0"/>
              <a:t>Bounding Box</a:t>
            </a:r>
            <a:r>
              <a:rPr lang="ko-KR" altLang="en-US" dirty="0"/>
              <a:t>로 찾기</a:t>
            </a:r>
            <a:r>
              <a:rPr lang="en-US" altLang="ko-KR" dirty="0"/>
              <a:t>(Region Proposal)</a:t>
            </a:r>
          </a:p>
          <a:p>
            <a:pPr marL="342900" indent="-342900">
              <a:buAutoNum type="arabicPeriod"/>
            </a:pPr>
            <a:r>
              <a:rPr lang="ko-KR" altLang="en-US" dirty="0"/>
              <a:t>후보 영역을 바탕으로 </a:t>
            </a:r>
            <a:r>
              <a:rPr lang="en-US" altLang="ko-KR" dirty="0"/>
              <a:t>Classification</a:t>
            </a:r>
            <a:r>
              <a:rPr lang="ko-KR" altLang="en-US" dirty="0"/>
              <a:t>을 진행하여 객체 검출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대표적인 영역 제안 기법 </a:t>
            </a:r>
            <a:r>
              <a:rPr lang="en-US" altLang="ko-KR" dirty="0"/>
              <a:t>: Selective Search, Sliding window </a:t>
            </a:r>
            <a:r>
              <a:rPr lang="ko-KR" altLang="en-US" dirty="0"/>
              <a:t>방식</a:t>
            </a:r>
            <a:endParaRPr lang="en-US" altLang="ko-KR" dirty="0"/>
          </a:p>
          <a:p>
            <a:pPr marL="342900" indent="-342900">
              <a:buAutoNum type="arabicPeriod"/>
            </a:pPr>
            <a:endParaRPr lang="ko-KR" altLang="en-US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BB92C79D-E65A-9351-E3E0-B241F2EEFD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3092" y="3068706"/>
            <a:ext cx="7459116" cy="2457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60902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96A2CF-C1E3-316E-C2B1-B55CD375D2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CB63EB66-6D45-A224-FD3F-CF1D8B391314}"/>
              </a:ext>
            </a:extLst>
          </p:cNvPr>
          <p:cNvSpPr txBox="1"/>
          <p:nvPr/>
        </p:nvSpPr>
        <p:spPr>
          <a:xfrm>
            <a:off x="144378" y="272716"/>
            <a:ext cx="73699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solidFill>
                  <a:srgbClr val="00B0F0"/>
                </a:solidFill>
              </a:rPr>
              <a:t>Part 0</a:t>
            </a:r>
            <a:endParaRPr lang="ko-KR" altLang="en-US" sz="1600" dirty="0">
              <a:solidFill>
                <a:srgbClr val="00B0F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D3C5A8B-AC44-9DDC-32AF-962363233BDE}"/>
              </a:ext>
            </a:extLst>
          </p:cNvPr>
          <p:cNvSpPr txBox="1"/>
          <p:nvPr/>
        </p:nvSpPr>
        <p:spPr>
          <a:xfrm>
            <a:off x="1163052" y="272716"/>
            <a:ext cx="299793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b="1" dirty="0" err="1">
                <a:solidFill>
                  <a:srgbClr val="00B0F0"/>
                </a:solidFill>
              </a:rPr>
              <a:t>GoogLeNet</a:t>
            </a:r>
            <a:r>
              <a:rPr lang="ko-KR" altLang="en-US" sz="2800" b="1" dirty="0">
                <a:solidFill>
                  <a:srgbClr val="00B0F0"/>
                </a:solidFill>
              </a:rPr>
              <a:t>이란</a:t>
            </a:r>
            <a:r>
              <a:rPr lang="en-US" altLang="ko-KR" sz="2800" b="1" dirty="0">
                <a:solidFill>
                  <a:srgbClr val="00B0F0"/>
                </a:solidFill>
              </a:rPr>
              <a:t>?</a:t>
            </a:r>
            <a:endParaRPr lang="ko-KR" altLang="en-US" sz="2800" b="1" dirty="0">
              <a:solidFill>
                <a:srgbClr val="00B0F0"/>
              </a:solidFill>
            </a:endParaRPr>
          </a:p>
        </p:txBody>
      </p: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1F1FEECA-7EE9-DF75-FB57-1F94083244BE}"/>
              </a:ext>
            </a:extLst>
          </p:cNvPr>
          <p:cNvCxnSpPr/>
          <p:nvPr/>
        </p:nvCxnSpPr>
        <p:spPr>
          <a:xfrm>
            <a:off x="144378" y="160422"/>
            <a:ext cx="12060000" cy="0"/>
          </a:xfrm>
          <a:prstGeom prst="line">
            <a:avLst/>
          </a:prstGeom>
          <a:ln w="57150"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3254972A-56F5-57C0-0F56-0DB76003D214}"/>
              </a:ext>
            </a:extLst>
          </p:cNvPr>
          <p:cNvCxnSpPr/>
          <p:nvPr/>
        </p:nvCxnSpPr>
        <p:spPr>
          <a:xfrm>
            <a:off x="64064" y="6697578"/>
            <a:ext cx="12060000" cy="0"/>
          </a:xfrm>
          <a:prstGeom prst="line">
            <a:avLst/>
          </a:prstGeom>
          <a:ln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03161305-3AAC-0D3A-9056-D23F3B40E8D7}"/>
              </a:ext>
            </a:extLst>
          </p:cNvPr>
          <p:cNvSpPr txBox="1"/>
          <p:nvPr/>
        </p:nvSpPr>
        <p:spPr>
          <a:xfrm>
            <a:off x="3932784" y="837745"/>
            <a:ext cx="49149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/>
              <a:t>Selective Search</a:t>
            </a:r>
            <a:r>
              <a:rPr lang="ko-KR" altLang="en-US" sz="3200" b="1" dirty="0"/>
              <a:t>방식</a:t>
            </a:r>
            <a:endParaRPr lang="en-US" altLang="ko-KR" sz="3200" b="1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7289F8E-EBE3-33CE-147D-00B17AF101E5}"/>
              </a:ext>
            </a:extLst>
          </p:cNvPr>
          <p:cNvSpPr txBox="1"/>
          <p:nvPr/>
        </p:nvSpPr>
        <p:spPr>
          <a:xfrm>
            <a:off x="1283795" y="1591378"/>
            <a:ext cx="1021287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Tx/>
              <a:buChar char="-"/>
            </a:pPr>
            <a:r>
              <a:rPr lang="ko-KR" altLang="en-US" dirty="0"/>
              <a:t>영역의 질감</a:t>
            </a:r>
            <a:r>
              <a:rPr lang="en-US" altLang="ko-KR" dirty="0"/>
              <a:t>, </a:t>
            </a:r>
            <a:r>
              <a:rPr lang="ko-KR" altLang="en-US" dirty="0"/>
              <a:t>색 강도 등을 갖는 인접 픽셀을 찾아서 물체가 있을 법한 </a:t>
            </a:r>
            <a:r>
              <a:rPr lang="en-US" altLang="ko-KR" dirty="0"/>
              <a:t>box</a:t>
            </a:r>
            <a:r>
              <a:rPr lang="ko-KR" altLang="en-US" dirty="0"/>
              <a:t>나 영역을 찾아냄</a:t>
            </a:r>
            <a:endParaRPr lang="en-US" altLang="ko-KR" dirty="0"/>
          </a:p>
          <a:p>
            <a:pPr marL="285750" indent="-285750">
              <a:buFontTx/>
              <a:buChar char="-"/>
            </a:pPr>
            <a:r>
              <a:rPr lang="ko-KR" altLang="en-US" dirty="0"/>
              <a:t>이미지 전체를 </a:t>
            </a:r>
            <a:r>
              <a:rPr lang="en-US" altLang="ko-KR" dirty="0"/>
              <a:t>convolution </a:t>
            </a:r>
            <a:r>
              <a:rPr lang="ko-KR" altLang="en-US" dirty="0"/>
              <a:t>하지 않고 아래 사진에서 초록색 영역만 가지고 검사하도록 하여 효율적으로 처리하도록 함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C7D3CD11-D45B-9293-D796-D5257E33B4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3150" y="2852423"/>
            <a:ext cx="7001852" cy="32675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84401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E4E900-644E-1496-B3AC-0E813A9B69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110CA1E2-73F9-CA80-D444-566792119837}"/>
              </a:ext>
            </a:extLst>
          </p:cNvPr>
          <p:cNvSpPr txBox="1"/>
          <p:nvPr/>
        </p:nvSpPr>
        <p:spPr>
          <a:xfrm>
            <a:off x="144378" y="272716"/>
            <a:ext cx="73699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solidFill>
                  <a:srgbClr val="00B0F0"/>
                </a:solidFill>
              </a:rPr>
              <a:t>Part 0</a:t>
            </a:r>
            <a:endParaRPr lang="ko-KR" altLang="en-US" sz="1600" dirty="0">
              <a:solidFill>
                <a:srgbClr val="00B0F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02867EA-F879-6A9C-934B-F6FAEFCF14C1}"/>
              </a:ext>
            </a:extLst>
          </p:cNvPr>
          <p:cNvSpPr txBox="1"/>
          <p:nvPr/>
        </p:nvSpPr>
        <p:spPr>
          <a:xfrm>
            <a:off x="1163052" y="272716"/>
            <a:ext cx="299793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b="1" dirty="0" err="1">
                <a:solidFill>
                  <a:srgbClr val="00B0F0"/>
                </a:solidFill>
              </a:rPr>
              <a:t>GoogLeNet</a:t>
            </a:r>
            <a:r>
              <a:rPr lang="ko-KR" altLang="en-US" sz="2800" b="1" dirty="0">
                <a:solidFill>
                  <a:srgbClr val="00B0F0"/>
                </a:solidFill>
              </a:rPr>
              <a:t>이란</a:t>
            </a:r>
            <a:r>
              <a:rPr lang="en-US" altLang="ko-KR" sz="2800" b="1" dirty="0">
                <a:solidFill>
                  <a:srgbClr val="00B0F0"/>
                </a:solidFill>
              </a:rPr>
              <a:t>?</a:t>
            </a:r>
            <a:endParaRPr lang="ko-KR" altLang="en-US" sz="2800" b="1" dirty="0">
              <a:solidFill>
                <a:srgbClr val="00B0F0"/>
              </a:solidFill>
            </a:endParaRPr>
          </a:p>
        </p:txBody>
      </p: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7B3B8EC8-8D0C-3D41-FDD1-977FC5C3A609}"/>
              </a:ext>
            </a:extLst>
          </p:cNvPr>
          <p:cNvCxnSpPr/>
          <p:nvPr/>
        </p:nvCxnSpPr>
        <p:spPr>
          <a:xfrm>
            <a:off x="144378" y="160422"/>
            <a:ext cx="12060000" cy="0"/>
          </a:xfrm>
          <a:prstGeom prst="line">
            <a:avLst/>
          </a:prstGeom>
          <a:ln w="57150"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E8DF2958-812A-BF2F-BB3D-9CF7DD3366E4}"/>
              </a:ext>
            </a:extLst>
          </p:cNvPr>
          <p:cNvCxnSpPr/>
          <p:nvPr/>
        </p:nvCxnSpPr>
        <p:spPr>
          <a:xfrm>
            <a:off x="64064" y="6697578"/>
            <a:ext cx="12060000" cy="0"/>
          </a:xfrm>
          <a:prstGeom prst="line">
            <a:avLst/>
          </a:prstGeom>
          <a:ln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9CAFC685-544B-5D34-B09C-24A3A2633D90}"/>
              </a:ext>
            </a:extLst>
          </p:cNvPr>
          <p:cNvSpPr txBox="1"/>
          <p:nvPr/>
        </p:nvSpPr>
        <p:spPr>
          <a:xfrm>
            <a:off x="3648563" y="804863"/>
            <a:ext cx="439102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/>
              <a:t>Sliding window </a:t>
            </a:r>
            <a:r>
              <a:rPr lang="ko-KR" altLang="en-US" sz="3200" b="1" dirty="0"/>
              <a:t>방식</a:t>
            </a:r>
            <a:endParaRPr lang="en-US" altLang="ko-KR" sz="3200" b="1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84940B9-5366-1802-437E-4B5E2C8F4D84}"/>
              </a:ext>
            </a:extLst>
          </p:cNvPr>
          <p:cNvSpPr txBox="1"/>
          <p:nvPr/>
        </p:nvSpPr>
        <p:spPr>
          <a:xfrm>
            <a:off x="1283795" y="1591378"/>
            <a:ext cx="1021287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Tx/>
              <a:buChar char="-"/>
            </a:pPr>
            <a:r>
              <a:rPr lang="ko-KR" altLang="en-US" dirty="0"/>
              <a:t>검출하고자 하는 입력 이미지에 정해진 크기의 </a:t>
            </a:r>
            <a:r>
              <a:rPr lang="en-US" altLang="ko-KR" dirty="0"/>
              <a:t>Bounding Box</a:t>
            </a:r>
            <a:r>
              <a:rPr lang="ko-KR" altLang="en-US" dirty="0"/>
              <a:t>를 만들어 방향을 이동하면서 물체가 있을 법한 </a:t>
            </a:r>
            <a:r>
              <a:rPr lang="en-US" altLang="ko-KR" dirty="0"/>
              <a:t>box</a:t>
            </a:r>
            <a:r>
              <a:rPr lang="ko-KR" altLang="en-US" dirty="0"/>
              <a:t>나 영역을 추출하는 것</a:t>
            </a:r>
            <a:endParaRPr lang="en-US" altLang="ko-KR" dirty="0"/>
          </a:p>
          <a:p>
            <a:pPr marL="285750" indent="-285750">
              <a:buFontTx/>
              <a:buChar char="-"/>
            </a:pPr>
            <a:r>
              <a:rPr lang="ko-KR" altLang="en-US" dirty="0"/>
              <a:t>모든 영역을 탐색해야 하기 때문에 시간이 많이 소요되어 비효율적임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ADE34F4F-8C2F-E5C4-DA04-A84D434475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04698" y="2450852"/>
            <a:ext cx="5934903" cy="41725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88034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19CD04-55B5-3498-F351-5E2761DE97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B3F3371F-5B84-6354-F77E-32CB2C14DD7C}"/>
              </a:ext>
            </a:extLst>
          </p:cNvPr>
          <p:cNvSpPr txBox="1"/>
          <p:nvPr/>
        </p:nvSpPr>
        <p:spPr>
          <a:xfrm>
            <a:off x="144378" y="272716"/>
            <a:ext cx="73699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solidFill>
                  <a:srgbClr val="00B0F0"/>
                </a:solidFill>
              </a:rPr>
              <a:t>Part 0</a:t>
            </a:r>
            <a:endParaRPr lang="ko-KR" altLang="en-US" sz="1600" dirty="0">
              <a:solidFill>
                <a:srgbClr val="00B0F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0DCAD53-0280-D900-65CD-52D6CB30764B}"/>
              </a:ext>
            </a:extLst>
          </p:cNvPr>
          <p:cNvSpPr txBox="1"/>
          <p:nvPr/>
        </p:nvSpPr>
        <p:spPr>
          <a:xfrm>
            <a:off x="1163052" y="272716"/>
            <a:ext cx="299793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b="1" dirty="0" err="1">
                <a:solidFill>
                  <a:srgbClr val="00B0F0"/>
                </a:solidFill>
              </a:rPr>
              <a:t>GoogLeNet</a:t>
            </a:r>
            <a:r>
              <a:rPr lang="ko-KR" altLang="en-US" sz="2800" b="1" dirty="0">
                <a:solidFill>
                  <a:srgbClr val="00B0F0"/>
                </a:solidFill>
              </a:rPr>
              <a:t>이란</a:t>
            </a:r>
            <a:r>
              <a:rPr lang="en-US" altLang="ko-KR" sz="2800" b="1" dirty="0">
                <a:solidFill>
                  <a:srgbClr val="00B0F0"/>
                </a:solidFill>
              </a:rPr>
              <a:t>?</a:t>
            </a:r>
            <a:endParaRPr lang="ko-KR" altLang="en-US" sz="2800" b="1" dirty="0">
              <a:solidFill>
                <a:srgbClr val="00B0F0"/>
              </a:solidFill>
            </a:endParaRPr>
          </a:p>
        </p:txBody>
      </p: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8F35BF6D-7D84-CB65-E886-7B8164A4424B}"/>
              </a:ext>
            </a:extLst>
          </p:cNvPr>
          <p:cNvCxnSpPr/>
          <p:nvPr/>
        </p:nvCxnSpPr>
        <p:spPr>
          <a:xfrm>
            <a:off x="144378" y="160422"/>
            <a:ext cx="12060000" cy="0"/>
          </a:xfrm>
          <a:prstGeom prst="line">
            <a:avLst/>
          </a:prstGeom>
          <a:ln w="57150"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905B74D7-DDC9-9700-8D71-3910770D3893}"/>
              </a:ext>
            </a:extLst>
          </p:cNvPr>
          <p:cNvCxnSpPr/>
          <p:nvPr/>
        </p:nvCxnSpPr>
        <p:spPr>
          <a:xfrm>
            <a:off x="64064" y="6697578"/>
            <a:ext cx="12060000" cy="0"/>
          </a:xfrm>
          <a:prstGeom prst="line">
            <a:avLst/>
          </a:prstGeom>
          <a:ln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8B6521AE-FB56-A1A2-0110-1C026B4C3EF3}"/>
              </a:ext>
            </a:extLst>
          </p:cNvPr>
          <p:cNvSpPr txBox="1"/>
          <p:nvPr/>
        </p:nvSpPr>
        <p:spPr>
          <a:xfrm>
            <a:off x="3149958" y="836693"/>
            <a:ext cx="531776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200" b="1" dirty="0"/>
              <a:t>1 stage detector</a:t>
            </a:r>
            <a:endParaRPr lang="ko-KR" altLang="en-US" sz="3200" b="1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FFA427C-A022-623C-8922-E6FFBFED8FA9}"/>
              </a:ext>
            </a:extLst>
          </p:cNvPr>
          <p:cNvSpPr txBox="1"/>
          <p:nvPr/>
        </p:nvSpPr>
        <p:spPr>
          <a:xfrm>
            <a:off x="1283795" y="1591378"/>
            <a:ext cx="986045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AutoNum type="arabicPeriod"/>
            </a:pPr>
            <a:r>
              <a:rPr lang="en-US" altLang="ko-KR" dirty="0"/>
              <a:t>Region Proposal</a:t>
            </a:r>
            <a:r>
              <a:rPr lang="ko-KR" altLang="en-US" dirty="0"/>
              <a:t>과 </a:t>
            </a:r>
            <a:r>
              <a:rPr lang="en-US" altLang="ko-KR" dirty="0"/>
              <a:t>Classification</a:t>
            </a:r>
            <a:r>
              <a:rPr lang="ko-KR" altLang="en-US" dirty="0"/>
              <a:t>이 </a:t>
            </a:r>
            <a:r>
              <a:rPr lang="en-US" altLang="ko-KR" dirty="0"/>
              <a:t>CNN</a:t>
            </a:r>
            <a:r>
              <a:rPr lang="ko-KR" altLang="en-US" dirty="0"/>
              <a:t>을 통해 동시에 이루어짐</a:t>
            </a:r>
            <a:endParaRPr lang="en-US" altLang="ko-KR" dirty="0"/>
          </a:p>
          <a:p>
            <a:pPr marL="342900" indent="-342900">
              <a:buAutoNum type="arabicPeriod"/>
            </a:pPr>
            <a:r>
              <a:rPr lang="en-US" altLang="ko-KR" dirty="0"/>
              <a:t>Feature </a:t>
            </a:r>
            <a:r>
              <a:rPr lang="en-US" altLang="ko-KR" dirty="0" err="1"/>
              <a:t>extractio</a:t>
            </a:r>
            <a:r>
              <a:rPr lang="ko-KR" altLang="en-US" dirty="0"/>
              <a:t>에 해당하는 </a:t>
            </a:r>
            <a:r>
              <a:rPr lang="en-US" altLang="ko-KR" dirty="0"/>
              <a:t>Conv layers</a:t>
            </a:r>
            <a:r>
              <a:rPr lang="ko-KR" altLang="en-US" dirty="0"/>
              <a:t>에서 두가지 동시에 이루어짐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ROI </a:t>
            </a:r>
            <a:r>
              <a:rPr lang="ko-KR" altLang="en-US" dirty="0"/>
              <a:t>영역을 추출하는 것이 아니라 </a:t>
            </a:r>
            <a:r>
              <a:rPr lang="en-US" altLang="ko-KR" dirty="0"/>
              <a:t>Anchor box</a:t>
            </a:r>
            <a:r>
              <a:rPr lang="ko-KR" altLang="en-US" dirty="0"/>
              <a:t>라는 개념을 사용</a:t>
            </a:r>
            <a:endParaRPr lang="en-US" altLang="ko-KR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49606D22-0871-7773-37EC-8A664A633B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3099" y="3236687"/>
            <a:ext cx="7411484" cy="1971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67187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4F38CD-7A2D-90F6-D1D8-55B07C6115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308D1E07-0EA3-9C3A-A778-8AE9F3CA6A8F}"/>
              </a:ext>
            </a:extLst>
          </p:cNvPr>
          <p:cNvSpPr txBox="1"/>
          <p:nvPr/>
        </p:nvSpPr>
        <p:spPr>
          <a:xfrm>
            <a:off x="144378" y="272716"/>
            <a:ext cx="73699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solidFill>
                  <a:srgbClr val="00B0F0"/>
                </a:solidFill>
              </a:rPr>
              <a:t>Part 0</a:t>
            </a:r>
            <a:endParaRPr lang="ko-KR" altLang="en-US" sz="1600" dirty="0">
              <a:solidFill>
                <a:srgbClr val="00B0F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B4B81C2-B0FB-B308-A6CD-A69D83C931F4}"/>
              </a:ext>
            </a:extLst>
          </p:cNvPr>
          <p:cNvSpPr txBox="1"/>
          <p:nvPr/>
        </p:nvSpPr>
        <p:spPr>
          <a:xfrm>
            <a:off x="1163052" y="272716"/>
            <a:ext cx="299793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b="1" dirty="0" err="1">
                <a:solidFill>
                  <a:srgbClr val="00B0F0"/>
                </a:solidFill>
              </a:rPr>
              <a:t>GoogLeNet</a:t>
            </a:r>
            <a:r>
              <a:rPr lang="ko-KR" altLang="en-US" sz="2800" b="1" dirty="0">
                <a:solidFill>
                  <a:srgbClr val="00B0F0"/>
                </a:solidFill>
              </a:rPr>
              <a:t>이란</a:t>
            </a:r>
            <a:r>
              <a:rPr lang="en-US" altLang="ko-KR" sz="2800" b="1" dirty="0">
                <a:solidFill>
                  <a:srgbClr val="00B0F0"/>
                </a:solidFill>
              </a:rPr>
              <a:t>?</a:t>
            </a:r>
            <a:endParaRPr lang="ko-KR" altLang="en-US" sz="2800" b="1" dirty="0">
              <a:solidFill>
                <a:srgbClr val="00B0F0"/>
              </a:solidFill>
            </a:endParaRPr>
          </a:p>
        </p:txBody>
      </p: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DE3C92EE-217F-F761-1E8D-A844943AF7AF}"/>
              </a:ext>
            </a:extLst>
          </p:cNvPr>
          <p:cNvCxnSpPr/>
          <p:nvPr/>
        </p:nvCxnSpPr>
        <p:spPr>
          <a:xfrm>
            <a:off x="144378" y="160422"/>
            <a:ext cx="12060000" cy="0"/>
          </a:xfrm>
          <a:prstGeom prst="line">
            <a:avLst/>
          </a:prstGeom>
          <a:ln w="57150"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EF322CF5-B67C-9E44-5668-B7FF256E3281}"/>
              </a:ext>
            </a:extLst>
          </p:cNvPr>
          <p:cNvCxnSpPr/>
          <p:nvPr/>
        </p:nvCxnSpPr>
        <p:spPr>
          <a:xfrm>
            <a:off x="64064" y="6697578"/>
            <a:ext cx="12060000" cy="0"/>
          </a:xfrm>
          <a:prstGeom prst="line">
            <a:avLst/>
          </a:prstGeom>
          <a:ln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FB01DCF8-B3DC-49FD-CB42-5FC5258F4C86}"/>
              </a:ext>
            </a:extLst>
          </p:cNvPr>
          <p:cNvSpPr txBox="1"/>
          <p:nvPr/>
        </p:nvSpPr>
        <p:spPr>
          <a:xfrm>
            <a:off x="3149958" y="836693"/>
            <a:ext cx="531776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200" b="1" dirty="0"/>
              <a:t>1 stage detector</a:t>
            </a:r>
            <a:endParaRPr lang="ko-KR" altLang="en-US" sz="3200" b="1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AF85AC9-BE9C-6A12-914F-2021DC2738D2}"/>
              </a:ext>
            </a:extLst>
          </p:cNvPr>
          <p:cNvSpPr txBox="1"/>
          <p:nvPr/>
        </p:nvSpPr>
        <p:spPr>
          <a:xfrm>
            <a:off x="1283795" y="1591378"/>
            <a:ext cx="986045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앵커 박스</a:t>
            </a:r>
            <a:r>
              <a:rPr lang="en-US" altLang="ko-KR" dirty="0"/>
              <a:t>(Anchor Boxes) : </a:t>
            </a:r>
            <a:r>
              <a:rPr lang="ko-KR" altLang="en-US" dirty="0"/>
              <a:t>미리 정의된 형태를 가진 </a:t>
            </a:r>
            <a:r>
              <a:rPr lang="en-US" altLang="ko-KR" dirty="0"/>
              <a:t>Bounding box </a:t>
            </a:r>
            <a:r>
              <a:rPr lang="ko-KR" altLang="en-US" dirty="0"/>
              <a:t>수</a:t>
            </a:r>
            <a:endParaRPr lang="en-US" altLang="ko-KR" dirty="0"/>
          </a:p>
          <a:p>
            <a:pPr marL="285750" indent="-285750">
              <a:buFontTx/>
              <a:buChar char="-"/>
            </a:pPr>
            <a:r>
              <a:rPr lang="en-US" altLang="ko-KR" dirty="0"/>
              <a:t>K-means </a:t>
            </a:r>
            <a:r>
              <a:rPr lang="ko-KR" altLang="en-US" dirty="0"/>
              <a:t>알고리즘에 의한 데이터로부터 생성됨</a:t>
            </a:r>
            <a:endParaRPr lang="en-US" altLang="ko-KR" dirty="0"/>
          </a:p>
          <a:p>
            <a:pPr marL="285750" indent="-285750">
              <a:buFontTx/>
              <a:buChar char="-"/>
            </a:pPr>
            <a:r>
              <a:rPr lang="ko-KR" altLang="en-US" dirty="0"/>
              <a:t>사전에 크기와 비율이 모두 결정되어 있는 박스를 전제로</a:t>
            </a:r>
            <a:r>
              <a:rPr lang="en-US" altLang="ko-KR" dirty="0"/>
              <a:t>, </a:t>
            </a:r>
            <a:r>
              <a:rPr lang="ko-KR" altLang="en-US" dirty="0"/>
              <a:t>학습을 통해서 이 박스의 위치나 크기를 세부 조정하여 객체를 탐지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D345806C-1FBD-77E6-E44E-C38A6AA342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3052" y="2961617"/>
            <a:ext cx="4725233" cy="315628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CC15703-E620-B54C-CB6B-F9C31BEFB59D}"/>
              </a:ext>
            </a:extLst>
          </p:cNvPr>
          <p:cNvSpPr txBox="1"/>
          <p:nvPr/>
        </p:nvSpPr>
        <p:spPr>
          <a:xfrm>
            <a:off x="6933198" y="3371384"/>
            <a:ext cx="409575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Tx/>
              <a:buChar char="-"/>
            </a:pPr>
            <a:r>
              <a:rPr lang="ko-KR" altLang="en-US" dirty="0"/>
              <a:t>각각의 앵커는 각기 다른 크기와 형태의 객체를 탐지하도록 설계되어 있음</a:t>
            </a:r>
            <a:endParaRPr lang="en-US" altLang="ko-KR" dirty="0"/>
          </a:p>
          <a:p>
            <a:pPr marL="285750" indent="-285750">
              <a:buFontTx/>
              <a:buChar char="-"/>
            </a:pPr>
            <a:r>
              <a:rPr lang="ko-KR" altLang="en-US" dirty="0"/>
              <a:t>앵커 박스와 유사한 크기의 개체를 탐지하여 이미지의 </a:t>
            </a:r>
            <a:r>
              <a:rPr lang="ko-KR" altLang="en-US" dirty="0" err="1"/>
              <a:t>피쳐</a:t>
            </a:r>
            <a:r>
              <a:rPr lang="en-US" altLang="ko-KR" dirty="0"/>
              <a:t>(Feature) </a:t>
            </a:r>
            <a:r>
              <a:rPr lang="ko-KR" altLang="en-US" dirty="0" err="1"/>
              <a:t>맵에서</a:t>
            </a:r>
            <a:r>
              <a:rPr lang="ko-KR" altLang="en-US" dirty="0"/>
              <a:t> 오프셋을 최적화함</a:t>
            </a:r>
            <a:endParaRPr lang="en-US" altLang="ko-KR" dirty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499484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7427E2-43C6-73D5-EDAC-A0B70225A4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B7AAEC9C-6820-3945-D4A6-890BDE2CCE56}"/>
              </a:ext>
            </a:extLst>
          </p:cNvPr>
          <p:cNvSpPr txBox="1"/>
          <p:nvPr/>
        </p:nvSpPr>
        <p:spPr>
          <a:xfrm>
            <a:off x="144378" y="272716"/>
            <a:ext cx="73699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solidFill>
                  <a:srgbClr val="00B0F0"/>
                </a:solidFill>
              </a:rPr>
              <a:t>Part 0</a:t>
            </a:r>
            <a:endParaRPr lang="ko-KR" altLang="en-US" sz="1600" dirty="0">
              <a:solidFill>
                <a:srgbClr val="00B0F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E7A66A3-18B4-1A05-1A77-A921D334DCBE}"/>
              </a:ext>
            </a:extLst>
          </p:cNvPr>
          <p:cNvSpPr txBox="1"/>
          <p:nvPr/>
        </p:nvSpPr>
        <p:spPr>
          <a:xfrm>
            <a:off x="1163052" y="272716"/>
            <a:ext cx="299793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b="1" dirty="0" err="1">
                <a:solidFill>
                  <a:srgbClr val="00B0F0"/>
                </a:solidFill>
              </a:rPr>
              <a:t>GoogLeNet</a:t>
            </a:r>
            <a:r>
              <a:rPr lang="ko-KR" altLang="en-US" sz="2800" b="1" dirty="0">
                <a:solidFill>
                  <a:srgbClr val="00B0F0"/>
                </a:solidFill>
              </a:rPr>
              <a:t>이란</a:t>
            </a:r>
            <a:r>
              <a:rPr lang="en-US" altLang="ko-KR" sz="2800" b="1" dirty="0">
                <a:solidFill>
                  <a:srgbClr val="00B0F0"/>
                </a:solidFill>
              </a:rPr>
              <a:t>?</a:t>
            </a:r>
            <a:endParaRPr lang="ko-KR" altLang="en-US" sz="2800" b="1" dirty="0">
              <a:solidFill>
                <a:srgbClr val="00B0F0"/>
              </a:solidFill>
            </a:endParaRPr>
          </a:p>
        </p:txBody>
      </p: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9E2B5059-D9AE-2925-ECDE-1ACC26C04376}"/>
              </a:ext>
            </a:extLst>
          </p:cNvPr>
          <p:cNvCxnSpPr/>
          <p:nvPr/>
        </p:nvCxnSpPr>
        <p:spPr>
          <a:xfrm>
            <a:off x="144378" y="160422"/>
            <a:ext cx="12060000" cy="0"/>
          </a:xfrm>
          <a:prstGeom prst="line">
            <a:avLst/>
          </a:prstGeom>
          <a:ln w="57150"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9828FB6B-A233-C045-ADB7-84DAD7DFEF7A}"/>
              </a:ext>
            </a:extLst>
          </p:cNvPr>
          <p:cNvCxnSpPr/>
          <p:nvPr/>
        </p:nvCxnSpPr>
        <p:spPr>
          <a:xfrm>
            <a:off x="64064" y="6697578"/>
            <a:ext cx="12060000" cy="0"/>
          </a:xfrm>
          <a:prstGeom prst="line">
            <a:avLst/>
          </a:prstGeom>
          <a:ln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7F93C3E8-5ED4-5AC5-CEB5-2A42C8C0A887}"/>
              </a:ext>
            </a:extLst>
          </p:cNvPr>
          <p:cNvSpPr txBox="1"/>
          <p:nvPr/>
        </p:nvSpPr>
        <p:spPr>
          <a:xfrm>
            <a:off x="3573578" y="908229"/>
            <a:ext cx="410752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200" b="1" dirty="0"/>
              <a:t>손실 함수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CA74044B-43FB-AC95-F3D7-1D31C78102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0649" y="1493004"/>
            <a:ext cx="7373379" cy="51156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64893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E5B279-C144-0654-64E8-E677D0AF27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BA7995E2-37A0-33C0-318D-5699C0A38D7F}"/>
              </a:ext>
            </a:extLst>
          </p:cNvPr>
          <p:cNvSpPr txBox="1"/>
          <p:nvPr/>
        </p:nvSpPr>
        <p:spPr>
          <a:xfrm>
            <a:off x="144378" y="272716"/>
            <a:ext cx="73699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solidFill>
                  <a:srgbClr val="00B0F0"/>
                </a:solidFill>
              </a:rPr>
              <a:t>Part 0</a:t>
            </a:r>
            <a:endParaRPr lang="ko-KR" altLang="en-US" sz="1600" dirty="0">
              <a:solidFill>
                <a:srgbClr val="00B0F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D17C220-E546-FB9C-1941-5B773470ACA1}"/>
              </a:ext>
            </a:extLst>
          </p:cNvPr>
          <p:cNvSpPr txBox="1"/>
          <p:nvPr/>
        </p:nvSpPr>
        <p:spPr>
          <a:xfrm>
            <a:off x="1163052" y="272716"/>
            <a:ext cx="299793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b="1" dirty="0" err="1">
                <a:solidFill>
                  <a:srgbClr val="00B0F0"/>
                </a:solidFill>
              </a:rPr>
              <a:t>GoogLeNet</a:t>
            </a:r>
            <a:r>
              <a:rPr lang="ko-KR" altLang="en-US" sz="2800" b="1" dirty="0">
                <a:solidFill>
                  <a:srgbClr val="00B0F0"/>
                </a:solidFill>
              </a:rPr>
              <a:t>이란</a:t>
            </a:r>
            <a:r>
              <a:rPr lang="en-US" altLang="ko-KR" sz="2800" b="1" dirty="0">
                <a:solidFill>
                  <a:srgbClr val="00B0F0"/>
                </a:solidFill>
              </a:rPr>
              <a:t>?</a:t>
            </a:r>
            <a:endParaRPr lang="ko-KR" altLang="en-US" sz="2800" b="1" dirty="0">
              <a:solidFill>
                <a:srgbClr val="00B0F0"/>
              </a:solidFill>
            </a:endParaRPr>
          </a:p>
        </p:txBody>
      </p: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45016250-95E5-2069-15F3-1C4421CE6A81}"/>
              </a:ext>
            </a:extLst>
          </p:cNvPr>
          <p:cNvCxnSpPr/>
          <p:nvPr/>
        </p:nvCxnSpPr>
        <p:spPr>
          <a:xfrm>
            <a:off x="144378" y="160422"/>
            <a:ext cx="12060000" cy="0"/>
          </a:xfrm>
          <a:prstGeom prst="line">
            <a:avLst/>
          </a:prstGeom>
          <a:ln w="57150"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EA89E361-D89A-BF3A-F0C7-83D29B50695A}"/>
              </a:ext>
            </a:extLst>
          </p:cNvPr>
          <p:cNvCxnSpPr/>
          <p:nvPr/>
        </p:nvCxnSpPr>
        <p:spPr>
          <a:xfrm>
            <a:off x="64064" y="6697578"/>
            <a:ext cx="12060000" cy="0"/>
          </a:xfrm>
          <a:prstGeom prst="line">
            <a:avLst/>
          </a:prstGeom>
          <a:ln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pic>
        <p:nvPicPr>
          <p:cNvPr id="8" name="그림 7">
            <a:extLst>
              <a:ext uri="{FF2B5EF4-FFF2-40B4-BE49-F238E27FC236}">
                <a16:creationId xmlns:a16="http://schemas.microsoft.com/office/drawing/2014/main" id="{77BDC41E-84F2-FFC0-1260-191A27EA3B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3052" y="795936"/>
            <a:ext cx="3435475" cy="5610225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1B8F9B18-1994-3DD5-12F2-05980ABFB8B0}"/>
              </a:ext>
            </a:extLst>
          </p:cNvPr>
          <p:cNvSpPr txBox="1"/>
          <p:nvPr/>
        </p:nvSpPr>
        <p:spPr>
          <a:xfrm>
            <a:off x="4881863" y="1022935"/>
            <a:ext cx="5423223" cy="1754326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/>
              <a:t>(S) : Same </a:t>
            </a:r>
            <a:r>
              <a:rPr lang="ko-KR" altLang="en-US" dirty="0"/>
              <a:t>혹은 딱 반으로 떨어지게 되도록 </a:t>
            </a:r>
            <a:r>
              <a:rPr lang="en-US" altLang="ko-KR" dirty="0"/>
              <a:t>padding</a:t>
            </a:r>
            <a:r>
              <a:rPr lang="ko-KR" altLang="en-US" dirty="0"/>
              <a:t>을 조절한다는 뜻</a:t>
            </a:r>
            <a:endParaRPr lang="en-US" altLang="ko-KR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dirty="0"/>
              <a:t>Stride</a:t>
            </a:r>
            <a:r>
              <a:rPr lang="ko-KR" altLang="en-US" dirty="0"/>
              <a:t>가 </a:t>
            </a:r>
            <a:r>
              <a:rPr lang="en-US" altLang="ko-KR" dirty="0"/>
              <a:t>2</a:t>
            </a:r>
            <a:r>
              <a:rPr lang="ko-KR" altLang="en-US" dirty="0"/>
              <a:t>인 경우 반으로</a:t>
            </a:r>
            <a:endParaRPr lang="en-US" altLang="ko-KR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dirty="0"/>
              <a:t>Stride</a:t>
            </a:r>
            <a:r>
              <a:rPr lang="ko-KR" altLang="en-US" dirty="0"/>
              <a:t>가 </a:t>
            </a:r>
            <a:r>
              <a:rPr lang="en-US" altLang="ko-KR" dirty="0"/>
              <a:t>1</a:t>
            </a:r>
            <a:r>
              <a:rPr lang="ko-KR" altLang="en-US" dirty="0"/>
              <a:t>인 경우 동일하게</a:t>
            </a: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/>
              <a:t>(V) : </a:t>
            </a:r>
            <a:r>
              <a:rPr lang="en-US" altLang="ko-KR" dirty="0" err="1"/>
              <a:t>Valide</a:t>
            </a:r>
            <a:r>
              <a:rPr lang="en-US" altLang="ko-KR" dirty="0"/>
              <a:t> Padding 0</a:t>
            </a:r>
            <a:r>
              <a:rPr lang="ko-KR" altLang="en-US" dirty="0"/>
              <a:t>준다</a:t>
            </a: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/>
              <a:t>LRN : </a:t>
            </a:r>
            <a:r>
              <a:rPr lang="ko-KR" altLang="en-US" dirty="0"/>
              <a:t>요즘은 </a:t>
            </a:r>
            <a:r>
              <a:rPr lang="en-US" altLang="ko-KR" dirty="0"/>
              <a:t>Conv-</a:t>
            </a:r>
            <a:r>
              <a:rPr lang="en-US" altLang="ko-KR" dirty="0" err="1"/>
              <a:t>ReLU</a:t>
            </a:r>
            <a:r>
              <a:rPr lang="en-US" altLang="ko-KR" dirty="0"/>
              <a:t>-Batch </a:t>
            </a:r>
            <a:r>
              <a:rPr lang="ko-KR" altLang="en-US" dirty="0"/>
              <a:t>조합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C187ED1-158B-1DC6-75A2-C8BF05BEF546}"/>
              </a:ext>
            </a:extLst>
          </p:cNvPr>
          <p:cNvSpPr txBox="1"/>
          <p:nvPr/>
        </p:nvSpPr>
        <p:spPr>
          <a:xfrm>
            <a:off x="940700" y="4300761"/>
            <a:ext cx="1470617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>
                <a:solidFill>
                  <a:srgbClr val="FF0000"/>
                </a:solidFill>
              </a:rPr>
              <a:t>커널 사이즈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BDD57FA-86A5-C538-3D4E-872005CC831E}"/>
              </a:ext>
            </a:extLst>
          </p:cNvPr>
          <p:cNvSpPr txBox="1"/>
          <p:nvPr/>
        </p:nvSpPr>
        <p:spPr>
          <a:xfrm>
            <a:off x="3215254" y="3783247"/>
            <a:ext cx="1334449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>
                <a:solidFill>
                  <a:srgbClr val="FF0000"/>
                </a:solidFill>
              </a:rPr>
              <a:t>Stride </a:t>
            </a:r>
            <a:r>
              <a:rPr lang="ko-KR" altLang="en-US" dirty="0">
                <a:solidFill>
                  <a:srgbClr val="FF0000"/>
                </a:solidFill>
              </a:rPr>
              <a:t>크기</a:t>
            </a:r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968068D8-186A-E85A-E30D-37E4239DFEF0}"/>
              </a:ext>
            </a:extLst>
          </p:cNvPr>
          <p:cNvSpPr/>
          <p:nvPr/>
        </p:nvSpPr>
        <p:spPr>
          <a:xfrm>
            <a:off x="2846690" y="3802297"/>
            <a:ext cx="210835" cy="291467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5" name="타원 14">
            <a:extLst>
              <a:ext uri="{FF2B5EF4-FFF2-40B4-BE49-F238E27FC236}">
                <a16:creationId xmlns:a16="http://schemas.microsoft.com/office/drawing/2014/main" id="{50A5967E-8A65-9354-1005-2097F5D9C601}"/>
              </a:ext>
            </a:extLst>
          </p:cNvPr>
          <p:cNvSpPr/>
          <p:nvPr/>
        </p:nvSpPr>
        <p:spPr>
          <a:xfrm>
            <a:off x="2501205" y="4338083"/>
            <a:ext cx="423733" cy="369332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23CA61E0-D9E5-72E9-403C-34F7CE1DB0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24740" y="2838587"/>
            <a:ext cx="2705197" cy="3567574"/>
          </a:xfrm>
          <a:prstGeom prst="rect">
            <a:avLst/>
          </a:prstGeom>
        </p:spPr>
      </p:pic>
      <p:sp>
        <p:nvSpPr>
          <p:cNvPr id="19" name="타원 18">
            <a:extLst>
              <a:ext uri="{FF2B5EF4-FFF2-40B4-BE49-F238E27FC236}">
                <a16:creationId xmlns:a16="http://schemas.microsoft.com/office/drawing/2014/main" id="{CE04E76D-30B5-E9A4-E57D-4A229E18EE19}"/>
              </a:ext>
            </a:extLst>
          </p:cNvPr>
          <p:cNvSpPr/>
          <p:nvPr/>
        </p:nvSpPr>
        <p:spPr>
          <a:xfrm>
            <a:off x="6415980" y="4183421"/>
            <a:ext cx="899220" cy="369332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DCEE230-FCC7-2FB8-7F00-CE8F26467EA0}"/>
              </a:ext>
            </a:extLst>
          </p:cNvPr>
          <p:cNvSpPr txBox="1"/>
          <p:nvPr/>
        </p:nvSpPr>
        <p:spPr>
          <a:xfrm>
            <a:off x="6357542" y="4197932"/>
            <a:ext cx="247186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>
                <a:solidFill>
                  <a:srgbClr val="FF0000"/>
                </a:solidFill>
              </a:rPr>
              <a:t>GAP</a:t>
            </a:r>
          </a:p>
          <a:p>
            <a:pPr algn="ctr"/>
            <a:r>
              <a:rPr lang="en-US" altLang="ko-KR" dirty="0">
                <a:solidFill>
                  <a:srgbClr val="FF0000"/>
                </a:solidFill>
              </a:rPr>
              <a:t>(Global Average Pool)</a:t>
            </a:r>
            <a:endParaRPr lang="ko-KR" altLang="en-US" dirty="0">
              <a:solidFill>
                <a:srgbClr val="FF0000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1881834-6B75-91A5-2353-80AD07B8416B}"/>
              </a:ext>
            </a:extLst>
          </p:cNvPr>
          <p:cNvSpPr txBox="1"/>
          <p:nvPr/>
        </p:nvSpPr>
        <p:spPr>
          <a:xfrm>
            <a:off x="7069023" y="3601048"/>
            <a:ext cx="970078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>
                <a:solidFill>
                  <a:srgbClr val="FF0000"/>
                </a:solidFill>
              </a:rPr>
              <a:t>1000</a:t>
            </a:r>
            <a:r>
              <a:rPr lang="ko-KR" altLang="en-US" dirty="0">
                <a:solidFill>
                  <a:srgbClr val="FF0000"/>
                </a:solidFill>
              </a:rPr>
              <a:t>개</a:t>
            </a:r>
          </a:p>
        </p:txBody>
      </p:sp>
    </p:spTree>
    <p:extLst>
      <p:ext uri="{BB962C8B-B14F-4D97-AF65-F5344CB8AC3E}">
        <p14:creationId xmlns:p14="http://schemas.microsoft.com/office/powerpoint/2010/main" val="38035825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36AF79-6642-4DE2-7FFC-474F23CCA9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1ECD63DC-95A4-4849-2939-42EF2F30543D}"/>
              </a:ext>
            </a:extLst>
          </p:cNvPr>
          <p:cNvSpPr txBox="1"/>
          <p:nvPr/>
        </p:nvSpPr>
        <p:spPr>
          <a:xfrm>
            <a:off x="144378" y="272716"/>
            <a:ext cx="73699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solidFill>
                  <a:srgbClr val="00B0F0"/>
                </a:solidFill>
              </a:rPr>
              <a:t>Part 0</a:t>
            </a:r>
            <a:endParaRPr lang="ko-KR" altLang="en-US" sz="1600" dirty="0">
              <a:solidFill>
                <a:srgbClr val="00B0F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84C44FF-C542-6FBC-042B-71996AA42B2C}"/>
              </a:ext>
            </a:extLst>
          </p:cNvPr>
          <p:cNvSpPr txBox="1"/>
          <p:nvPr/>
        </p:nvSpPr>
        <p:spPr>
          <a:xfrm>
            <a:off x="1163052" y="272716"/>
            <a:ext cx="299793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b="1" dirty="0" err="1">
                <a:solidFill>
                  <a:srgbClr val="00B0F0"/>
                </a:solidFill>
              </a:rPr>
              <a:t>GoogLeNet</a:t>
            </a:r>
            <a:r>
              <a:rPr lang="ko-KR" altLang="en-US" sz="2800" b="1" dirty="0">
                <a:solidFill>
                  <a:srgbClr val="00B0F0"/>
                </a:solidFill>
              </a:rPr>
              <a:t>이란</a:t>
            </a:r>
            <a:r>
              <a:rPr lang="en-US" altLang="ko-KR" sz="2800" b="1" dirty="0">
                <a:solidFill>
                  <a:srgbClr val="00B0F0"/>
                </a:solidFill>
              </a:rPr>
              <a:t>?</a:t>
            </a:r>
            <a:endParaRPr lang="ko-KR" altLang="en-US" sz="2800" b="1" dirty="0">
              <a:solidFill>
                <a:srgbClr val="00B0F0"/>
              </a:solidFill>
            </a:endParaRPr>
          </a:p>
        </p:txBody>
      </p: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68E2DDD5-C625-1290-2DF7-B37F1DAA864D}"/>
              </a:ext>
            </a:extLst>
          </p:cNvPr>
          <p:cNvCxnSpPr/>
          <p:nvPr/>
        </p:nvCxnSpPr>
        <p:spPr>
          <a:xfrm>
            <a:off x="144378" y="160422"/>
            <a:ext cx="12060000" cy="0"/>
          </a:xfrm>
          <a:prstGeom prst="line">
            <a:avLst/>
          </a:prstGeom>
          <a:ln w="57150"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C06A73C8-595A-6C2F-6C24-F3B823C695B1}"/>
              </a:ext>
            </a:extLst>
          </p:cNvPr>
          <p:cNvCxnSpPr/>
          <p:nvPr/>
        </p:nvCxnSpPr>
        <p:spPr>
          <a:xfrm>
            <a:off x="64064" y="6697578"/>
            <a:ext cx="12060000" cy="0"/>
          </a:xfrm>
          <a:prstGeom prst="line">
            <a:avLst/>
          </a:prstGeom>
          <a:ln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pic>
        <p:nvPicPr>
          <p:cNvPr id="4" name="Picture 2" descr="딥러닝] GoogLeNet(Inception) 모델의 개요 및 특징">
            <a:extLst>
              <a:ext uri="{FF2B5EF4-FFF2-40B4-BE49-F238E27FC236}">
                <a16:creationId xmlns:a16="http://schemas.microsoft.com/office/drawing/2014/main" id="{A4225427-CCA1-C8C5-8091-0966D7BBD2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066925"/>
            <a:ext cx="12192000" cy="2724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타원 1">
            <a:extLst>
              <a:ext uri="{FF2B5EF4-FFF2-40B4-BE49-F238E27FC236}">
                <a16:creationId xmlns:a16="http://schemas.microsoft.com/office/drawing/2014/main" id="{EEABE7BC-7CFC-84AC-5434-032C6B5BE6F5}"/>
              </a:ext>
            </a:extLst>
          </p:cNvPr>
          <p:cNvSpPr/>
          <p:nvPr/>
        </p:nvSpPr>
        <p:spPr>
          <a:xfrm>
            <a:off x="5165387" y="4058967"/>
            <a:ext cx="2324910" cy="778213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3F4AE665-A8D5-C76C-C4FB-84FC0CD5650C}"/>
              </a:ext>
            </a:extLst>
          </p:cNvPr>
          <p:cNvSpPr/>
          <p:nvPr/>
        </p:nvSpPr>
        <p:spPr>
          <a:xfrm>
            <a:off x="7769158" y="3646808"/>
            <a:ext cx="2324910" cy="778213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A5D141C-9293-B3F6-0AE4-527442B22D59}"/>
              </a:ext>
            </a:extLst>
          </p:cNvPr>
          <p:cNvSpPr txBox="1"/>
          <p:nvPr/>
        </p:nvSpPr>
        <p:spPr>
          <a:xfrm>
            <a:off x="2142616" y="1116096"/>
            <a:ext cx="79514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200" b="1" dirty="0"/>
              <a:t>Auxiliary classifiers(</a:t>
            </a:r>
            <a:r>
              <a:rPr lang="ko-KR" altLang="en-US" sz="3200" b="1" dirty="0"/>
              <a:t>보조 분류기</a:t>
            </a:r>
            <a:r>
              <a:rPr lang="en-US" altLang="ko-KR" sz="3200" b="1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0999243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CD1469-EFA7-4121-F7A9-B63742086A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4DAAE492-7BBE-7293-52EC-E2EF8BB81FA2}"/>
              </a:ext>
            </a:extLst>
          </p:cNvPr>
          <p:cNvSpPr txBox="1"/>
          <p:nvPr/>
        </p:nvSpPr>
        <p:spPr>
          <a:xfrm>
            <a:off x="144378" y="272716"/>
            <a:ext cx="73699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solidFill>
                  <a:srgbClr val="00B0F0"/>
                </a:solidFill>
              </a:rPr>
              <a:t>Part 0</a:t>
            </a:r>
            <a:endParaRPr lang="ko-KR" altLang="en-US" sz="1600" dirty="0">
              <a:solidFill>
                <a:srgbClr val="00B0F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41A08F5-E8D6-7A47-4BA7-DCE754088A29}"/>
              </a:ext>
            </a:extLst>
          </p:cNvPr>
          <p:cNvSpPr txBox="1"/>
          <p:nvPr/>
        </p:nvSpPr>
        <p:spPr>
          <a:xfrm>
            <a:off x="1163052" y="272716"/>
            <a:ext cx="299793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b="1" dirty="0" err="1">
                <a:solidFill>
                  <a:srgbClr val="00B0F0"/>
                </a:solidFill>
              </a:rPr>
              <a:t>GoogLeNet</a:t>
            </a:r>
            <a:r>
              <a:rPr lang="ko-KR" altLang="en-US" sz="2800" b="1" dirty="0">
                <a:solidFill>
                  <a:srgbClr val="00B0F0"/>
                </a:solidFill>
              </a:rPr>
              <a:t>이란</a:t>
            </a:r>
            <a:r>
              <a:rPr lang="en-US" altLang="ko-KR" sz="2800" b="1" dirty="0">
                <a:solidFill>
                  <a:srgbClr val="00B0F0"/>
                </a:solidFill>
              </a:rPr>
              <a:t>?</a:t>
            </a:r>
            <a:endParaRPr lang="ko-KR" altLang="en-US" sz="2800" b="1" dirty="0">
              <a:solidFill>
                <a:srgbClr val="00B0F0"/>
              </a:solidFill>
            </a:endParaRPr>
          </a:p>
        </p:txBody>
      </p: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86BD06F6-8401-BAB2-7CFD-5037B3A37AFE}"/>
              </a:ext>
            </a:extLst>
          </p:cNvPr>
          <p:cNvCxnSpPr/>
          <p:nvPr/>
        </p:nvCxnSpPr>
        <p:spPr>
          <a:xfrm>
            <a:off x="144378" y="160422"/>
            <a:ext cx="12060000" cy="0"/>
          </a:xfrm>
          <a:prstGeom prst="line">
            <a:avLst/>
          </a:prstGeom>
          <a:ln w="57150"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29064A14-94F1-380A-C0EF-9589255D49FF}"/>
              </a:ext>
            </a:extLst>
          </p:cNvPr>
          <p:cNvCxnSpPr/>
          <p:nvPr/>
        </p:nvCxnSpPr>
        <p:spPr>
          <a:xfrm>
            <a:off x="64064" y="6697578"/>
            <a:ext cx="12060000" cy="0"/>
          </a:xfrm>
          <a:prstGeom prst="line">
            <a:avLst/>
          </a:prstGeom>
          <a:ln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3EE7FDB6-15B0-506A-13A3-87F4B6BC08B3}"/>
              </a:ext>
            </a:extLst>
          </p:cNvPr>
          <p:cNvSpPr txBox="1"/>
          <p:nvPr/>
        </p:nvSpPr>
        <p:spPr>
          <a:xfrm>
            <a:off x="811645" y="1394183"/>
            <a:ext cx="496050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Auxiliary classifiers(</a:t>
            </a:r>
            <a:r>
              <a:rPr lang="ko-KR" altLang="en-US" b="1" dirty="0"/>
              <a:t>보조 분류기</a:t>
            </a:r>
            <a:r>
              <a:rPr lang="en-US" altLang="ko-KR" b="1" dirty="0"/>
              <a:t>)</a:t>
            </a:r>
          </a:p>
          <a:p>
            <a:r>
              <a:rPr lang="en-US" altLang="ko-KR" dirty="0"/>
              <a:t>Vanishing Gradient </a:t>
            </a:r>
            <a:r>
              <a:rPr lang="ko-KR" altLang="en-US" dirty="0"/>
              <a:t>문제 해결하기 위해</a:t>
            </a:r>
            <a:endParaRPr lang="en-US" altLang="ko-KR" dirty="0"/>
          </a:p>
          <a:p>
            <a:r>
              <a:rPr lang="ko-KR" altLang="en-US" dirty="0"/>
              <a:t>네트워크 중간에 두개의 보조 분류기를 구성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* </a:t>
            </a:r>
            <a:r>
              <a:rPr lang="ko-KR" altLang="en-US" dirty="0"/>
              <a:t>테스트에서는 없앰 </a:t>
            </a:r>
            <a:endParaRPr lang="en-US" altLang="ko-KR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43F81F1A-1D41-AFDD-ACA8-B1AF56FE2C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2571" y="3008094"/>
            <a:ext cx="4574029" cy="646330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06D673F2-A80D-7F1E-9614-6EA2C1953C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72150" y="928339"/>
            <a:ext cx="5763429" cy="5001323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987565B-3991-2642-FA9C-FBFF90CC28E6}"/>
              </a:ext>
            </a:extLst>
          </p:cNvPr>
          <p:cNvSpPr txBox="1"/>
          <p:nvPr/>
        </p:nvSpPr>
        <p:spPr>
          <a:xfrm>
            <a:off x="10869498" y="2210398"/>
            <a:ext cx="9700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>
                <a:solidFill>
                  <a:srgbClr val="FF0000"/>
                </a:solidFill>
              </a:rPr>
              <a:t>1000</a:t>
            </a:r>
            <a:r>
              <a:rPr lang="ko-KR" altLang="en-US" dirty="0">
                <a:solidFill>
                  <a:srgbClr val="FF0000"/>
                </a:solidFill>
              </a:rPr>
              <a:t>개</a:t>
            </a: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454DCC01-AE8C-B3BF-E6C8-64FBBBC0C37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584" y="3836400"/>
            <a:ext cx="4960505" cy="2871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18318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AC3F50-63AC-2244-3438-E490986E2F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63456C16-2DAB-30ED-8955-17A37BE6332C}"/>
              </a:ext>
            </a:extLst>
          </p:cNvPr>
          <p:cNvSpPr txBox="1"/>
          <p:nvPr/>
        </p:nvSpPr>
        <p:spPr>
          <a:xfrm>
            <a:off x="144378" y="272716"/>
            <a:ext cx="73699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solidFill>
                  <a:srgbClr val="00B0F0"/>
                </a:solidFill>
              </a:rPr>
              <a:t>Part 0</a:t>
            </a:r>
            <a:endParaRPr lang="ko-KR" altLang="en-US" sz="1600" dirty="0">
              <a:solidFill>
                <a:srgbClr val="00B0F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F768C11-44F8-61F8-949B-9CDFFA3DCC2D}"/>
              </a:ext>
            </a:extLst>
          </p:cNvPr>
          <p:cNvSpPr txBox="1"/>
          <p:nvPr/>
        </p:nvSpPr>
        <p:spPr>
          <a:xfrm>
            <a:off x="1163052" y="272716"/>
            <a:ext cx="299793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b="1" dirty="0" err="1">
                <a:solidFill>
                  <a:srgbClr val="00B0F0"/>
                </a:solidFill>
              </a:rPr>
              <a:t>GoogLeNet</a:t>
            </a:r>
            <a:r>
              <a:rPr lang="ko-KR" altLang="en-US" sz="2800" b="1" dirty="0">
                <a:solidFill>
                  <a:srgbClr val="00B0F0"/>
                </a:solidFill>
              </a:rPr>
              <a:t>이란</a:t>
            </a:r>
            <a:r>
              <a:rPr lang="en-US" altLang="ko-KR" sz="2800" b="1" dirty="0">
                <a:solidFill>
                  <a:srgbClr val="00B0F0"/>
                </a:solidFill>
              </a:rPr>
              <a:t>?</a:t>
            </a:r>
            <a:endParaRPr lang="ko-KR" altLang="en-US" sz="2800" b="1" dirty="0">
              <a:solidFill>
                <a:srgbClr val="00B0F0"/>
              </a:solidFill>
            </a:endParaRPr>
          </a:p>
        </p:txBody>
      </p: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1E5C2943-4A4A-A855-4CC8-206C483799F5}"/>
              </a:ext>
            </a:extLst>
          </p:cNvPr>
          <p:cNvCxnSpPr/>
          <p:nvPr/>
        </p:nvCxnSpPr>
        <p:spPr>
          <a:xfrm>
            <a:off x="144378" y="160422"/>
            <a:ext cx="12060000" cy="0"/>
          </a:xfrm>
          <a:prstGeom prst="line">
            <a:avLst/>
          </a:prstGeom>
          <a:ln w="57150"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4074B6B0-CED1-23CF-7649-3662A7E62B9C}"/>
              </a:ext>
            </a:extLst>
          </p:cNvPr>
          <p:cNvCxnSpPr/>
          <p:nvPr/>
        </p:nvCxnSpPr>
        <p:spPr>
          <a:xfrm>
            <a:off x="64064" y="6697578"/>
            <a:ext cx="12060000" cy="0"/>
          </a:xfrm>
          <a:prstGeom prst="line">
            <a:avLst/>
          </a:prstGeom>
          <a:ln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pic>
        <p:nvPicPr>
          <p:cNvPr id="5" name="그림 4">
            <a:extLst>
              <a:ext uri="{FF2B5EF4-FFF2-40B4-BE49-F238E27FC236}">
                <a16:creationId xmlns:a16="http://schemas.microsoft.com/office/drawing/2014/main" id="{E5F5311A-FB4A-C1FD-1A1E-0975BD971A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5840" y="908229"/>
            <a:ext cx="9577075" cy="5546597"/>
          </a:xfrm>
          <a:prstGeom prst="rect">
            <a:avLst/>
          </a:prstGeom>
        </p:spPr>
      </p:pic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A5FB99AA-00E0-6C4E-69C9-72956DCBC9A7}"/>
              </a:ext>
            </a:extLst>
          </p:cNvPr>
          <p:cNvSpPr/>
          <p:nvPr/>
        </p:nvSpPr>
        <p:spPr>
          <a:xfrm>
            <a:off x="4781550" y="1819275"/>
            <a:ext cx="523875" cy="238125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B5B725E-2D90-213C-F90B-73012F4E6B1D}"/>
              </a:ext>
            </a:extLst>
          </p:cNvPr>
          <p:cNvSpPr txBox="1"/>
          <p:nvPr/>
        </p:nvSpPr>
        <p:spPr>
          <a:xfrm>
            <a:off x="5257800" y="1789926"/>
            <a:ext cx="133444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b="1" dirty="0">
                <a:solidFill>
                  <a:srgbClr val="FF0000"/>
                </a:solidFill>
              </a:rPr>
              <a:t>2</a:t>
            </a:r>
            <a:r>
              <a:rPr lang="ko-KR" altLang="en-US" sz="1200" b="1" dirty="0">
                <a:solidFill>
                  <a:srgbClr val="FF0000"/>
                </a:solidFill>
              </a:rPr>
              <a:t>개 연속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E6B9220-452E-AF51-B1C0-E0BFD993A76F}"/>
              </a:ext>
            </a:extLst>
          </p:cNvPr>
          <p:cNvSpPr txBox="1"/>
          <p:nvPr/>
        </p:nvSpPr>
        <p:spPr>
          <a:xfrm>
            <a:off x="5801199" y="504641"/>
            <a:ext cx="17049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b="1" dirty="0">
                <a:solidFill>
                  <a:srgbClr val="FF0000"/>
                </a:solidFill>
              </a:rPr>
              <a:t>3x3</a:t>
            </a:r>
            <a:r>
              <a:rPr lang="ko-KR" altLang="en-US" sz="1200" b="1" dirty="0">
                <a:solidFill>
                  <a:srgbClr val="FF0000"/>
                </a:solidFill>
              </a:rPr>
              <a:t> 들어가기 전</a:t>
            </a:r>
            <a:endParaRPr lang="en-US" altLang="ko-KR" sz="1200" b="1" dirty="0">
              <a:solidFill>
                <a:srgbClr val="FF0000"/>
              </a:solidFill>
            </a:endParaRPr>
          </a:p>
          <a:p>
            <a:r>
              <a:rPr lang="en-US" altLang="ko-KR" sz="1200" b="1" dirty="0">
                <a:solidFill>
                  <a:srgbClr val="FF0000"/>
                </a:solidFill>
              </a:rPr>
              <a:t>1x1</a:t>
            </a:r>
            <a:r>
              <a:rPr lang="ko-KR" altLang="en-US" sz="1200" b="1" dirty="0">
                <a:solidFill>
                  <a:srgbClr val="FF0000"/>
                </a:solidFill>
              </a:rPr>
              <a:t>의 필터의 개수</a:t>
            </a: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879D3293-BB29-885F-702D-F88D8BEB26A4}"/>
              </a:ext>
            </a:extLst>
          </p:cNvPr>
          <p:cNvSpPr/>
          <p:nvPr/>
        </p:nvSpPr>
        <p:spPr>
          <a:xfrm>
            <a:off x="6206486" y="930588"/>
            <a:ext cx="523875" cy="424104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280F45F-5F6D-46CE-90A5-1D4A5F545294}"/>
              </a:ext>
            </a:extLst>
          </p:cNvPr>
          <p:cNvSpPr txBox="1"/>
          <p:nvPr/>
        </p:nvSpPr>
        <p:spPr>
          <a:xfrm>
            <a:off x="8653022" y="471902"/>
            <a:ext cx="17049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b="1" dirty="0">
                <a:solidFill>
                  <a:srgbClr val="FF0000"/>
                </a:solidFill>
              </a:rPr>
              <a:t>Pooling </a:t>
            </a:r>
            <a:r>
              <a:rPr lang="ko-KR" altLang="en-US" sz="1200" b="1" dirty="0">
                <a:solidFill>
                  <a:srgbClr val="FF0000"/>
                </a:solidFill>
              </a:rPr>
              <a:t>뒤</a:t>
            </a:r>
            <a:endParaRPr lang="en-US" altLang="ko-KR" sz="1200" b="1" dirty="0">
              <a:solidFill>
                <a:srgbClr val="FF0000"/>
              </a:solidFill>
            </a:endParaRPr>
          </a:p>
          <a:p>
            <a:r>
              <a:rPr lang="en-US" altLang="ko-KR" sz="1200" b="1" dirty="0">
                <a:solidFill>
                  <a:srgbClr val="FF0000"/>
                </a:solidFill>
              </a:rPr>
              <a:t>1x1</a:t>
            </a:r>
            <a:r>
              <a:rPr lang="ko-KR" altLang="en-US" sz="1200" b="1" dirty="0">
                <a:solidFill>
                  <a:srgbClr val="FF0000"/>
                </a:solidFill>
              </a:rPr>
              <a:t>의 개수</a:t>
            </a: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6A9CC3A2-607D-8D97-231F-137AC758B38B}"/>
              </a:ext>
            </a:extLst>
          </p:cNvPr>
          <p:cNvSpPr/>
          <p:nvPr/>
        </p:nvSpPr>
        <p:spPr>
          <a:xfrm>
            <a:off x="9058309" y="897849"/>
            <a:ext cx="523875" cy="424104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5361529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DA8CF4-9C46-A045-B66C-8D7B81D14C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1622D210-4F3A-4C62-DB1A-A6332433D75F}"/>
              </a:ext>
            </a:extLst>
          </p:cNvPr>
          <p:cNvSpPr txBox="1"/>
          <p:nvPr/>
        </p:nvSpPr>
        <p:spPr>
          <a:xfrm>
            <a:off x="144378" y="272716"/>
            <a:ext cx="73699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solidFill>
                  <a:srgbClr val="00B0F0"/>
                </a:solidFill>
              </a:rPr>
              <a:t>Part 0</a:t>
            </a:r>
            <a:endParaRPr lang="ko-KR" altLang="en-US" sz="1600" dirty="0">
              <a:solidFill>
                <a:srgbClr val="00B0F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FF84E78-52C2-B6E0-62CC-26C716CF4F1C}"/>
              </a:ext>
            </a:extLst>
          </p:cNvPr>
          <p:cNvSpPr txBox="1"/>
          <p:nvPr/>
        </p:nvSpPr>
        <p:spPr>
          <a:xfrm>
            <a:off x="1163052" y="272716"/>
            <a:ext cx="299793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b="1" dirty="0" err="1">
                <a:solidFill>
                  <a:srgbClr val="00B0F0"/>
                </a:solidFill>
              </a:rPr>
              <a:t>GoogLeNet</a:t>
            </a:r>
            <a:r>
              <a:rPr lang="ko-KR" altLang="en-US" sz="2800" b="1" dirty="0">
                <a:solidFill>
                  <a:srgbClr val="00B0F0"/>
                </a:solidFill>
              </a:rPr>
              <a:t>이란</a:t>
            </a:r>
            <a:r>
              <a:rPr lang="en-US" altLang="ko-KR" sz="2800" b="1" dirty="0">
                <a:solidFill>
                  <a:srgbClr val="00B0F0"/>
                </a:solidFill>
              </a:rPr>
              <a:t>?</a:t>
            </a:r>
            <a:endParaRPr lang="ko-KR" altLang="en-US" sz="2800" b="1" dirty="0">
              <a:solidFill>
                <a:srgbClr val="00B0F0"/>
              </a:solidFill>
            </a:endParaRPr>
          </a:p>
        </p:txBody>
      </p: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09E0C699-DF26-DF62-B527-FE7E7837B775}"/>
              </a:ext>
            </a:extLst>
          </p:cNvPr>
          <p:cNvCxnSpPr/>
          <p:nvPr/>
        </p:nvCxnSpPr>
        <p:spPr>
          <a:xfrm>
            <a:off x="144378" y="160422"/>
            <a:ext cx="12060000" cy="0"/>
          </a:xfrm>
          <a:prstGeom prst="line">
            <a:avLst/>
          </a:prstGeom>
          <a:ln w="57150"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2468AA6B-22B9-BC80-A6F4-594496E905F0}"/>
              </a:ext>
            </a:extLst>
          </p:cNvPr>
          <p:cNvCxnSpPr/>
          <p:nvPr/>
        </p:nvCxnSpPr>
        <p:spPr>
          <a:xfrm>
            <a:off x="64064" y="6697578"/>
            <a:ext cx="12060000" cy="0"/>
          </a:xfrm>
          <a:prstGeom prst="line">
            <a:avLst/>
          </a:prstGeom>
          <a:ln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5944E60A-FFFD-56F8-A293-A80B4401F9DD}"/>
              </a:ext>
            </a:extLst>
          </p:cNvPr>
          <p:cNvSpPr txBox="1"/>
          <p:nvPr/>
        </p:nvSpPr>
        <p:spPr>
          <a:xfrm>
            <a:off x="811645" y="1394183"/>
            <a:ext cx="8465705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/>
              <a:t>하나의 이미지를 </a:t>
            </a:r>
            <a:r>
              <a:rPr lang="en-US" altLang="ko-KR" b="1" dirty="0"/>
              <a:t>144</a:t>
            </a:r>
            <a:r>
              <a:rPr lang="ko-KR" altLang="en-US" b="1" dirty="0"/>
              <a:t>개로 만들어 사용</a:t>
            </a:r>
            <a:endParaRPr lang="en-US" altLang="ko-KR" b="1" dirty="0"/>
          </a:p>
          <a:p>
            <a:endParaRPr lang="en-US" altLang="ko-KR" b="1" dirty="0"/>
          </a:p>
          <a:p>
            <a:pPr marL="342900" indent="-342900">
              <a:buFont typeface="+mj-lt"/>
              <a:buAutoNum type="arabicPeriod"/>
            </a:pPr>
            <a:r>
              <a:rPr lang="en-US" altLang="ko-KR" b="1" dirty="0"/>
              <a:t>4</a:t>
            </a:r>
            <a:r>
              <a:rPr lang="ko-KR" altLang="en-US" b="1" dirty="0"/>
              <a:t>가지로 </a:t>
            </a:r>
            <a:r>
              <a:rPr lang="en-US" altLang="ko-KR" b="1" dirty="0"/>
              <a:t>resize (</a:t>
            </a:r>
            <a:r>
              <a:rPr lang="ko-KR" altLang="en-US" b="1" dirty="0"/>
              <a:t>행 또는 열</a:t>
            </a:r>
            <a:r>
              <a:rPr lang="en-US" altLang="ko-KR" b="1" dirty="0"/>
              <a:t>, </a:t>
            </a:r>
            <a:r>
              <a:rPr lang="ko-KR" altLang="en-US" b="1" dirty="0"/>
              <a:t>둘 중 짧은 쪽이 </a:t>
            </a:r>
            <a:r>
              <a:rPr lang="en-US" altLang="ko-KR" b="1" dirty="0"/>
              <a:t>256, 288, 320, 352 </a:t>
            </a:r>
            <a:r>
              <a:rPr lang="ko-KR" altLang="en-US" b="1" dirty="0"/>
              <a:t>되도록</a:t>
            </a:r>
            <a:r>
              <a:rPr lang="en-US" altLang="ko-KR" b="1" dirty="0"/>
              <a:t>)</a:t>
            </a:r>
          </a:p>
          <a:p>
            <a:pPr marL="342900" indent="-342900">
              <a:buFont typeface="+mj-lt"/>
              <a:buAutoNum type="arabicPeriod"/>
            </a:pPr>
            <a:r>
              <a:rPr lang="en-US" altLang="ko-KR" b="1" dirty="0"/>
              <a:t>3</a:t>
            </a:r>
            <a:r>
              <a:rPr lang="ko-KR" altLang="en-US" b="1" dirty="0"/>
              <a:t>가지로 </a:t>
            </a:r>
            <a:r>
              <a:rPr lang="en-US" altLang="ko-KR" b="1" dirty="0"/>
              <a:t>crop (</a:t>
            </a:r>
            <a:r>
              <a:rPr lang="ko-KR" altLang="en-US" b="1" dirty="0"/>
              <a:t>가로가 긴 이미지면 왼</a:t>
            </a:r>
            <a:r>
              <a:rPr lang="en-US" altLang="ko-KR" b="1" dirty="0"/>
              <a:t>, </a:t>
            </a:r>
            <a:r>
              <a:rPr lang="ko-KR" altLang="en-US" b="1" dirty="0"/>
              <a:t>중</a:t>
            </a:r>
            <a:r>
              <a:rPr lang="en-US" altLang="ko-KR" b="1" dirty="0"/>
              <a:t>, </a:t>
            </a:r>
            <a:r>
              <a:rPr lang="ko-KR" altLang="en-US" b="1" dirty="0"/>
              <a:t>오</a:t>
            </a:r>
            <a:r>
              <a:rPr lang="en-US" altLang="ko-KR" b="1" dirty="0"/>
              <a:t>)</a:t>
            </a:r>
          </a:p>
          <a:p>
            <a:pPr marL="342900" indent="-342900">
              <a:buFont typeface="+mj-lt"/>
              <a:buAutoNum type="arabicPeriod"/>
            </a:pPr>
            <a:r>
              <a:rPr lang="en-US" altLang="ko-KR" b="1" dirty="0"/>
              <a:t>2</a:t>
            </a:r>
            <a:r>
              <a:rPr lang="ko-KR" altLang="en-US" b="1" dirty="0"/>
              <a:t>가지로 좌우 뒤집어</a:t>
            </a:r>
            <a:endParaRPr lang="en-US" altLang="ko-KR" b="1" dirty="0"/>
          </a:p>
          <a:p>
            <a:pPr marL="342900" indent="-342900">
              <a:buFont typeface="+mj-lt"/>
              <a:buAutoNum type="arabicPeriod"/>
            </a:pPr>
            <a:r>
              <a:rPr lang="en-US" altLang="ko-KR" b="1" dirty="0"/>
              <a:t>5+1</a:t>
            </a:r>
            <a:r>
              <a:rPr lang="ko-KR" altLang="en-US" b="1" dirty="0"/>
              <a:t>가지 </a:t>
            </a:r>
            <a:r>
              <a:rPr lang="en-US" altLang="ko-KR" b="1" dirty="0"/>
              <a:t>(224x224</a:t>
            </a:r>
            <a:r>
              <a:rPr lang="ko-KR" altLang="en-US" b="1" dirty="0"/>
              <a:t>로 </a:t>
            </a:r>
            <a:r>
              <a:rPr lang="ko-KR" altLang="en-US" b="1" dirty="0" err="1"/>
              <a:t>좌상단</a:t>
            </a:r>
            <a:r>
              <a:rPr lang="en-US" altLang="ko-KR" b="1" dirty="0"/>
              <a:t>, </a:t>
            </a:r>
            <a:r>
              <a:rPr lang="ko-KR" altLang="en-US" b="1" dirty="0" err="1"/>
              <a:t>우상단</a:t>
            </a:r>
            <a:r>
              <a:rPr lang="en-US" altLang="ko-KR" b="1" dirty="0"/>
              <a:t>, </a:t>
            </a:r>
            <a:r>
              <a:rPr lang="ko-KR" altLang="en-US" b="1" dirty="0" err="1"/>
              <a:t>좌하단</a:t>
            </a:r>
            <a:r>
              <a:rPr lang="en-US" altLang="ko-KR" b="1" dirty="0"/>
              <a:t>, </a:t>
            </a:r>
            <a:r>
              <a:rPr lang="ko-KR" altLang="en-US" b="1" dirty="0" err="1"/>
              <a:t>우하단</a:t>
            </a:r>
            <a:r>
              <a:rPr lang="en-US" altLang="ko-KR" b="1" dirty="0"/>
              <a:t>, </a:t>
            </a:r>
            <a:r>
              <a:rPr lang="ko-KR" altLang="en-US" b="1" dirty="0"/>
              <a:t>중심 </a:t>
            </a:r>
            <a:r>
              <a:rPr lang="en-US" altLang="ko-KR" b="1" dirty="0"/>
              <a:t>+ 224</a:t>
            </a:r>
            <a:r>
              <a:rPr lang="ko-KR" altLang="en-US" b="1" dirty="0"/>
              <a:t>로 </a:t>
            </a:r>
            <a:r>
              <a:rPr lang="en-US" altLang="ko-KR" b="1" dirty="0"/>
              <a:t>resize)</a:t>
            </a:r>
          </a:p>
          <a:p>
            <a:pPr marL="342900" indent="-342900">
              <a:buFont typeface="+mj-lt"/>
              <a:buAutoNum type="arabicPeriod"/>
            </a:pPr>
            <a:r>
              <a:rPr lang="en-US" altLang="ko-KR" b="1" dirty="0"/>
              <a:t>4x3x2x6 = 144</a:t>
            </a:r>
            <a:r>
              <a:rPr lang="ko-KR" altLang="en-US" b="1" dirty="0"/>
              <a:t>대</a:t>
            </a:r>
            <a:endParaRPr lang="en-US" altLang="ko-KR" b="1" dirty="0"/>
          </a:p>
          <a:p>
            <a:pPr marL="342900" indent="-342900">
              <a:buFont typeface="+mj-lt"/>
              <a:buAutoNum type="arabicPeriod"/>
            </a:pPr>
            <a:endParaRPr lang="en-US" altLang="ko-KR" b="1" dirty="0"/>
          </a:p>
        </p:txBody>
      </p:sp>
    </p:spTree>
    <p:extLst>
      <p:ext uri="{BB962C8B-B14F-4D97-AF65-F5344CB8AC3E}">
        <p14:creationId xmlns:p14="http://schemas.microsoft.com/office/powerpoint/2010/main" val="217759771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14C541-22E4-0B5B-3B9A-753905DB13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9E80930E-659D-A974-9169-B6D8982EE02B}"/>
              </a:ext>
            </a:extLst>
          </p:cNvPr>
          <p:cNvSpPr txBox="1"/>
          <p:nvPr/>
        </p:nvSpPr>
        <p:spPr>
          <a:xfrm>
            <a:off x="144378" y="272716"/>
            <a:ext cx="73699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solidFill>
                  <a:srgbClr val="00B0F0"/>
                </a:solidFill>
              </a:rPr>
              <a:t>Part 0</a:t>
            </a:r>
            <a:endParaRPr lang="ko-KR" altLang="en-US" sz="1600" dirty="0">
              <a:solidFill>
                <a:srgbClr val="00B0F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64B76D5-9B25-412E-A5C1-F76D52F3074A}"/>
              </a:ext>
            </a:extLst>
          </p:cNvPr>
          <p:cNvSpPr txBox="1"/>
          <p:nvPr/>
        </p:nvSpPr>
        <p:spPr>
          <a:xfrm>
            <a:off x="1163052" y="272716"/>
            <a:ext cx="299793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b="1" dirty="0" err="1">
                <a:solidFill>
                  <a:srgbClr val="00B0F0"/>
                </a:solidFill>
              </a:rPr>
              <a:t>GoogLeNet</a:t>
            </a:r>
            <a:r>
              <a:rPr lang="ko-KR" altLang="en-US" sz="2800" b="1" dirty="0">
                <a:solidFill>
                  <a:srgbClr val="00B0F0"/>
                </a:solidFill>
              </a:rPr>
              <a:t>이란</a:t>
            </a:r>
            <a:r>
              <a:rPr lang="en-US" altLang="ko-KR" sz="2800" b="1" dirty="0">
                <a:solidFill>
                  <a:srgbClr val="00B0F0"/>
                </a:solidFill>
              </a:rPr>
              <a:t>?</a:t>
            </a:r>
            <a:endParaRPr lang="ko-KR" altLang="en-US" sz="2800" b="1" dirty="0">
              <a:solidFill>
                <a:srgbClr val="00B0F0"/>
              </a:solidFill>
            </a:endParaRPr>
          </a:p>
        </p:txBody>
      </p: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38BD565A-9A59-336D-A722-DADDD78313BC}"/>
              </a:ext>
            </a:extLst>
          </p:cNvPr>
          <p:cNvCxnSpPr/>
          <p:nvPr/>
        </p:nvCxnSpPr>
        <p:spPr>
          <a:xfrm>
            <a:off x="144378" y="160422"/>
            <a:ext cx="12060000" cy="0"/>
          </a:xfrm>
          <a:prstGeom prst="line">
            <a:avLst/>
          </a:prstGeom>
          <a:ln w="57150"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4D8C918D-E353-F9DE-30A0-C22A89505CB6}"/>
              </a:ext>
            </a:extLst>
          </p:cNvPr>
          <p:cNvCxnSpPr/>
          <p:nvPr/>
        </p:nvCxnSpPr>
        <p:spPr>
          <a:xfrm>
            <a:off x="64064" y="6697578"/>
            <a:ext cx="12060000" cy="0"/>
          </a:xfrm>
          <a:prstGeom prst="line">
            <a:avLst/>
          </a:prstGeom>
          <a:ln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834D143F-208A-554C-EF88-0DE5F881E2F6}"/>
              </a:ext>
            </a:extLst>
          </p:cNvPr>
          <p:cNvSpPr txBox="1"/>
          <p:nvPr/>
        </p:nvSpPr>
        <p:spPr>
          <a:xfrm>
            <a:off x="811645" y="1394183"/>
            <a:ext cx="846570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/>
              <a:t>결론</a:t>
            </a:r>
            <a:endParaRPr lang="en-US" altLang="ko-KR" b="1" dirty="0"/>
          </a:p>
          <a:p>
            <a:endParaRPr lang="en-US" altLang="ko-KR" b="1" dirty="0"/>
          </a:p>
          <a:p>
            <a:pPr marL="342900" indent="-342900">
              <a:buFont typeface="+mj-lt"/>
              <a:buAutoNum type="arabicPeriod"/>
            </a:pPr>
            <a:r>
              <a:rPr lang="ko-KR" altLang="en-US" b="1" dirty="0"/>
              <a:t>여러가지의 필터 결과를 </a:t>
            </a:r>
            <a:r>
              <a:rPr lang="en-US" altLang="ko-KR" b="1" dirty="0" err="1"/>
              <a:t>concat</a:t>
            </a:r>
            <a:r>
              <a:rPr lang="ko-KR" altLang="en-US" b="1" dirty="0"/>
              <a:t>해서 사용</a:t>
            </a:r>
            <a:endParaRPr lang="en-US" altLang="ko-KR" b="1" dirty="0"/>
          </a:p>
          <a:p>
            <a:pPr marL="342900" indent="-342900">
              <a:buFont typeface="+mj-lt"/>
              <a:buAutoNum type="arabicPeriod"/>
            </a:pPr>
            <a:r>
              <a:rPr lang="en-US" altLang="ko-KR" b="1" dirty="0"/>
              <a:t>1x1 conv</a:t>
            </a:r>
            <a:r>
              <a:rPr lang="ko-KR" altLang="en-US" b="1" dirty="0"/>
              <a:t>로 채널 수 감소시켜서 파라미터 수 줄임</a:t>
            </a:r>
            <a:endParaRPr lang="en-US" altLang="ko-KR" b="1" dirty="0"/>
          </a:p>
          <a:p>
            <a:pPr marL="342900" indent="-342900">
              <a:buFont typeface="+mj-lt"/>
              <a:buAutoNum type="arabicPeriod"/>
            </a:pPr>
            <a:r>
              <a:rPr lang="ko-KR" altLang="en-US" b="1" dirty="0"/>
              <a:t>보조 분류기 이용하여 </a:t>
            </a:r>
            <a:r>
              <a:rPr lang="en-US" altLang="ko-KR" b="1" dirty="0"/>
              <a:t>vanishing gradient </a:t>
            </a:r>
            <a:r>
              <a:rPr lang="ko-KR" altLang="en-US" b="1" dirty="0"/>
              <a:t>완화</a:t>
            </a:r>
            <a:endParaRPr lang="en-US" altLang="ko-KR" b="1" dirty="0"/>
          </a:p>
          <a:p>
            <a:pPr marL="342900" indent="-342900">
              <a:buFont typeface="+mj-lt"/>
              <a:buAutoNum type="arabicPeriod"/>
            </a:pPr>
            <a:r>
              <a:rPr lang="en-US" altLang="ko-KR" b="1" dirty="0" err="1"/>
              <a:t>GoogLeNet</a:t>
            </a:r>
            <a:r>
              <a:rPr lang="ko-KR" altLang="en-US" b="1" dirty="0"/>
              <a:t>이라고도 불림</a:t>
            </a:r>
            <a:r>
              <a:rPr lang="en-US" altLang="ko-KR" b="1" dirty="0"/>
              <a:t>(LeNet </a:t>
            </a:r>
            <a:r>
              <a:rPr lang="ko-KR" altLang="en-US" b="1" dirty="0" err="1"/>
              <a:t>만든사람이</a:t>
            </a:r>
            <a:r>
              <a:rPr lang="ko-KR" altLang="en-US" b="1" dirty="0"/>
              <a:t> 구글 다닐 때 </a:t>
            </a:r>
            <a:r>
              <a:rPr lang="ko-KR" altLang="en-US" b="1" dirty="0" err="1"/>
              <a:t>만든거임</a:t>
            </a:r>
            <a:r>
              <a:rPr lang="en-US" altLang="ko-KR" b="1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3422247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9FF10F-9355-2456-06D5-0B78872507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E70E372C-363C-4223-8165-4DFE5D744F3A}"/>
              </a:ext>
            </a:extLst>
          </p:cNvPr>
          <p:cNvSpPr txBox="1"/>
          <p:nvPr/>
        </p:nvSpPr>
        <p:spPr>
          <a:xfrm>
            <a:off x="2490281" y="2613392"/>
            <a:ext cx="703453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5400" b="1" dirty="0">
                <a:solidFill>
                  <a:srgbClr val="00B0F0"/>
                </a:solidFill>
              </a:rPr>
              <a:t>Weight Initialization</a:t>
            </a:r>
            <a:endParaRPr lang="en-US" altLang="ko-KR" sz="5000" b="1" dirty="0">
              <a:solidFill>
                <a:srgbClr val="00B0F0"/>
              </a:solidFill>
            </a:endParaRPr>
          </a:p>
        </p:txBody>
      </p: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C729024F-29B3-E3E3-79FF-9F729D35DEE9}"/>
              </a:ext>
            </a:extLst>
          </p:cNvPr>
          <p:cNvCxnSpPr/>
          <p:nvPr/>
        </p:nvCxnSpPr>
        <p:spPr>
          <a:xfrm>
            <a:off x="144378" y="160422"/>
            <a:ext cx="12060000" cy="0"/>
          </a:xfrm>
          <a:prstGeom prst="line">
            <a:avLst/>
          </a:prstGeom>
          <a:ln w="57150"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97E78CBE-DDD2-87A9-01EB-CFAB6464213F}"/>
              </a:ext>
            </a:extLst>
          </p:cNvPr>
          <p:cNvCxnSpPr/>
          <p:nvPr/>
        </p:nvCxnSpPr>
        <p:spPr>
          <a:xfrm>
            <a:off x="64064" y="6697578"/>
            <a:ext cx="12060000" cy="0"/>
          </a:xfrm>
          <a:prstGeom prst="line">
            <a:avLst/>
          </a:prstGeom>
          <a:ln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9951415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26C416-FBB8-48B5-AEFC-E811B9D87E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20A5538B-F6EC-1C58-C089-8EAE4F147EAD}"/>
              </a:ext>
            </a:extLst>
          </p:cNvPr>
          <p:cNvSpPr txBox="1"/>
          <p:nvPr/>
        </p:nvSpPr>
        <p:spPr>
          <a:xfrm>
            <a:off x="5472971" y="2923766"/>
            <a:ext cx="1402813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5000" b="1" dirty="0">
                <a:solidFill>
                  <a:srgbClr val="00B0F0"/>
                </a:solidFill>
              </a:rPr>
              <a:t>끝</a:t>
            </a:r>
            <a:r>
              <a:rPr lang="en-US" altLang="ko-KR" sz="5000" b="1" dirty="0">
                <a:solidFill>
                  <a:srgbClr val="00B0F0"/>
                </a:solidFill>
              </a:rPr>
              <a:t>!</a:t>
            </a:r>
            <a:endParaRPr lang="ko-KR" altLang="en-US" sz="5000" b="1" dirty="0">
              <a:solidFill>
                <a:srgbClr val="00B0F0"/>
              </a:solidFill>
            </a:endParaRPr>
          </a:p>
        </p:txBody>
      </p: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2C5F9B1F-D657-FFB2-916C-A7F2B02705E0}"/>
              </a:ext>
            </a:extLst>
          </p:cNvPr>
          <p:cNvCxnSpPr/>
          <p:nvPr/>
        </p:nvCxnSpPr>
        <p:spPr>
          <a:xfrm>
            <a:off x="144378" y="160422"/>
            <a:ext cx="12060000" cy="0"/>
          </a:xfrm>
          <a:prstGeom prst="line">
            <a:avLst/>
          </a:prstGeom>
          <a:ln w="57150"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198CA780-CFC4-00A2-3938-2FCFE5340356}"/>
              </a:ext>
            </a:extLst>
          </p:cNvPr>
          <p:cNvCxnSpPr/>
          <p:nvPr/>
        </p:nvCxnSpPr>
        <p:spPr>
          <a:xfrm>
            <a:off x="64064" y="6697578"/>
            <a:ext cx="12060000" cy="0"/>
          </a:xfrm>
          <a:prstGeom prst="line">
            <a:avLst/>
          </a:prstGeom>
          <a:ln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688551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1170</TotalTime>
  <Words>508</Words>
  <Application>Microsoft Office PowerPoint</Application>
  <PresentationFormat>와이드스크린</PresentationFormat>
  <Paragraphs>96</Paragraphs>
  <Slides>17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17</vt:i4>
      </vt:variant>
    </vt:vector>
  </HeadingPairs>
  <TitlesOfParts>
    <vt:vector size="20" baseType="lpstr">
      <vt:lpstr>맑은 고딕</vt:lpstr>
      <vt:lpstr>Arial</vt:lpstr>
      <vt:lpstr>Office 테마</vt:lpstr>
      <vt:lpstr>ResNet Yolo(V1)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양재우</dc:creator>
  <cp:lastModifiedBy>양재우</cp:lastModifiedBy>
  <cp:revision>136</cp:revision>
  <dcterms:created xsi:type="dcterms:W3CDTF">2026-01-29T12:22:12Z</dcterms:created>
  <dcterms:modified xsi:type="dcterms:W3CDTF">2026-03-16T04:40:14Z</dcterms:modified>
</cp:coreProperties>
</file>